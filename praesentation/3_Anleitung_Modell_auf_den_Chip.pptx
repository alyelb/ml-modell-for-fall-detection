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  <p:sldId id="269" r:id="rId2"/>
    <p:sldId id="270" r:id="rId22"/>
    <p:sldId id="271" r:id="rId23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272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C66"/>
    <a:srgbClr val="80BA24"/>
    <a:srgbClr val="FFFFFF"/>
    <a:srgbClr val="8996A0"/>
    <a:srgbClr val="BDC4C5"/>
    <a:srgbClr val="DF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8"/>
    <p:restoredTop sz="94537"/>
  </p:normalViewPr>
  <p:slideViewPr>
    <p:cSldViewPr showGuides="1">
      <p:cViewPr varScale="1">
        <p:scale>
          <a:sx n="103" d="100"/>
          <a:sy n="103" d="100"/>
        </p:scale>
        <p:origin x="1040" y="176"/>
      </p:cViewPr>
      <p:guideLst>
        <p:guide orient="horz" pos="3884"/>
        <p:guide pos="272"/>
        <p:guide orient="horz" pos="935"/>
      </p:guideLst>
    </p:cSldViewPr>
  </p:slideViewPr>
  <p:outlineViewPr>
    <p:cViewPr>
      <p:scale>
        <a:sx n="33" d="100"/>
        <a:sy n="33" d="100"/>
      </p:scale>
      <p:origin x="0" y="-157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640" y="1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549A58-65A2-1C4E-BD33-6061F52BCE58}" type="datetimeFigureOut">
              <a:rPr lang="de-DE" altLang="de-DE"/>
              <a:pPr>
                <a:defRPr/>
              </a:pPr>
              <a:t>01.09.20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A2CBF72-E928-E147-A1D9-782F6DF0FEA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65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B8FA84D-43F1-B541-9232-7D50279E8043}" type="datetimeFigureOut">
              <a:rPr lang="de-DE" altLang="de-DE"/>
              <a:pPr>
                <a:defRPr/>
              </a:pPr>
              <a:t>01.09.20</a:t>
            </a:fld>
            <a:endParaRPr lang="de-DE" altLang="de-DE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Textmasterformate durch Klicken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F7848-E2AA-B947-8B0B-A0FBC6F783B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060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Zum Nachmachen. Erst die fertige Sohle in Betrieb nehmen, danach zeige ich, wie man ein neues Modell trainiert und auf den Chip bringt. Alle Dateien liegen im GitHub-Repository.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Überblick.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Pins stehen oben in CleverSole.ino. Nur GPIO0 bis GPIO7 sind beim C6 LP-GPIOs und können wecken.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Firmware gleicht kleine Schieflagen selbst aus. Die Richtung „vorn“ nimmt sie aber vom X-Pfeil – deshalb ist er wichtig.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festkleben, wenn diese Zeile passt. Die Beispielwerte sind ausgedacht und zeigen nur, wie es aussehen soll.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Weg: Keras-Modell trainieren → in int8 umrechnen (TensorFlow Lite) → als C-Datei in die Firmware. Auf dem Chip rechnen jetzt eigene Funktionen statt TFLite Micro.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Ordner firmware/CleverSole öffnen, CleverSole.ino laden. Alle .h-Dateien im selben Ordner werden automatisch mitkompiliert.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Sollwerte schreibt das Exportskript in modell_sohle.h. Ein Wert, der sich über Minuten nicht ändert, ist ein Fehler.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Genau diese Ausrichtung über die Schwerkraft wurde auf den Pilotdaten geprüft: alle 67 Stürze erkannt.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und rechts werden als seitlich zusammengefasst, weil das Vorzeichen zwischen den Füßen nicht verlässlich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Beispielzeilen sind ausgedacht und zeigen nur das Format. Im Einsatz TESTMODUS wieder auf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Keras baut das Netz Schicht für Schicht. fit() passt die Gewichte an die Beispiele an, save() speichert alles in einer Datei.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representative_dataset: Der Konverter sieht echte Fenster und legt daraus fest, welcher Zahlenbereich auf -128 bis 127 abgebildet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Erzeugte Dateien nie von Hand ändern, sondern mit dem Exportskript neu erzeugen.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häufigsten Probleme aus dem Projekt.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892CBC1-0AA5-FD49-A6CF-7BC19D8FD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73133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827390B-A86E-434B-90D4-3438340D15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3903DC0-149E-A447-909C-1CDEC9D422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B4F93A7-5B61-D941-9FC9-6DB6CDC6EF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3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6EBF173-6194-1449-A8B7-B55867141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73133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827390B-A86E-434B-90D4-3438340D15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3903DC0-149E-A447-909C-1CDEC9D422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E426BC6-EC8D-2B49-804D-49B49D3145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6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A692ADC8-598A-EC43-8E74-629C6533D2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169690"/>
          </a:xfrm>
          <a:prstGeom prst="rect">
            <a:avLst/>
          </a:prstGeom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8544293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8760296" y="3789040"/>
            <a:ext cx="3168351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69576794-5162-6048-BCAD-629826D7D5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68408" y="6497638"/>
            <a:ext cx="2419360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1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7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achbereich oder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6825"/>
            <a:ext cx="121920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8639787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5040131" y="2924944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8867542" y="2996952"/>
            <a:ext cx="2845083" cy="720080"/>
          </a:xfrm>
        </p:spPr>
        <p:txBody>
          <a:bodyPr tIns="0" rIns="0" bIns="0" anchor="t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303319" y="3717032"/>
            <a:ext cx="2736897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8867243" y="3574926"/>
            <a:ext cx="2845382" cy="1800225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1A4DEDB-1913-094B-A031-F2D1C477CD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0" y="6502400"/>
            <a:ext cx="24257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2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4320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2001" y="1620000"/>
            <a:ext cx="11232619" cy="4617288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3988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4320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2001" y="1620000"/>
            <a:ext cx="11232619" cy="1736992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2000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auto">
          <a:xfrm>
            <a:off x="4270576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auto">
          <a:xfrm>
            <a:off x="8112000" y="3068960"/>
            <a:ext cx="3551765" cy="3168328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566640" y="321297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416240" y="321297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8256240" y="3214316"/>
            <a:ext cx="288032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mit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6"/>
          <p:cNvSpPr>
            <a:spLocks noGrp="1"/>
          </p:cNvSpPr>
          <p:nvPr>
            <p:ph type="pic" sz="quarter" idx="17"/>
          </p:nvPr>
        </p:nvSpPr>
        <p:spPr>
          <a:xfrm>
            <a:off x="8125885" y="1700808"/>
            <a:ext cx="3526167" cy="453648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5"/>
          </p:nvPr>
        </p:nvSpPr>
        <p:spPr>
          <a:xfrm>
            <a:off x="432001" y="1700808"/>
            <a:ext cx="3526167" cy="453648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6"/>
          </p:nvPr>
        </p:nvSpPr>
        <p:spPr>
          <a:xfrm>
            <a:off x="4271798" y="1700214"/>
            <a:ext cx="3526167" cy="4537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4167" cy="576262"/>
          </a:xfrm>
        </p:spPr>
        <p:txBody>
          <a:bodyPr l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66142A-AFED-1443-8B06-6463BAB2C889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2"/>
          </p:nvPr>
        </p:nvSpPr>
        <p:spPr>
          <a:xfrm>
            <a:off x="760370" y="1883197"/>
            <a:ext cx="3097100" cy="62865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3"/>
          </p:nvPr>
        </p:nvSpPr>
        <p:spPr>
          <a:xfrm>
            <a:off x="4606943" y="1817219"/>
            <a:ext cx="3203556" cy="7413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endParaRPr lang="de-DE" dirty="0"/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4"/>
          </p:nvPr>
        </p:nvSpPr>
        <p:spPr>
          <a:xfrm>
            <a:off x="8464551" y="1817220"/>
            <a:ext cx="3187700" cy="809625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0272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  <p15:guide id="2" pos="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feld+Aufzählung im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1703512" y="2780927"/>
            <a:ext cx="9950855" cy="158417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28DEF-7D63-224F-B0E5-713CE21DF6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4318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1801" y="1620001"/>
            <a:ext cx="11340927" cy="1330351"/>
          </a:xfrm>
        </p:spPr>
        <p:txBody>
          <a:bodyPr lIns="0" rIns="9000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Rechteck 4"/>
          <p:cNvSpPr/>
          <p:nvPr userDrawn="1"/>
        </p:nvSpPr>
        <p:spPr>
          <a:xfrm>
            <a:off x="1703512" y="4509121"/>
            <a:ext cx="9950855" cy="172764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Rechteck 8"/>
          <p:cNvSpPr>
            <a:spLocks noChangeArrowheads="1"/>
          </p:cNvSpPr>
          <p:nvPr userDrawn="1"/>
        </p:nvSpPr>
        <p:spPr bwMode="auto">
          <a:xfrm>
            <a:off x="3071284" y="2432051"/>
            <a:ext cx="9480549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9000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079500" indent="-358775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lvl="0" eaLnBrk="1" hangingPunct="1">
              <a:spcAft>
                <a:spcPts val="600"/>
              </a:spcAft>
              <a:buClr>
                <a:srgbClr val="80BA24"/>
              </a:buClr>
              <a:buFont typeface="Wingdings" charset="2"/>
              <a:buChar char="§"/>
            </a:pPr>
            <a:endParaRPr lang="de-DE" altLang="de-DE" sz="2000" dirty="0">
              <a:solidFill>
                <a:srgbClr val="4A5C66"/>
              </a:solidFill>
              <a:latin typeface="Arial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1919536" y="2980358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929530" y="4653137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4" name="Bild 13" descr="organisation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15" y="3173431"/>
            <a:ext cx="909041" cy="831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Bild 1" descr="euro-schein.ti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5" y="4959058"/>
            <a:ext cx="975295" cy="557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feld+Aufzählung im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28DEF-7D63-224F-B0E5-713CE21DF6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431800" y="1080001"/>
            <a:ext cx="11228917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431801" y="1620001"/>
            <a:ext cx="11340927" cy="1330351"/>
          </a:xfrm>
        </p:spPr>
        <p:txBody>
          <a:bodyPr lIns="0" rIns="9000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Rechteck 8"/>
          <p:cNvSpPr>
            <a:spLocks noChangeArrowheads="1"/>
          </p:cNvSpPr>
          <p:nvPr userDrawn="1"/>
        </p:nvSpPr>
        <p:spPr bwMode="auto">
          <a:xfrm>
            <a:off x="3071284" y="2432051"/>
            <a:ext cx="9480549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9000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079500" indent="-358775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lvl="0" eaLnBrk="1" hangingPunct="1">
              <a:spcAft>
                <a:spcPts val="600"/>
              </a:spcAft>
              <a:buClr>
                <a:srgbClr val="80BA24"/>
              </a:buClr>
              <a:buFont typeface="Wingdings" charset="2"/>
              <a:buChar char="§"/>
            </a:pPr>
            <a:endParaRPr lang="de-DE" altLang="de-DE" sz="2000" dirty="0">
              <a:solidFill>
                <a:srgbClr val="4A5C66"/>
              </a:solidFill>
              <a:latin typeface="Arial" charset="0"/>
            </a:endParaRPr>
          </a:p>
        </p:txBody>
      </p:sp>
      <p:pic>
        <p:nvPicPr>
          <p:cNvPr id="11" name="Bild 10" descr="icon_people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32" y="3291575"/>
            <a:ext cx="88842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Bild 11" descr="haus.ti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4928474"/>
            <a:ext cx="97529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1C6723BC-5FFF-A14D-8404-D5F91F1C72B1}"/>
              </a:ext>
            </a:extLst>
          </p:cNvPr>
          <p:cNvSpPr/>
          <p:nvPr userDrawn="1"/>
        </p:nvSpPr>
        <p:spPr>
          <a:xfrm>
            <a:off x="1703512" y="2780927"/>
            <a:ext cx="9950855" cy="158417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594EDCD-2274-FE44-87CC-3D768625475C}"/>
              </a:ext>
            </a:extLst>
          </p:cNvPr>
          <p:cNvSpPr/>
          <p:nvPr userDrawn="1"/>
        </p:nvSpPr>
        <p:spPr>
          <a:xfrm>
            <a:off x="1703512" y="4509121"/>
            <a:ext cx="9950855" cy="1727647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C02CBA60-C706-9748-870A-3B807F1552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19536" y="2980358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47172106-5D28-8B48-8CE5-77E78E3EF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9530" y="4653137"/>
            <a:ext cx="8583083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sfeld 1,5 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1548016"/>
            <a:ext cx="11164821" cy="4617288"/>
          </a:xfrm>
        </p:spPr>
        <p:txBody>
          <a:bodyPr lIns="0"/>
          <a:lstStyle>
            <a:lvl1pPr>
              <a:lnSpc>
                <a:spcPts val="4100"/>
              </a:lnSpc>
              <a:defRPr sz="20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0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0"/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9612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Aly Elbermawy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7509-71AF-1442-AA36-4D80324E826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4929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48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719668" y="2700000"/>
            <a:ext cx="20159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6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3600000" y="2700000"/>
            <a:ext cx="22797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7" name="Textplatzhalt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480000" y="270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8" name="Textplatzhalt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719667" y="4896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9" name="Textplatzhalt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0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648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1565943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Aly Elbermawy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B7358-837F-F449-96D9-6AA1275CBD5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7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2968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1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507781" y="4435200"/>
            <a:ext cx="201596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8562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Aly Elbermawy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31800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331046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6191251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9069917" y="2114574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431800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331046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6191251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9069917" y="4275162"/>
            <a:ext cx="261620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7509-71AF-1442-AA36-4D80324E826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1620001"/>
            <a:ext cx="11324167" cy="6810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719667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719668" y="2700000"/>
            <a:ext cx="20159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360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3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3600000" y="2700000"/>
            <a:ext cx="227976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6480000" y="227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480000" y="270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6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9361124" y="2271781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7" name="Textplatzhalt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9361124" y="2696581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8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72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9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719667" y="4896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0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360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1" name="Textplatzhalter 24"/>
          <p:cNvSpPr>
            <a:spLocks noGrp="1"/>
          </p:cNvSpPr>
          <p:nvPr>
            <p:ph type="body" sz="quarter" idx="24" hasCustomPrompt="1"/>
          </p:nvPr>
        </p:nvSpPr>
        <p:spPr>
          <a:xfrm>
            <a:off x="360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2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6480000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3" name="Textplatzhalter 24"/>
          <p:cNvSpPr>
            <a:spLocks noGrp="1"/>
          </p:cNvSpPr>
          <p:nvPr>
            <p:ph type="body" sz="quarter" idx="25" hasCustomPrompt="1"/>
          </p:nvPr>
        </p:nvSpPr>
        <p:spPr>
          <a:xfrm>
            <a:off x="6480000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4" name="Textplatzhalter 18"/>
          <p:cNvSpPr>
            <a:spLocks noGrp="1"/>
          </p:cNvSpPr>
          <p:nvPr>
            <p:ph type="body" sz="quarter" idx="26"/>
          </p:nvPr>
        </p:nvSpPr>
        <p:spPr>
          <a:xfrm>
            <a:off x="9361124" y="4435200"/>
            <a:ext cx="201596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5" name="Textplatzhalter 24"/>
          <p:cNvSpPr>
            <a:spLocks noGrp="1"/>
          </p:cNvSpPr>
          <p:nvPr>
            <p:ph type="body" sz="quarter" idx="27" hasCustomPrompt="1"/>
          </p:nvPr>
        </p:nvSpPr>
        <p:spPr>
          <a:xfrm>
            <a:off x="9361124" y="4860000"/>
            <a:ext cx="201596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2001" y="1080000"/>
            <a:ext cx="11323407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32000" y="1620000"/>
            <a:ext cx="5444144" cy="4617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55895" y="1620000"/>
            <a:ext cx="5408724" cy="4617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15162-6469-F349-9026-AA5216DF459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12198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ufzählungsfe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/>
          </p:nvPr>
        </p:nvSpPr>
        <p:spPr>
          <a:xfrm>
            <a:off x="8132234" y="1620001"/>
            <a:ext cx="3526367" cy="461728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1620000"/>
            <a:ext cx="7512787" cy="461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eld+Aufzählungsfe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/>
          </p:nvPr>
        </p:nvSpPr>
        <p:spPr>
          <a:xfrm>
            <a:off x="8132234" y="1620001"/>
            <a:ext cx="3526367" cy="461728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2000" y="3060000"/>
            <a:ext cx="7512787" cy="317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32000" y="1080000"/>
            <a:ext cx="112272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>
          <a:xfrm>
            <a:off x="431799" y="1620001"/>
            <a:ext cx="8352500" cy="143192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svg"/><Relationship Id="rId20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32001" y="1080000"/>
            <a:ext cx="1132416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2000" y="1620001"/>
            <a:ext cx="1133051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8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87767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84467" y="6546850"/>
            <a:ext cx="637117" cy="266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2866142A-AFED-1443-8B06-6463BAB2C88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32" name="Textfeld 2"/>
          <p:cNvSpPr txBox="1">
            <a:spLocks noChangeArrowheads="1"/>
          </p:cNvSpPr>
          <p:nvPr userDrawn="1"/>
        </p:nvSpPr>
        <p:spPr bwMode="auto">
          <a:xfrm>
            <a:off x="7727951" y="6548438"/>
            <a:ext cx="2882900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Aly Elbermawy</a:t>
            </a:r>
            <a:endParaRPr lang="de-DE" sz="1100" dirty="0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sp>
        <p:nvSpPr>
          <p:cNvPr id="1033" name="Textfeld 3"/>
          <p:cNvSpPr txBox="1">
            <a:spLocks noChangeArrowheads="1"/>
          </p:cNvSpPr>
          <p:nvPr userDrawn="1"/>
        </p:nvSpPr>
        <p:spPr bwMode="auto">
          <a:xfrm>
            <a:off x="10608734" y="6548438"/>
            <a:ext cx="768351" cy="2667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D50FC33-BA03-D341-83A0-35E637362E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42800" y="360000"/>
            <a:ext cx="4260555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572C864-C096-EE45-8500-19995A117EE6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432000" y="6625975"/>
            <a:ext cx="1976118" cy="1040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4" r:id="rId1"/>
    <p:sldLayoutId id="2147484427" r:id="rId2"/>
    <p:sldLayoutId id="2147484413" r:id="rId3"/>
    <p:sldLayoutId id="2147484415" r:id="rId4"/>
    <p:sldLayoutId id="2147484405" r:id="rId5"/>
    <p:sldLayoutId id="2147484426" r:id="rId6"/>
    <p:sldLayoutId id="2147484423" r:id="rId7"/>
    <p:sldLayoutId id="2147484420" r:id="rId8"/>
    <p:sldLayoutId id="2147484421" r:id="rId9"/>
    <p:sldLayoutId id="2147484406" r:id="rId10"/>
    <p:sldLayoutId id="2147484416" r:id="rId11"/>
    <p:sldLayoutId id="2147484417" r:id="rId12"/>
    <p:sldLayoutId id="2147484424" r:id="rId13"/>
    <p:sldLayoutId id="2147484407" r:id="rId14"/>
    <p:sldLayoutId id="2147484425" r:id="rId15"/>
    <p:sldLayoutId id="214748442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106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marL="552450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9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2pPr>
      <a:lvl3pPr marL="8286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3pPr>
      <a:lvl4pPr marL="10953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4pPr>
      <a:lvl5pPr marL="1362075" indent="-28575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pitchFamily="2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2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63238"/>
                </a:solidFill>
              </a:rPr>
              <a:t>Vom Einbau des Chips bis zur Meldung in der App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A5C66"/>
                </a:solidFill>
              </a:rPr>
              <a:t>Anleitung: Einbau, Hochladen, Kalibrieren, eigenes Modell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63238"/>
                </a:solidFill>
              </a:rPr>
              <a:t>Aly Elbermawy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A5C66"/>
                </a:solidFill>
              </a:rPr>
              <a:t>Studienprojekt 2 · THM Campus Friedberg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Weg in neun Schritten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80BA24"/>
                </a:solidFill>
              </a:rPr>
              <a:t>Sohle in Betrieb nehmen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2194560"/>
            <a:ext cx="13559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19" y="230428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1 Verdrahten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2651760"/>
            <a:ext cx="1209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fünf Leitungen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2268" y="27889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78300" y="2194560"/>
            <a:ext cx="13559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1452" y="230428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2 Einbauen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1452" y="2651760"/>
            <a:ext cx="1209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Modul unter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die Ferse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0801" y="27889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26833" y="2194560"/>
            <a:ext cx="13559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9985" y="230428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3 Prüfen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9985" y="2651760"/>
            <a:ext cx="1209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vor dem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Festkleben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19333" y="27889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75365" y="2194560"/>
            <a:ext cx="13559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8517" y="230428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4 Arduino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8517" y="2651760"/>
            <a:ext cx="1209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IDE ein-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richten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7866" y="27889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023898" y="2194560"/>
            <a:ext cx="13559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7050" y="230428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5 Hochladen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7050" y="2651760"/>
            <a:ext cx="1209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Selbsttest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6398" y="27889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672430" y="2194560"/>
            <a:ext cx="13559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45582" y="230428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6 Kalibrieren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5582" y="2651760"/>
            <a:ext cx="1209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stehen,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gehen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64931" y="27889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320963" y="2194560"/>
            <a:ext cx="13559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94115" y="2304288"/>
            <a:ext cx="12096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7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94115" y="2651760"/>
            <a:ext cx="1209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nRF Connect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3794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80BA24"/>
                </a:solidFill>
              </a:rPr>
              <a:t>Neues Modell (nur bei Bedarf)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" y="4251960"/>
            <a:ext cx="1682496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19" y="436168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8 Trainieren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19" y="470916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Colab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484632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404872" y="4251960"/>
            <a:ext cx="1682496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78024" y="4361688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9 Exportieren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78024" y="470916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A5C66"/>
                </a:solidFill>
              </a:rPr>
              <a:t>Python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297680"/>
            <a:ext cx="7086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63238"/>
                </a:solidFill>
              </a:rPr>
              <a:t>Das aktuelle Modell steckt bereits in der Firmware. Schritt 8 und 9 braucht man nur für ein neu trainiertes Modell.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63238"/>
                </a:solidFill>
              </a:rPr>
              <a:t>Repository: </a:t>
            </a:r>
            <a:r>
              <a:rPr sz="1500" b="0" i="0">
                <a:solidFill>
                  <a:srgbClr val="263238"/>
                </a:solidFill>
              </a:rPr>
              <a:t>github.com/Alyelb/ML-Modell-for-Fall-detection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1: Verdrahtung – fünf Leitungen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1 von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783080"/>
          <a:ext cx="603504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46304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XIAO ESP32-C6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IMU-Modul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Hinweis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3V3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VCC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GND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GND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AD0 ebenfalls an GND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D4 (GPIO22)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SDA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I²C-Daten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D5 (GPIO23)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SCL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I²C-Takt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D1 (GPIO1)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INT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weckt aus dem Tiefschlaf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oto_plat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83080"/>
            <a:ext cx="4800600" cy="36340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" y="4983480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INT muss auf GPIO0–7 liegen, </a:t>
            </a:r>
            <a:r>
              <a:rPr sz="1500" b="0" i="0">
                <a:solidFill>
                  <a:srgbClr val="263238"/>
                </a:solidFill>
              </a:rPr>
              <a:t>sonst wacht das Gerät nie wieder auf.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Akku-Messung: </a:t>
            </a:r>
            <a:r>
              <a:rPr sz="1500" b="0" i="0">
                <a:solidFill>
                  <a:srgbClr val="263238"/>
                </a:solidFill>
              </a:rPr>
              <a:t>GPIO3 ist am XIAO C6 für die Antenne belegt – Teiler (2 × 100 kΩ) an D0 oder D2, PIN_BATT_ADC anpassen.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2: Das IMU-Modul richtig in die Sohle setzen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2 von 9</a:t>
            </a:r>
          </a:p>
        </p:txBody>
      </p:sp>
      <p:pic>
        <p:nvPicPr>
          <p:cNvPr id="5" name="Picture 4" descr="einbau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783080"/>
            <a:ext cx="5503545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783080"/>
            <a:ext cx="52578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Unter die Ferse, </a:t>
            </a:r>
            <a:r>
              <a:rPr sz="1600" b="0" i="0">
                <a:solidFill>
                  <a:srgbClr val="263238"/>
                </a:solidFill>
              </a:rPr>
              <a:t>dort ist die Sohle am flachsten und der Aufprall am deutlichsten.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Flach, Bauteilseite nach oben. </a:t>
            </a:r>
            <a:r>
              <a:rPr sz="1600" b="0" i="0">
                <a:solidFill>
                  <a:srgbClr val="263238"/>
                </a:solidFill>
              </a:rPr>
              <a:t>Nicht auf ein Kabel legen, nicht kippeln.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Der aufgedruckte X-Pfeil zeigt zu den Zehen.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XIAO und Akku </a:t>
            </a:r>
            <a:r>
              <a:rPr sz="1600" b="0" i="0">
                <a:solidFill>
                  <a:srgbClr val="263238"/>
                </a:solidFill>
              </a:rPr>
              <a:t>liegen daneben – ihre Lage ist egal. Es zählt nur das blaue IMU-Modul.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Links und rechts gleich einbauen: </a:t>
            </a:r>
            <a:r>
              <a:rPr sz="1600" b="0" i="0">
                <a:solidFill>
                  <a:srgbClr val="263238"/>
                </a:solidFill>
              </a:rPr>
              <a:t>Pfeil zu den Zehen, Chip oben. Nicht spiegeln.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52578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A5C66"/>
                </a:solidFill>
              </a:rPr>
              <a:t>Warum so genau? </a:t>
            </a:r>
            <a:r>
              <a:rPr sz="1400" b="0" i="0">
                <a:solidFill>
                  <a:srgbClr val="4A5C66"/>
                </a:solidFill>
              </a:rPr>
              <a:t>Das Netz wertet jede Achse einzeln aus. Gespiegelt eingebaute Sensoren erkannten im Projekt bis zu neunmal weniger Stürze.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3: Vor dem Festkleben prüfen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3 von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78308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Modul mit Klebeband fixieren, Firmware hochladen (Schritt 4 und 5), Sohle in den Schuh.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Kurz stillstehen, dann 15–20 Schritte gehen.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Im seriellen Monitor die Kalibrierungszeile lesen: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3246120"/>
            <a:ext cx="11247120" cy="694944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3346703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Kalibrierung ok: oben=(-0.08 -0.08 0.99) vorn=(0.98 0.10 -0.05) Querachse 85 %,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         Abweichung zur Vorgabe 6 Grad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4069080"/>
          <a:ext cx="1124712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2377440"/>
                <a:gridCol w="6126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Wert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gut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dann prüfen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oben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nahe (0, 0, 1)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anderes Vorzeichen oder Achse → Modul liegt falsch herum oder hochkant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Abweichung zur Vorgabe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unter 45 Grad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darüber → X-Pfeil zeigt nicht zu den Zehen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Querachse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über 70 %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darunter → mehr gehen; Modul sitzt locker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Kurz erklärt: was ist was?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768" y="1783080"/>
          <a:ext cx="11247120" cy="37124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5120640"/>
                <a:gridCol w="39319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Begriff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Was es ist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Wo es im Projekt vorkommt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TensorFlow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Bibliothek von Google zum Trainieren neuronaler Netze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Training in Colab (Notebooks)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Keras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einfache Oberfläche von TensorFlow: Netz aus Schichten zusammenstecken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Modell bauen, trainieren, .keras speichern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.keras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gespeichertes Modell mit Aufbau und Gewichten (Gleitkomma)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fall_model_lowerlimb_aug.keras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TensorFlow Lite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kompaktes Format für kleine Geräte; Gewichte als ganze Zahlen (int8)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.tflite, rund 77 KB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TFLite Micro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Bibliothek, die .tflite auf Mikrocontrollern ausführt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auf dem C6 fehlerhaft → ersetzt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eigene Kerne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dieselben int8-Rechenschritte in einfachem C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netz_int8.h + modell_netz.h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4: Arduino IDE einrichten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4 von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783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63238"/>
                </a:solidFill>
              </a:rPr>
              <a:t>Datei → Einstellungen → Zusätzliche Boardverwalter-URLs, danach im Boardverwalter „esp32“ (Espressif, 3.x) installieren: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2240280"/>
            <a:ext cx="11247120" cy="467047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340864"/>
            <a:ext cx="10881360" cy="32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https://espressif.github.io/arduino-esp32/package_esp32_index.json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3063240"/>
          <a:ext cx="6766560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0233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Werkzeuge →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Einstellung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Board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ESP32C6 Dev Module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Partition Scheme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Huge APP (3MB No OTA)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Flash Size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4 MB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USB CDC On Boot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238"/>
                          </a:solidFill>
                        </a:rPr>
                        <a:t>Enabled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89520" y="3063240"/>
            <a:ext cx="4069080" cy="237744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322783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A5C66"/>
                </a:solidFill>
              </a:rPr>
              <a:t>Keine Zusatzbibliothek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657600"/>
            <a:ext cx="3611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400" b="0" i="0">
                <a:solidFill>
                  <a:srgbClr val="263238"/>
                </a:solidFill>
              </a:rPr>
              <a:t>Die Firmware braucht keine TFLite-Bibliothek mehr.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400" b="0" i="0">
                <a:solidFill>
                  <a:srgbClr val="263238"/>
                </a:solidFill>
              </a:rPr>
              <a:t>Ohne „USB CDC On Boot“ bleibt der serielle Monitor leer.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5: Hochladen und Selbsttest lesen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5 von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Port wählen, Hochladen, seriellen Monitor mit 115200 Baud öffnen.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Beim Start rechnet der Chip fünf feste Eingaben und vergleicht sie mit den Werten vom PC.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Alle fünf Zeilen OK: </a:t>
            </a:r>
            <a:r>
              <a:rPr sz="1600" b="0" i="0">
                <a:solidFill>
                  <a:srgbClr val="263238"/>
                </a:solidFill>
              </a:rPr>
              <a:t>Der Chip rechnet richtig.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Danach im Betrieb: </a:t>
            </a:r>
            <a:r>
              <a:rPr sz="1600" b="0" i="0">
                <a:solidFill>
                  <a:srgbClr val="263238"/>
                </a:solidFill>
              </a:rPr>
              <a:t>alle 10 s eine Zeile. Beim Gehen bleibt p nahe 0, bei einem Sturz steigt 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783080"/>
            <a:ext cx="5806440" cy="22902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883664"/>
            <a:ext cx="5440679" cy="2153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Sensor: MPU-6500 (WHO_AM_I = 0x70)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BLE aktiv als "CleverSole-01"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Selbsttest 0: alle=   0  p=0.000  soll=0.000  OK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Selbsttest 1: alle=  -5  p=0.003  soll=0.004  OK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Selbsttest 2: alle=  10  p=0.057  soll=0.059  OK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Selbsttest 3: alle=  13  p=0.866  soll=0.867  OK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Selbsttest 4: alle= -13  p=0.718  soll=0.719  OK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Modell (eigene Kerne) ok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...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p=0.002  max der letzten 10 s=0.031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6: Kalibrieren – einmal stehen, einmal 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6 von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828800"/>
            <a:ext cx="25923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19" y="1938528"/>
            <a:ext cx="24460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263238"/>
                </a:solidFill>
              </a:rPr>
              <a:t>Aufwecken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2286000"/>
            <a:ext cx="24460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Sohle bewegen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58668" y="2423160"/>
            <a:ext cx="219455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14700" y="1828800"/>
            <a:ext cx="25923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7852" y="1938528"/>
            <a:ext cx="24460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263238"/>
                </a:solidFill>
              </a:rPr>
              <a:t>Stehen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7852" y="2286000"/>
            <a:ext cx="24460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mindestens 1 s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ruhig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423160"/>
            <a:ext cx="219456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99631" y="1828800"/>
            <a:ext cx="2592324" cy="118872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1938528"/>
            <a:ext cx="24460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263238"/>
                </a:solidFill>
              </a:rPr>
              <a:t>Gehen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286000"/>
            <a:ext cx="24460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A5C66"/>
                </a:solidFill>
              </a:rPr>
              <a:t>10–15 Schritte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8531" y="2423160"/>
            <a:ext cx="219457" cy="0"/>
          </a:xfrm>
          <a:prstGeom prst="line">
            <a:avLst/>
          </a:prstGeom>
          <a:ln w="22225">
            <a:solidFill>
              <a:srgbClr val="4A5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084564" y="1828800"/>
            <a:ext cx="2592324" cy="1188720"/>
          </a:xfrm>
          <a:prstGeom prst="rect">
            <a:avLst/>
          </a:prstGeom>
          <a:solidFill>
            <a:srgbClr val="80B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7716" y="1938528"/>
            <a:ext cx="24460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</a:rPr>
              <a:t>Fertig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716" y="2286000"/>
            <a:ext cx="24460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Erkennung läuft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" y="3383280"/>
            <a:ext cx="11247120" cy="694944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" y="3483864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Kalibrierung ok: oben=(...) vorn=(...) Querachse 85 %, Abweichung zur Vorgabe 6 Grad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12 Schritte, Einbaulage kalibriert -&gt; Inferenz aktiv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3434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Stehen: </a:t>
            </a:r>
            <a:r>
              <a:rPr sz="1500" b="0" i="0">
                <a:solidFill>
                  <a:srgbClr val="263238"/>
                </a:solidFill>
              </a:rPr>
              <a:t>Die Schwerkraft zeigt, wo oben ist – damit wird die Neigung ausgeglichen.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Gehen: </a:t>
            </a:r>
            <a:r>
              <a:rPr sz="1500" b="0" i="0">
                <a:solidFill>
                  <a:srgbClr val="263238"/>
                </a:solidFill>
              </a:rPr>
              <a:t>Der Fuß dreht um die Querachse. Passt sie nicht zum X-Pfeil, wird nur die Neigung korrigiert („Gang unklar: nur Neigung korrigiert“) – z. B. wenn man das Modul in der Hand bewegt.</a:t>
            </a:r>
          </a:p>
          <a:p>
            <a:pPr algn="l" marL="285750" indent="-285750">
              <a:spcAft>
                <a:spcPts val="6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Automatisch: </a:t>
            </a:r>
            <a:r>
              <a:rPr sz="1500" b="0" i="0">
                <a:solidFill>
                  <a:srgbClr val="263238"/>
                </a:solidFill>
              </a:rPr>
              <a:t>nach jedem Aufwachen neu, man muss nichts drücken.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7: Die Meldung in der App ansehen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7 von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nRF Connect öffnen, SCAN, bei CleverSole-01 auf CONNECT.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Den Dienst „Unknown Service“ mit FFF0 aufklappen.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Bei FFF1 und FFF2 auf das Symbol mit den drei Pfeilen tippen – damit kommen Meldungen von selbst.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Batterie: Dienst 180F, Wert in Prozent.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783080"/>
            <a:ext cx="5806440" cy="1264685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883664"/>
            <a:ext cx="5440679" cy="1127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FFF1  STURZ 93% n=3 batt=87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... Person liegt still ...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FFF2  LAGE vorwaerts 92%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FFF2  STUFE2 bestaetigt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3154680"/>
          <a:ext cx="580644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4251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Meldung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Bedeutung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STURZ 93%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Ausgabe des Netzes (keine Wahrscheinlichkeit)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n=3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drei von fünf Fenstern haben „Sturz“ gesagt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LAGE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Richtung aus der Liegelage (Schätzung)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STUFE2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Aufprall, Lageänderung und Ruhe passen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Für Versuche: der Testmodus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783080"/>
            <a:ext cx="5120640" cy="1910392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7" y="1883664"/>
            <a:ext cx="4754879" cy="177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#define TESTMODUS 1</a:t>
            </a:r>
          </a:p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T,812345,4,0</a:t>
            </a:r>
          </a:p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T,812545,71,1</a:t>
            </a:r>
          </a:p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T,812745,96,2</a:t>
            </a:r>
          </a:p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T,812945,94,3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783080"/>
            <a:ext cx="5806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Jede Entscheidung wird alle 0,2 s gesendet: Zeit in ms, Sturz-Wert in %, Stimmen von 5.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Das Gerät schläft nicht ein.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0" i="0">
                <a:solidFill>
                  <a:srgbClr val="263238"/>
                </a:solidFill>
              </a:rPr>
              <a:t>Mitschnitt im seriellen Monitor oder in nRF Connect (FFF2), Uhrzeit jeder Aktivität notieren.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600" b="1" i="0">
                <a:solidFill>
                  <a:srgbClr val="263238"/>
                </a:solidFill>
              </a:rPr>
              <a:t>Auswerten: </a:t>
            </a:r>
            <a:r>
              <a:rPr sz="1600" b="0" i="0">
                <a:solidFill>
                  <a:srgbClr val="263238"/>
                </a:solidFill>
              </a:rPr>
              <a:t>erkannte ÷ ausgeführte Stürze = Sensitivität; Alarme im Alltag ÷ Stunden = Fehlalarme je Stunde.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8: Ein neues Modell trainieren (Keras)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8 von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783080"/>
            <a:ext cx="6949440" cy="4189358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" y="1883664"/>
            <a:ext cx="6583679" cy="4052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from tensorflow import keras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from tensorflow.keras import layers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m = keras.Sequential([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layers.Input(shape=(100, 6)),         </a:t>
            </a:r>
            <a:r>
              <a:rPr sz="1000" b="0" i="0">
                <a:solidFill>
                  <a:srgbClr val="9CCC65"/>
                </a:solidFill>
                <a:latin typeface="Courier New"/>
              </a:rPr>
              <a:t>  # 2 s x 6 Kanaele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layers.Conv1D(32, 5, activation="relu"),</a:t>
            </a:r>
            <a:r>
              <a:rPr sz="1000" b="0" i="0">
                <a:solidFill>
                  <a:srgbClr val="9CCC65"/>
                </a:solidFill>
                <a:latin typeface="Courier New"/>
              </a:rPr>
              <a:t>  # 32 Muster je 0,1 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layers.BatchNormalization(),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layers.MaxPooling1D(2),               </a:t>
            </a:r>
            <a:r>
              <a:rPr sz="1000" b="0" i="0">
                <a:solidFill>
                  <a:srgbClr val="9CCC65"/>
                </a:solidFill>
                <a:latin typeface="Courier New"/>
              </a:rPr>
              <a:t>  # Zeit halbieren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layers.Conv1D(64, 5, activation="relu"),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layers.BatchNormalization(),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layers.MaxPooling1D(2),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layers.Conv1D(128, 5, activation="relu"),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layers.BatchNormalization(),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layers.GlobalAveragePooling1D(),      </a:t>
            </a:r>
            <a:r>
              <a:rPr sz="1000" b="0" i="0">
                <a:solidFill>
                  <a:srgbClr val="9CCC65"/>
                </a:solidFill>
                <a:latin typeface="Courier New"/>
              </a:rPr>
              <a:t>  # Mittel ueber die Zeit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layers.Dense(64, activation="relu"),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layers.Dropout(0.3),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layers.Dense(1, activation="sigmoid"),</a:t>
            </a:r>
            <a:r>
              <a:rPr sz="1000" b="0" i="0">
                <a:solidFill>
                  <a:srgbClr val="9CCC65"/>
                </a:solidFill>
                <a:latin typeface="Courier New"/>
              </a:rPr>
              <a:t>  # Sturz-Wert 0..1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])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m.compile(optimizer="adam", loss="binary_crossentropy")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m.fit(X, y, epochs=30)                   </a:t>
            </a:r>
            <a:r>
              <a:rPr sz="1000" b="0" i="0">
                <a:solidFill>
                  <a:srgbClr val="9CCC65"/>
                </a:solidFill>
                <a:latin typeface="Courier New"/>
              </a:rPr>
              <a:t>  # X: Fenster, y: 0/1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m.save("fall_model_lowerlimb_aug.keras")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783080"/>
            <a:ext cx="3977639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So steht es in fall_lib.py </a:t>
            </a:r>
            <a:r>
              <a:rPr sz="1500" b="0" i="0">
                <a:solidFill>
                  <a:srgbClr val="263238"/>
                </a:solidFill>
              </a:rPr>
              <a:t>(build_cnn). Die Notebooks rufen es auf.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In der Praxis: </a:t>
            </a:r>
            <a:r>
              <a:rPr sz="1500" b="0" i="0">
                <a:solidFill>
                  <a:srgbClr val="263238"/>
                </a:solidFill>
              </a:rPr>
              <a:t>notebook/04_fuss_orientierung.ipynb in Colab öffnen, Drive verbinden, alle Zellen ausführen.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Ergebnis </a:t>
            </a:r>
            <a:r>
              <a:rPr sz="1500" b="0" i="0">
                <a:solidFill>
                  <a:srgbClr val="263238"/>
                </a:solidFill>
              </a:rPr>
              <a:t>im Drive-Ordner ML_Fall_Detection/ergebnisse/: fall_model_lowerlimb_aug.keras und results.json.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500" b="0" i="0">
                <a:solidFill>
                  <a:srgbClr val="263238"/>
                </a:solidFill>
              </a:rPr>
              <a:t>GPU-Laufzeit wählen; Daten erst lokal in Colab kopieren.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Schritt 9: Das Modell für den Chip exportieren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 i="0">
                <a:solidFill>
                  <a:srgbClr val="4A5C66"/>
                </a:solidFill>
              </a:rPr>
              <a:t>Schritt 9 von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783080"/>
            <a:ext cx="11247120" cy="732926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" y="1883664"/>
            <a:ext cx="10881360" cy="595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pip install tensorflow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python tools/export_firmware_model.py fall_model_lowerlimb_aug.keras Pilotdaten/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2697480"/>
            <a:ext cx="6949440" cy="2499125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" y="2798064"/>
            <a:ext cx="6583679" cy="2361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m = keras.models.load_model("...keras")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m, n = bn_falten(m)        </a:t>
            </a:r>
            <a:r>
              <a:rPr sz="1100" b="0" i="0">
                <a:solidFill>
                  <a:srgbClr val="9CCC65"/>
                </a:solidFill>
                <a:latin typeface="Courier New"/>
              </a:rPr>
              <a:t>  # Normierung in Faltungen einrechnen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conv = tf.lite.TFLiteConverter.from_keras_model(m)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conv.optimizations = [tf.lite.Optimize.DEFAULT]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conv.representative_dataset = beispiele</a:t>
            </a:r>
            <a:r>
              <a:rPr sz="1100" b="0" i="0">
                <a:solidFill>
                  <a:srgbClr val="9CCC65"/>
                </a:solidFill>
                <a:latin typeface="Courier New"/>
              </a:rPr>
              <a:t>  # echte Fenster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conv.target_spec.supported_ops = [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    tf.lite.OpsSet.TFLITE_BUILTINS_INT8]</a:t>
            </a:r>
            <a:r>
              <a:rPr sz="1100" b="0" i="0">
                <a:solidFill>
                  <a:srgbClr val="9CCC65"/>
                </a:solidFill>
                <a:latin typeface="Courier New"/>
              </a:rPr>
              <a:t>  # nur int8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conv.inference_input_type = tf.int8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conv.inference_output_type = tf.int8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blob = conv.convert()      </a:t>
            </a:r>
            <a:r>
              <a:rPr sz="1100" b="0" i="0">
                <a:solidFill>
                  <a:srgbClr val="9CCC65"/>
                </a:solidFill>
                <a:latin typeface="Courier New"/>
              </a:rPr>
              <a:t>  # .tflite, ca. 77 KB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netz_header(blob, "modell_netz.h")</a:t>
            </a:r>
            <a:r>
              <a:rPr sz="1100" b="0" i="0">
                <a:solidFill>
                  <a:srgbClr val="9CCC65"/>
                </a:solidFill>
                <a:latin typeface="Courier New"/>
              </a:rPr>
              <a:t>  # Gewichte als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97480"/>
            <a:ext cx="3977639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Das Skript macht alles in einem Lauf </a:t>
            </a:r>
            <a:r>
              <a:rPr sz="1500" b="0" i="0">
                <a:solidFill>
                  <a:srgbClr val="263238"/>
                </a:solidFill>
              </a:rPr>
              <a:t>und prüft dabei int8 gegen das Original.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Ergebnis: </a:t>
            </a:r>
            <a:r>
              <a:rPr sz="1500" b="0" i="0">
                <a:solidFill>
                  <a:srgbClr val="263238"/>
                </a:solidFill>
              </a:rPr>
              <a:t>modell_netz.h und modell_sohle.h in firmware/CleverSole/ – danach nur neu hochladen.</a:t>
            </a:r>
          </a:p>
          <a:p>
            <a:pPr algn="l" marL="285750" indent="-285750">
              <a:spcAft>
                <a:spcPts val="1000"/>
              </a:spcAft>
              <a:buClr>
                <a:srgbClr val="80BA24"/>
              </a:buClr>
              <a:buChar char="–"/>
            </a:pPr>
            <a:r>
              <a:rPr sz="1500" b="1" i="0">
                <a:solidFill>
                  <a:srgbClr val="263238"/>
                </a:solidFill>
              </a:rPr>
              <a:t>Pilotdaten/: </a:t>
            </a:r>
            <a:r>
              <a:rPr sz="1500" b="0" i="0">
                <a:solidFill>
                  <a:srgbClr val="263238"/>
                </a:solidFill>
              </a:rPr>
              <a:t>eigene Logger-Aufnahmen; daraus lernt der Konverter die Wertebereiche.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im Firmware-Ordner liegt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768" y="1783080"/>
          <a:ext cx="1124712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630936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Datei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Inhalt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Von Hand ändern?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CleverSole.ino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Hauptprogramm: Sensor, Kalibrierung, Netz, Abstimmung, Bluetooth, Schlaf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ja (Pins, TESTMODUS)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modell.h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bindet das Modell ein, Einbauvorgabe (Chip oben, X zu den Zehen)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selten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netz_int8.h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eigene int8-Rechenfunktionen für das Netz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nein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modell_netz.h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Gewichte für netz_int8.h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nein – erzeugt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modell_sohle.h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dasselbe Modell als .tflite und die Selbsttest-Sollwerte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nein – erzeugt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referenzwerte.h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Schwellen der zweiten Stufe (Aufprall, Lage, Ruhe)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ja, nach Sohlen-Messungen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ANLEITUNG.md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diese Anleitung ausführlich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–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Wenn etwas nicht funktioniert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768" y="1783080"/>
          <a:ext cx="1124712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3840480"/>
                <a:gridCol w="411480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Ursache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Abhilfe</a:t>
                      </a:r>
                    </a:p>
                  </a:txBody>
                  <a:tcPr marL="91440" marR="91440" marT="27432" marB="27432" anchor="ctr">
                    <a:solidFill>
                      <a:srgbClr val="4A5C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Serieller Monitor bleibt leer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USB CDC On Boot aus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Werkzeuge → USB CDC On Boot: Enabled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IMU nicht gefunden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Verdrahtung, Adresse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SDA/SCL prüfen, AD0 an GND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Selbsttest FALSCH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modell_netz.h passt nicht zu modell_sohle.h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beide mit dem Exportskript neu erzeugen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p bleibt minutenlang gleich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alte Firmware mit TFLite Micro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neueste Firmware, EIGENE_KERNE 1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Wacht nicht mehr auf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INT nicht auf GPIO0–7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INT an D1 (GPIO1) legen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Keine Meldungen in der App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Benachrichtigung aus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bei FFF1/FFF2 die drei Pfeile antippen</a:t>
                      </a:r>
                    </a:p>
                  </a:txBody>
                  <a:tcPr marL="91440" marR="91440" marT="27432" marB="27432" anchor="ctr">
                    <a:solidFill>
                      <a:srgbClr val="F4F6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Viele Fehlalarme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Modul verdreht oder locker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3238"/>
                          </a:solidFill>
                        </a:rPr>
                        <a:t>Kalibrierungszeile prüfen (Schritt 3)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210312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4A5C66"/>
                </a:solidFill>
              </a:rPr>
              <a:t>Alle Dateien und die ausführliche Anleitung (firmware/CleverSole/ANLEITUNG.md):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4A5C66"/>
                </a:solidFill>
              </a:rPr>
              <a:t>github.com/Alyelb/ML-Modell-for-Fall-detection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M-Folienmaster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M-092017" id="{F2E74DBF-A00C-0049-AFFE-E20DFFD05F23}" vid="{9967E0B6-F9B0-0C46-B645-E7DA8BD149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THM-092017</Template>
  <TotalTime>0</TotalTime>
  <Words>13</Words>
  <Application>Microsoft Macintosh PowerPoint</Application>
  <PresentationFormat>Breitbild</PresentationFormat>
  <Paragraphs>13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THM-Folienmaster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Olga  Altergot</dc:creator>
  <cp:lastModifiedBy>Olga  Altergot</cp:lastModifiedBy>
  <cp:revision>113</cp:revision>
  <cp:lastPrinted>2017-11-28T10:01:39Z</cp:lastPrinted>
  <dcterms:created xsi:type="dcterms:W3CDTF">2017-11-01T14:34:44Z</dcterms:created>
  <dcterms:modified xsi:type="dcterms:W3CDTF">2020-09-01T06:12:52Z</dcterms:modified>
</cp:coreProperties>
</file>