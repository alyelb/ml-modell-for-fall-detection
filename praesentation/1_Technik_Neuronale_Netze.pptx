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C66"/>
    <a:srgbClr val="80BA24"/>
    <a:srgbClr val="FFFFFF"/>
    <a:srgbClr val="8996A0"/>
    <a:srgbClr val="BDC4C5"/>
    <a:srgbClr val="DF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/>
    <p:restoredTop sz="94537"/>
  </p:normalViewPr>
  <p:slideViewPr>
    <p:cSldViewPr showGuides="1">
      <p:cViewPr varScale="1">
        <p:scale>
          <a:sx n="103" d="100"/>
          <a:sy n="103" d="100"/>
        </p:scale>
        <p:origin x="1040" y="176"/>
      </p:cViewPr>
      <p:guideLst>
        <p:guide orient="horz" pos="3884"/>
        <p:guide pos="272"/>
        <p:guide orient="horz" pos="935"/>
      </p:guideLst>
    </p:cSldViewPr>
  </p:slideViewPr>
  <p:outlineViewPr>
    <p:cViewPr>
      <p:scale>
        <a:sx n="33" d="100"/>
        <a:sy n="33" d="100"/>
      </p:scale>
      <p:origin x="0" y="-15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640" y="1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Stürze erkannt (Sensitivität)</c:v>
                </c:pt>
              </c:strCache>
            </c:strRef>
          </c:tx>
          <c:spPr>
            <a:ln w="31750">
              <a:solidFill>
                <a:srgbClr val="80BA24"/>
              </a:solidFill>
            </a:ln>
          </c:spPr>
          <c:marker>
            <c:spPr>
              <a:solidFill>
                <a:srgbClr val="80BA24"/>
              </a:solidFill>
              <a:ln>
                <a:solidFill>
                  <a:srgbClr val="80BA24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1,4</c:v>
                </c:pt>
                <c:pt idx="1">
                  <c:v>1,6</c:v>
                </c:pt>
                <c:pt idx="2">
                  <c:v>1,8</c:v>
                </c:pt>
                <c:pt idx="3">
                  <c:v>2,0</c:v>
                </c:pt>
                <c:pt idx="4">
                  <c:v>2,2</c:v>
                </c:pt>
                <c:pt idx="5">
                  <c:v>2,4</c:v>
                </c:pt>
                <c:pt idx="6">
                  <c:v>2,6</c:v>
                </c:pt>
                <c:pt idx="7">
                  <c:v>2,8</c:v>
                </c:pt>
                <c:pt idx="8">
                  <c:v>3,0</c:v>
                </c:pt>
                <c:pt idx="9">
                  <c:v>3,2</c:v>
                </c:pt>
                <c:pt idx="10">
                  <c:v>3,4</c:v>
                </c:pt>
                <c:pt idx="11">
                  <c:v>3,6</c:v>
                </c:pt>
                <c:pt idx="12">
                  <c:v>3,8</c:v>
                </c:pt>
                <c:pt idx="13">
                  <c:v>4,0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99.9</c:v>
                </c:pt>
                <c:pt idx="2">
                  <c:v>99.7</c:v>
                </c:pt>
                <c:pt idx="3">
                  <c:v>99.2</c:v>
                </c:pt>
                <c:pt idx="4">
                  <c:v>98.0</c:v>
                </c:pt>
                <c:pt idx="5">
                  <c:v>96.9</c:v>
                </c:pt>
                <c:pt idx="6">
                  <c:v>95.8</c:v>
                </c:pt>
                <c:pt idx="7">
                  <c:v>94.1</c:v>
                </c:pt>
                <c:pt idx="8">
                  <c:v>91.3</c:v>
                </c:pt>
                <c:pt idx="9">
                  <c:v>88.7</c:v>
                </c:pt>
                <c:pt idx="10">
                  <c:v>86.0</c:v>
                </c:pt>
                <c:pt idx="11">
                  <c:v>81.8</c:v>
                </c:pt>
                <c:pt idx="12">
                  <c:v>79.0</c:v>
                </c:pt>
                <c:pt idx="13">
                  <c:v>74.7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Alltag richtig erkannt (Spezifität)</c:v>
                </c:pt>
              </c:strCache>
            </c:strRef>
          </c:tx>
          <c:spPr>
            <a:ln w="31750">
              <a:solidFill>
                <a:srgbClr val="4A5C66"/>
              </a:solidFill>
            </a:ln>
          </c:spPr>
          <c:marker>
            <c:spPr>
              <a:solidFill>
                <a:srgbClr val="4A5C66"/>
              </a:solidFill>
              <a:ln>
                <a:solidFill>
                  <a:srgbClr val="4A5C66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1,4</c:v>
                </c:pt>
                <c:pt idx="1">
                  <c:v>1,6</c:v>
                </c:pt>
                <c:pt idx="2">
                  <c:v>1,8</c:v>
                </c:pt>
                <c:pt idx="3">
                  <c:v>2,0</c:v>
                </c:pt>
                <c:pt idx="4">
                  <c:v>2,2</c:v>
                </c:pt>
                <c:pt idx="5">
                  <c:v>2,4</c:v>
                </c:pt>
                <c:pt idx="6">
                  <c:v>2,6</c:v>
                </c:pt>
                <c:pt idx="7">
                  <c:v>2,8</c:v>
                </c:pt>
                <c:pt idx="8">
                  <c:v>3,0</c:v>
                </c:pt>
                <c:pt idx="9">
                  <c:v>3,2</c:v>
                </c:pt>
                <c:pt idx="10">
                  <c:v>3,4</c:v>
                </c:pt>
                <c:pt idx="11">
                  <c:v>3,6</c:v>
                </c:pt>
                <c:pt idx="12">
                  <c:v>3,8</c:v>
                </c:pt>
                <c:pt idx="13">
                  <c:v>4,0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51.8</c:v>
                </c:pt>
                <c:pt idx="1">
                  <c:v>62.9</c:v>
                </c:pt>
                <c:pt idx="2">
                  <c:v>70.5</c:v>
                </c:pt>
                <c:pt idx="3">
                  <c:v>75.3</c:v>
                </c:pt>
                <c:pt idx="4">
                  <c:v>78.7</c:v>
                </c:pt>
                <c:pt idx="5">
                  <c:v>81.1</c:v>
                </c:pt>
                <c:pt idx="6">
                  <c:v>82.9</c:v>
                </c:pt>
                <c:pt idx="7">
                  <c:v>85.0</c:v>
                </c:pt>
                <c:pt idx="8">
                  <c:v>87.1</c:v>
                </c:pt>
                <c:pt idx="9">
                  <c:v>89.3</c:v>
                </c:pt>
                <c:pt idx="10">
                  <c:v>91.3</c:v>
                </c:pt>
                <c:pt idx="11">
                  <c:v>93.1</c:v>
                </c:pt>
                <c:pt idx="12">
                  <c:v>94.5</c:v>
                </c:pt>
                <c:pt idx="13">
                  <c:v>95.9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5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4A5C66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549A58-65A2-1C4E-BD33-6061F52BCE58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A2CBF72-E928-E147-A1D9-782F6DF0FEA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8FA84D-43F1-B541-9232-7D50279E8043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F7848-E2AA-B947-8B0B-A0FBC6F783B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060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Dieser Teil erklärt ohne Formeln, was im Modell passiert und welche Ergebnisse man realistisch erwarten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Sensor misst 100-mal pro Sekunde, das Modell bekommt 50 Werte pro Sekunde. Ein Fenster sind 100 × 6 = 600 Zahlen. Der grüne Rahmen zeigt ein Stück von 0,1 s, so groß ist ein Filter in der ersten Schicht.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drei habe ich auf denselben SisFall-Daten verglichen. Das CNN ist im Projekt das Modell auf dem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Erinnerung aus dem Projekt: Die Daten werden nicht nach Minimum und Maximum bewertet. Die Kurve zeigt, warum. Bei 1,5 g findet der Grenzwert alle Stürze, hält aber fast jedes zweite Alltagsfenster für einen Sturz. Bei 4 g sind die Fehlalarme selten, dafür wird jeder vierte Sturz verpasst. Minimum und Maximum werden nur noch als zweite Stufe genutzt, um einen Alarm des CNN zu bestätigen (Aufprall, Lageänderung, Ruhe).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1D-CNN heißt: Die Filter gleiten nur entlang der Zeit. Ein Filter vergleicht sich an jeder Stelle mit dem Signal und liefert dort einen hohen Wert, wo die Form passt.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Faltung, Pooling, Faltung, Pooling, Faltung, Mittelwert über die Zeit, zwei Dense-Schichten. Die Normierungsschichten aus dem Training sind für den Chip in die Faltungen eingerechnet.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 für die Erwartung: Das Netz lernt nur, was in den Beispielen steckt. Fehlen Stürze an der Sohle, kann es Sohlenstürze nur so gut erkennen, wie sie Stürzen am Bein ähneln.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Zahlen in den Kästchen sind ein ausgedachtes Beispiel zur Erklärung, keine Messung. Schwelle 0,5, Alarm bei 3 von 5. Die Prozentzahl in der App ist die Ausgabe des Netzes, nicht kalibriert.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Schritte macht ein einziges Skript: tools/export_firmware_model.py. Die Details stehen in der Anleitung.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Fehlalarm-Fenster je Stunde sind vor der Abstimmungsregel gezählt; mit 3 von 5 werden es weniger. Alle Stürze in den Datensätzen sind simuliert, meist von jungen Menschen.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 Zeile ist im Projekt tatsächlich aufgetreten.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Nachschlagen.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892CBC1-0AA5-FD49-A6CF-7BC19D8FD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B4F93A7-5B61-D941-9FC9-6DB6CDC6EF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3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6EBF173-6194-1449-A8B7-B55867141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E426BC6-EC8D-2B49-804D-49B49D3145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6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A692ADC8-598A-EC43-8E74-629C6533D2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69690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69576794-5162-6048-BCAD-629826D7D5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1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7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825"/>
            <a:ext cx="12192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639787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5040131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867542" y="2996952"/>
            <a:ext cx="284508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303319" y="3717032"/>
            <a:ext cx="2736897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8867243" y="3574926"/>
            <a:ext cx="2845382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A4DEDB-1913-094B-A031-F2D1C477C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0" y="6502400"/>
            <a:ext cx="24257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2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4617288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3988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1736992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4270576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auto">
          <a:xfrm>
            <a:off x="811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5666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4162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8256240" y="321431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6"/>
          <p:cNvSpPr>
            <a:spLocks noGrp="1"/>
          </p:cNvSpPr>
          <p:nvPr>
            <p:ph type="pic" sz="quarter" idx="17"/>
          </p:nvPr>
        </p:nvSpPr>
        <p:spPr>
          <a:xfrm>
            <a:off x="8125885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/>
          </p:nvPr>
        </p:nvSpPr>
        <p:spPr>
          <a:xfrm>
            <a:off x="432001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6"/>
          </p:nvPr>
        </p:nvSpPr>
        <p:spPr>
          <a:xfrm>
            <a:off x="4271798" y="1700214"/>
            <a:ext cx="3526167" cy="4537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4167" cy="576262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2"/>
          </p:nvPr>
        </p:nvSpPr>
        <p:spPr>
          <a:xfrm>
            <a:off x="760370" y="1883197"/>
            <a:ext cx="3097100" cy="62865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/>
          </p:nvPr>
        </p:nvSpPr>
        <p:spPr>
          <a:xfrm>
            <a:off x="4606943" y="1817219"/>
            <a:ext cx="3203556" cy="7413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4"/>
          </p:nvPr>
        </p:nvSpPr>
        <p:spPr>
          <a:xfrm>
            <a:off x="8464551" y="1817220"/>
            <a:ext cx="3187700" cy="809625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027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  <p15:guide id="2" pos="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Bild 13" descr="organisation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5" y="3173431"/>
            <a:ext cx="909041" cy="831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Bild 1" descr="euro-schein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5" y="4959058"/>
            <a:ext cx="975295" cy="55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pic>
        <p:nvPicPr>
          <p:cNvPr id="11" name="Bild 10" descr="icon_people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32" y="3291575"/>
            <a:ext cx="8884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Bild 11" descr="haus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4928474"/>
            <a:ext cx="97529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1C6723BC-5FFF-A14D-8404-D5F91F1C72B1}"/>
              </a:ext>
            </a:extLst>
          </p:cNvPr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594EDCD-2274-FE44-87CC-3D768625475C}"/>
              </a:ext>
            </a:extLst>
          </p:cNvPr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C02CBA60-C706-9748-870A-3B807F155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47172106-5D28-8B48-8CE5-77E78E3EF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feld 1,5 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548016"/>
            <a:ext cx="11164821" cy="4617288"/>
          </a:xfrm>
        </p:spPr>
        <p:txBody>
          <a:bodyPr lIns="0"/>
          <a:lstStyle>
            <a:lvl1pPr>
              <a:lnSpc>
                <a:spcPts val="4100"/>
              </a:lnSpc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961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4929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156594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B7358-837F-F449-96D9-6AA1275CBD5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7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2968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507781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562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6810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9361124" y="2271781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9361124" y="2696581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26"/>
          </p:nvPr>
        </p:nvSpPr>
        <p:spPr>
          <a:xfrm>
            <a:off x="9361124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4"/>
          <p:cNvSpPr>
            <a:spLocks noGrp="1"/>
          </p:cNvSpPr>
          <p:nvPr>
            <p:ph type="body" sz="quarter" idx="27" hasCustomPrompt="1"/>
          </p:nvPr>
        </p:nvSpPr>
        <p:spPr>
          <a:xfrm>
            <a:off x="9361124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32000" y="1620000"/>
            <a:ext cx="544414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55895" y="1620000"/>
            <a:ext cx="540872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5162-6469-F349-9026-AA5216DF459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1219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620000"/>
            <a:ext cx="7512787" cy="461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eld+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3060000"/>
            <a:ext cx="7512787" cy="317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431799" y="1620001"/>
            <a:ext cx="8352500" cy="143192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svg"/><Relationship Id="rId20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32001" y="1080000"/>
            <a:ext cx="1132416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2000" y="1620001"/>
            <a:ext cx="1133051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8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84467" y="6546850"/>
            <a:ext cx="637117" cy="266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2866142A-AFED-1443-8B06-6463BAB2C88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32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1033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D50FC33-BA03-D341-83A0-35E637362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42800" y="360000"/>
            <a:ext cx="4260555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72C864-C096-EE45-8500-19995A117EE6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432000" y="6625975"/>
            <a:ext cx="1976118" cy="1040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27" r:id="rId2"/>
    <p:sldLayoutId id="2147484413" r:id="rId3"/>
    <p:sldLayoutId id="2147484415" r:id="rId4"/>
    <p:sldLayoutId id="2147484405" r:id="rId5"/>
    <p:sldLayoutId id="2147484426" r:id="rId6"/>
    <p:sldLayoutId id="2147484423" r:id="rId7"/>
    <p:sldLayoutId id="2147484420" r:id="rId8"/>
    <p:sldLayoutId id="2147484421" r:id="rId9"/>
    <p:sldLayoutId id="2147484406" r:id="rId10"/>
    <p:sldLayoutId id="2147484416" r:id="rId11"/>
    <p:sldLayoutId id="2147484417" r:id="rId12"/>
    <p:sldLayoutId id="2147484424" r:id="rId13"/>
    <p:sldLayoutId id="2147484407" r:id="rId14"/>
    <p:sldLayoutId id="2147484425" r:id="rId15"/>
    <p:sldLayoutId id="214748442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106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5524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9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2pPr>
      <a:lvl3pPr marL="8286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3pPr>
      <a:lvl4pPr marL="10953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4pPr>
      <a:lvl5pPr marL="13620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63238"/>
                </a:solidFill>
              </a:rPr>
              <a:t>Wie ein neuronales Netz einen Sturz erkennt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A5C66"/>
                </a:solidFill>
              </a:rPr>
              <a:t>Technischer Hintergrund zur Sturzerkennung in der Sohle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63238"/>
                </a:solidFill>
              </a:rPr>
              <a:t>Aly Elbermawy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A5C66"/>
                </a:solidFill>
              </a:rPr>
              <a:t>Studienprojekt 2 · THM Campus Friedberg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Modell sieht 600 Zahlen – zwei Sekunden Bewegung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9659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Beschleunigung x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1874519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816352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18104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19856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21608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25112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6864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28616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30368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32120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33872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35623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37376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39127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42631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44383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46136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47888" y="1874519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9768" y="247802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Beschleunigung 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2386584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816352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18104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19856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21608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23360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25112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26864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28616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30368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532120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33872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35623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37376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39127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40880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42631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44383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46136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47888" y="2386584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9768" y="29900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Beschleunigung 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2898648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16352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118104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19856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21608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023360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325112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626864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928616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30368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32120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833872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135623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437376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739127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40880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342631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44383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946136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47888" y="2898648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29768" y="3502151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Drehrate 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4600" y="3410711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816352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118104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19856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721608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023360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325112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626864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928616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230368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532120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833872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135623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37376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739127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040880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342631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644383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946136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47888" y="3410711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29768" y="4014215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Drehrate 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14600" y="3922775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816352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118104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419856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721608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023360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325112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626864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928616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230368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532120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833872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135623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7376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739127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40880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42631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644383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946136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247888" y="3922775"/>
            <a:ext cx="0" cy="43891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29768" y="452627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Drehrate 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14600" y="4434840"/>
            <a:ext cx="6035040" cy="438912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16352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118104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419856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21608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023360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325112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626864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928616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230368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532120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833872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135623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437376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739127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40880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342631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644383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946136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247888" y="4434840"/>
            <a:ext cx="0" cy="43891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5230368" y="1874519"/>
            <a:ext cx="603503" cy="2999231"/>
          </a:xfrm>
          <a:prstGeom prst="rect">
            <a:avLst/>
          </a:prstGeom>
          <a:noFill/>
          <a:ln w="15875">
            <a:solidFill>
              <a:srgbClr val="80B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514600" y="5020055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4A5C66"/>
                </a:solidFill>
              </a:rPr>
              <a:t>100 Zeitpunkte = 2 Sekunden (50 pro Sekunde)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15400" y="1874519"/>
            <a:ext cx="27432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3238"/>
                </a:solidFill>
              </a:rPr>
              <a:t>Jede Spalte ist ein Moment, jede Zeile ein Messkanal.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3238"/>
                </a:solidFill>
              </a:rPr>
              <a:t>Alle 0,2 s rückt das Fenster weiter und das Modell entscheidet neu.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3238"/>
                </a:solidFill>
              </a:rPr>
              <a:t>Vorher wird jeder Kanal normiert – das Modell sieht die Form, nicht den absoluten Wert.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Wege, aus Messwerten eine Entscheidung zu machen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920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63238"/>
                </a:solidFill>
              </a:rPr>
              <a:t>Grenzwert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24688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3238"/>
                </a:solidFill>
              </a:rPr>
              <a:t>Ist die Beschleunigung irgendwann größer als z. B. 2,8 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35204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einfach, sofort verständlich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kennt nur die Höhe der Spitze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jeder harte Schritt löst aus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48" y="1920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63238"/>
                </a:solidFill>
              </a:rP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248" y="24688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3238"/>
                </a:solidFill>
              </a:rPr>
              <a:t>Viele Entscheidungsbäume stimmen über 18 Kennwerte ab (Maximum, Streuung, …).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35204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robust, gut erklärbar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Kennwerte muss man vorgeben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Reihenfolge der Ereignisse geht verloren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1920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80BA24"/>
                </a:solidFill>
              </a:rPr>
              <a:t>1D-CNN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4688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3238"/>
                </a:solidFill>
              </a:rPr>
              <a:t>Ein neuronales Netz lernt selbst, welche Muster im Verlauf auf einen Sturz hinweisen.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35204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bewertet den ganzen Verlauf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braucht viele Beispieldaten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4A5C66"/>
                </a:solidFill>
              </a:rPr>
              <a:t>Achsenlage muss stimmen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nicht einfach Minimum und Maximum?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768" y="1691640"/>
          <a:ext cx="72237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9768" y="5943600"/>
            <a:ext cx="7223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Grenzwert auf die Spitze von |a| in g (SisFall, Hüfte)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83080"/>
            <a:ext cx="3657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3238"/>
                </a:solidFill>
              </a:rPr>
              <a:t>Jeder Grenzwert tauscht verpasste Stürze gegen Fehlalarme. Einen Punkt, an dem beides gut ist, gibt es nicht.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63238"/>
                </a:solidFill>
              </a:rPr>
              <a:t>Das CNN liegt bei 99,0 % und 99,3 % </a:t>
            </a:r>
            <a:r>
              <a:rPr sz="1600" b="0" i="0">
                <a:solidFill>
                  <a:srgbClr val="263238"/>
                </a:solidFill>
              </a:rPr>
              <a:t>– weit über dieser Kurve, weil es nicht nur die Spitze, sondern den Verlauf davor und danach bewertet.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3238"/>
                </a:solidFill>
              </a:rPr>
              <a:t>An der Sohle sind Alltagsspitzen sogar höher als Sturzspitzen. Dort scheitert jeder Grenzwert.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 Filter ist ein kleines Muster, das über das Signal gleitet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1872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92224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22576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2928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3631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3983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74336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04688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5743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6096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47504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77856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08208" y="2194560"/>
            <a:ext cx="457200" cy="4572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103120"/>
            <a:ext cx="2688336" cy="640080"/>
          </a:xfrm>
          <a:prstGeom prst="rect">
            <a:avLst/>
          </a:prstGeom>
          <a:noFill/>
          <a:ln w="15875">
            <a:solidFill>
              <a:srgbClr val="80B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769864" y="2788920"/>
            <a:ext cx="0" cy="594360"/>
          </a:xfrm>
          <a:prstGeom prst="line">
            <a:avLst/>
          </a:prstGeom>
          <a:ln w="22225">
            <a:solidFill>
              <a:srgbClr val="80B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13631" y="3429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80BA24"/>
                </a:solidFill>
              </a:rPr>
              <a:t>„passt hier gut“ → hoher Wert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Messwerte eines Kanals über die Zeit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420624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Erste Schicht: </a:t>
            </a:r>
            <a:r>
              <a:rPr sz="1600" b="0" i="0">
                <a:solidFill>
                  <a:srgbClr val="263238"/>
                </a:solidFill>
              </a:rPr>
              <a:t>32 Filter über je 5 Zeitpunkte (0,1 s). Sie finden einfache Formen – einen steilen Anstieg, einen Stoß, eine Drehung.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Weitere Schichten: </a:t>
            </a:r>
            <a:r>
              <a:rPr sz="1600" b="0" i="0">
                <a:solidFill>
                  <a:srgbClr val="263238"/>
                </a:solidFill>
              </a:rPr>
              <a:t>setzen diese Formen zu größeren Mustern zusammen – zum Beispiel Drehung, dann Stoß, dann Ruhe.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Gelernt, nicht programmiert: </a:t>
            </a:r>
            <a:r>
              <a:rPr sz="1600" b="0" i="0">
                <a:solidFill>
                  <a:srgbClr val="263238"/>
                </a:solidFill>
              </a:rPr>
              <a:t>welche Muster wichtig sind, hat das Netz aus Tausenden Beispielen selbst bestimmt.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Aufbau des Modells auf dem Chip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19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Eingang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100 × 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2268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78300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1452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Faltung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1452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32 Filter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0801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26833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9985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Faltung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9985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64 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19333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75365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8517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Faltung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8517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128 Filter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7866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23898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7050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Mittelwert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7050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über die Zeit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6398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672430" y="1874519"/>
            <a:ext cx="1355924" cy="1143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5582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Entscheidung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5582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64 → 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64931" y="24460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320963" y="1874519"/>
            <a:ext cx="1355924" cy="114300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94115" y="198424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</a:rPr>
              <a:t>Sturz-Wert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4115" y="2331720"/>
            <a:ext cx="12096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0 …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4290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80BA24"/>
                </a:solidFill>
              </a:rPr>
              <a:t>Klein genug für die Sohle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3238"/>
                </a:solidFill>
              </a:rPr>
              <a:t>61 601 Gewichte, nach dem Export 77 KB. Eine Entscheidung dauert auf dem ESP32-C6 nur einen Bruchteil der 0,2 s zwischen zwei Fenstern.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29000"/>
            <a:ext cx="5440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80BA24"/>
                </a:solidFill>
              </a:rPr>
              <a:t>Zwischen den Faltungen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3238"/>
                </a:solidFill>
              </a:rPr>
              <a:t>wird die Zeitachse jeweils halbiert. So sieht jede Schicht einen längeren Ausschnitt, die letzte fast das ganze Fenster.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Lernen heißt: Gewichte so lange anpassen, bis die Beispiele stimmen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297680" cy="132588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63238"/>
                </a:solidFill>
              </a:rPr>
              <a:t>Beispiel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774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Fenster mit bekannter Antwort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(Sturz oder Alltag)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828800"/>
            <a:ext cx="4297680" cy="132588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965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63238"/>
                </a:solidFill>
              </a:rPr>
              <a:t>Vorhersage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774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das Netz rechnet einen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Sturz-Wert aus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160520"/>
            <a:ext cx="4297680" cy="132588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4297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63238"/>
                </a:solidFill>
              </a:rPr>
              <a:t>Fehler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709159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wie weit lag es daneben?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160520"/>
            <a:ext cx="4297680" cy="132588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297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63238"/>
                </a:solidFill>
              </a:rPr>
              <a:t>Korrektur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09159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alle Gewichte ein kleines Stück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in die richtige Richtung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0680" y="2487168"/>
            <a:ext cx="1280160" cy="0"/>
          </a:xfrm>
          <a:prstGeom prst="line">
            <a:avLst/>
          </a:prstGeom>
          <a:ln w="25400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5400" y="3200400"/>
            <a:ext cx="0" cy="914400"/>
          </a:xfrm>
          <a:prstGeom prst="line">
            <a:avLst/>
          </a:prstGeom>
          <a:ln w="25400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440680" y="4818888"/>
            <a:ext cx="1280160" cy="0"/>
          </a:xfrm>
          <a:prstGeom prst="line">
            <a:avLst/>
          </a:prstGeom>
          <a:ln w="25400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46120" y="3200400"/>
            <a:ext cx="0" cy="914400"/>
          </a:xfrm>
          <a:prstGeom prst="line">
            <a:avLst/>
          </a:prstGeom>
          <a:ln w="25400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5760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63238"/>
                </a:solidFill>
              </a:rPr>
              <a:t>Diese Runde läuft viele Tausend Mal. Getestet wird immer mit Personen, die im Training nicht vorkamen.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Sturz-Wert zum Alarm: drei von fünf müssen zustimmen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0,0 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10512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0,2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9504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0,4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2103120"/>
            <a:ext cx="914400" cy="91440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</a:rPr>
              <a:t>0,72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0,6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2103120"/>
            <a:ext cx="914400" cy="91440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</a:rPr>
              <a:t>0,93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0,8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2103120"/>
            <a:ext cx="914400" cy="91440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</a:rPr>
              <a:t>0,88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1,0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1,2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2103120"/>
            <a:ext cx="914400" cy="91440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</a:rPr>
              <a:t>0,81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1,4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63456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1,6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42448" y="2103120"/>
            <a:ext cx="914400" cy="9144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4A5C66"/>
                </a:solidFill>
              </a:rPr>
              <a:t>0,05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4A5C66"/>
                </a:solidFill>
              </a:rPr>
              <a:t>1,8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95344" y="2011680"/>
            <a:ext cx="5376672" cy="1097280"/>
          </a:xfrm>
          <a:prstGeom prst="rect">
            <a:avLst/>
          </a:prstGeom>
          <a:noFill/>
          <a:ln w="15875">
            <a:solidFill>
              <a:srgbClr val="B32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16459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B3263E"/>
                </a:solidFill>
              </a:rPr>
              <a:t>4 von 5 über 0,5 → Alarm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379476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Beispielhafte Folge, </a:t>
            </a:r>
            <a:r>
              <a:rPr sz="1600" b="0" i="0">
                <a:solidFill>
                  <a:srgbClr val="263238"/>
                </a:solidFill>
              </a:rPr>
              <a:t>alle 0,2 s ein Wert. Einzelne Ausreißer lösen nichts aus; erst wenn der Wert mehrfach hintereinander hoch ist, meldet die Sohle einen Sturz.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Der Sturz-Wert ist keine echte Wahrscheinlichkeit. </a:t>
            </a:r>
            <a:r>
              <a:rPr sz="1600" b="0" i="0">
                <a:solidFill>
                  <a:srgbClr val="263238"/>
                </a:solidFill>
              </a:rPr>
              <a:t>„93 %“ heißt: das Netz ist sich sicher – nicht, dass es in 93 von 100 Fällen stimmt.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Danach prüft eine zweite Stufe </a:t>
            </a:r>
            <a:r>
              <a:rPr sz="1600" b="0" i="0">
                <a:solidFill>
                  <a:srgbClr val="263238"/>
                </a:solidFill>
              </a:rPr>
              <a:t>Aufprall, Lageänderung und Ruhe und meldet die Sturzrichtung.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Trainingsrechner auf den Mikrocontroller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874519"/>
            <a:ext cx="1630680" cy="1234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19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Keras-Modell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Gleitkomma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≈ 240 KB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97024" y="2491739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53056" y="1874519"/>
            <a:ext cx="1630680" cy="1234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6208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Normierung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6208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in Faltungen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eingerechnet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0312" y="2491739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76344" y="1874519"/>
            <a:ext cx="1630680" cy="123444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9496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</a:rPr>
              <a:t>int8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9496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ganze Zahlen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−128 … 127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491739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99632" y="1874519"/>
            <a:ext cx="1630680" cy="1234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TFLite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77 KB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6888" y="2491739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122920" y="1874519"/>
            <a:ext cx="1630680" cy="1234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6072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C-Datei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6072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modell_sohle.h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90176" y="2491739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046208" y="1874519"/>
            <a:ext cx="1630680" cy="1234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9360" y="1984248"/>
            <a:ext cx="1484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ESP32-C6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9360" y="2331720"/>
            <a:ext cx="14843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A5C66"/>
                </a:solidFill>
              </a:rPr>
              <a:t>TFLite Micro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3520440"/>
            <a:ext cx="11247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int8 statt Gleitkomma: </a:t>
            </a:r>
            <a:r>
              <a:rPr sz="1600" b="0" i="0">
                <a:solidFill>
                  <a:srgbClr val="263238"/>
                </a:solidFill>
              </a:rPr>
              <a:t>viermal kleiner und schneller. Auf den eigenen Pilotdaten trifft das int8-Modell in 99,5 % der Fenster dieselbe Entscheidung.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Normierung einrechnen: </a:t>
            </a:r>
            <a:r>
              <a:rPr sz="1600" b="0" i="0">
                <a:solidFill>
                  <a:srgbClr val="263238"/>
                </a:solidFill>
              </a:rPr>
              <a:t>ohne diesen Schritt rechnete der Chip immer 0,47 – unabhängig vom Sensor. Das Exportskript erledigt das jetzt automatisch.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Selbsttest beim Start: </a:t>
            </a:r>
            <a:r>
              <a:rPr sz="1600" b="0" i="0">
                <a:solidFill>
                  <a:srgbClr val="263238"/>
                </a:solidFill>
              </a:rPr>
              <a:t>fünf feste Eingaben, deren Ergebnis beim Export berechnet wurde. Weicht der Chip ab, stimmt keine spätere Zahl.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man realistisch erwarten kann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2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3840480"/>
                <a:gridCol w="32004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Ergebnis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Wie belastbar?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Hüfte, Laborstürze (SisFall)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99,0 % erkannt, 99,3 % Alltag richtig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hoch – 10 fremde Personen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Schienbein, fremde Personen (CAPPIMU)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84 % erkannt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hoch – fünffach kreuzvalidiert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Alltag an der Sohle (zwei fremde Datensätze)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13 bzw. 28 Fehlalarm-Fenster je Stunde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mittel – vor der 3-von-5-Regel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Eigene Hardware, Lage ausgerichtet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67 von 67 Stürzen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gering – eine Person, Matte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Echte Stürze in der Sohle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noch nicht gemessen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offen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9768" y="512064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63238"/>
                </a:solidFill>
              </a:rPr>
              <a:t>Kurz: </a:t>
            </a:r>
            <a:r>
              <a:rPr sz="1600" b="0" i="0">
                <a:solidFill>
                  <a:srgbClr val="263238"/>
                </a:solidFill>
              </a:rPr>
              <a:t>Das Modell erkennt Stürze am Bein zuverlässig. Wie viele Fehlalarme im echten Alltag an der Sohle übrig bleiben, zeigt erst ein längerer Test mit mehreren Personen.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Typische Fehlerquellen – und wie das Projekt sie abfängt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19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74720"/>
                <a:gridCol w="3749039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Fehlerquelle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Was passiert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Gegenmaßnahme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Sensor anders eingebaut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Erkennung fällt um ein Drittel und mehr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Selbstkalibrierung, gedrehte Trainingsdaten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Keine Daten der Zielposition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Fersenaufsatz wirkt wie ein Sturz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Alltagsdaten von der Sohle ins Training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Messbereich oder Abtastrate zu klein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Aufprall wird abgeschnitten oder verschluckt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±16 g, 100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Rechenfehler auf dem Chip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immer derselbe Wert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Selbsttest beim Start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Nur ein Grenzwert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Joggen und Springen lösen aus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CNN + Abstimmung + zweite Stufe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Begriffe auf einen Blick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2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32104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Begriff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Bedeutung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Sensitivität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Anteil der Stürze, die erkannt werden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Spezifität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Anteil der Alltagsfenster, die richtig als „kein Sturz“ gelten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Fehlalarme je Stunde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wie oft das System im Alltag fälschlich auslöst – für Nutzer die wichtigste Zahl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Fenster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2 s Messdaten, die das Modell auf einmal bewertet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Augmentierung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Trainingsdaten zusätzlich gedreht oder gespiegelt, damit die Einbaulage weniger zählt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Kreuzvalidierung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fünfmal mit anderen Testpersonen prüfen – ein Ergebnis zählt nur, wenn es stabil ist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Quantisierung (int8)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63238"/>
                          </a:solidFill>
                        </a:rPr>
                        <a:t>Gewichte als ganze Zahlen speichern, damit das Modell auf den Chip passt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21031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4A5C66"/>
                </a:solidFill>
              </a:rPr>
              <a:t>Im zweiten Teil zeige ich das Projekt mit allen Ergebnissen,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4A5C66"/>
                </a:solidFill>
              </a:rPr>
              <a:t>im dritten Teil, wie man ein Modell auf den Chip bringt und die Meldung in der App sieht.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M-Folienmaster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M-092017" id="{F2E74DBF-A00C-0049-AFFE-E20DFFD05F23}" vid="{9967E0B6-F9B0-0C46-B645-E7DA8BD149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THM-092017</Template>
  <TotalTime>0</TotalTime>
  <Words>13</Words>
  <Application>Microsoft Macintosh PowerPoint</Application>
  <PresentationFormat>Breitbild</PresentationFormat>
  <Paragraphs>13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THM-Folienmaster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Olga  Altergot</dc:creator>
  <cp:lastModifiedBy>Olga  Altergot</cp:lastModifiedBy>
  <cp:revision>113</cp:revision>
  <cp:lastPrinted>2017-11-28T10:01:39Z</cp:lastPrinted>
  <dcterms:created xsi:type="dcterms:W3CDTF">2017-11-01T14:34:44Z</dcterms:created>
  <dcterms:modified xsi:type="dcterms:W3CDTF">2020-09-01T06:12:52Z</dcterms:modified>
</cp:coreProperties>
</file>