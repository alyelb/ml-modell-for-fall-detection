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8"/>
    <p:sldId id="257" r:id="rId9"/>
    <p:sldId id="258" r:id="rId10"/>
    <p:sldId id="259" r:id="rId11"/>
    <p:sldId id="260" r:id="rId12"/>
    <p:sldId id="261" r:id="rId13"/>
    <p:sldId id="262" r:id="rId14"/>
    <p:sldId id="263" r:id="rId15"/>
    <p:sldId id="264" r:id="rId7"/>
    <p:sldId id="265" r:id="rId6"/>
    <p:sldId id="266" r:id="rId5"/>
    <p:sldId id="267" r:id="rId4"/>
    <p:sldId id="268" r:id="rId3"/>
    <p:sldId id="269" r:id="rId2"/>
    <p:sldId id="270" r:id="rId22"/>
    <p:sldId id="271" r:id="rId23"/>
    <p:sldId id="272" r:id="rId24"/>
  </p:sldIdLst>
  <p:sldSz cx="12192000" cy="6858000"/>
  <p:notesSz cx="6858000" cy="9144000"/>
  <p:defaultTextStyle>
    <a:defPPr>
      <a:defRPr lang="de-DE"/>
    </a:defPPr>
    <a:lvl1pPr algn="l" rtl="0" eaLnBrk="0" fontAlgn="base" hangingPunct="0">
      <a:spcBef>
        <a:spcPct val="0"/>
      </a:spcBef>
      <a:spcAft>
        <a:spcPct val="0"/>
      </a:spcAft>
      <a:defRPr kern="1200">
        <a:solidFill>
          <a:schemeClr val="tx1"/>
        </a:solidFill>
        <a:latin typeface="Calibri" charset="0"/>
        <a:ea typeface="MS PGothic" charset="-128"/>
        <a:cs typeface="+mn-cs"/>
      </a:defRPr>
    </a:lvl1pPr>
    <a:lvl2pPr marL="457200" algn="l" rtl="0" eaLnBrk="0" fontAlgn="base" hangingPunct="0">
      <a:spcBef>
        <a:spcPct val="0"/>
      </a:spcBef>
      <a:spcAft>
        <a:spcPct val="0"/>
      </a:spcAft>
      <a:defRPr kern="1200">
        <a:solidFill>
          <a:schemeClr val="tx1"/>
        </a:solidFill>
        <a:latin typeface="Calibri" charset="0"/>
        <a:ea typeface="MS PGothic" charset="-128"/>
        <a:cs typeface="+mn-cs"/>
      </a:defRPr>
    </a:lvl2pPr>
    <a:lvl3pPr marL="914400" algn="l" rtl="0" eaLnBrk="0" fontAlgn="base" hangingPunct="0">
      <a:spcBef>
        <a:spcPct val="0"/>
      </a:spcBef>
      <a:spcAft>
        <a:spcPct val="0"/>
      </a:spcAft>
      <a:defRPr kern="1200">
        <a:solidFill>
          <a:schemeClr val="tx1"/>
        </a:solidFill>
        <a:latin typeface="Calibri" charset="0"/>
        <a:ea typeface="MS PGothic" charset="-128"/>
        <a:cs typeface="+mn-cs"/>
      </a:defRPr>
    </a:lvl3pPr>
    <a:lvl4pPr marL="1371600" algn="l" rtl="0" eaLnBrk="0" fontAlgn="base" hangingPunct="0">
      <a:spcBef>
        <a:spcPct val="0"/>
      </a:spcBef>
      <a:spcAft>
        <a:spcPct val="0"/>
      </a:spcAft>
      <a:defRPr kern="1200">
        <a:solidFill>
          <a:schemeClr val="tx1"/>
        </a:solidFill>
        <a:latin typeface="Calibri" charset="0"/>
        <a:ea typeface="MS PGothic" charset="-128"/>
        <a:cs typeface="+mn-cs"/>
      </a:defRPr>
    </a:lvl4pPr>
    <a:lvl5pPr marL="1828800" algn="l" rtl="0" eaLnBrk="0" fontAlgn="base" hangingPunct="0">
      <a:spcBef>
        <a:spcPct val="0"/>
      </a:spcBef>
      <a:spcAft>
        <a:spcPct val="0"/>
      </a:spcAft>
      <a:defRPr kern="1200">
        <a:solidFill>
          <a:schemeClr val="tx1"/>
        </a:solidFill>
        <a:latin typeface="Calibri" charset="0"/>
        <a:ea typeface="MS PGothic" charset="-128"/>
        <a:cs typeface="+mn-cs"/>
      </a:defRPr>
    </a:lvl5pPr>
    <a:lvl6pPr marL="2286000" algn="l" defTabSz="914400" rtl="0" eaLnBrk="1" latinLnBrk="0" hangingPunct="1">
      <a:defRPr kern="1200">
        <a:solidFill>
          <a:schemeClr val="tx1"/>
        </a:solidFill>
        <a:latin typeface="Calibri" charset="0"/>
        <a:ea typeface="MS PGothic" charset="-128"/>
        <a:cs typeface="+mn-cs"/>
      </a:defRPr>
    </a:lvl6pPr>
    <a:lvl7pPr marL="2743200" algn="l" defTabSz="914400" rtl="0" eaLnBrk="1" latinLnBrk="0" hangingPunct="1">
      <a:defRPr kern="1200">
        <a:solidFill>
          <a:schemeClr val="tx1"/>
        </a:solidFill>
        <a:latin typeface="Calibri" charset="0"/>
        <a:ea typeface="MS PGothic" charset="-128"/>
        <a:cs typeface="+mn-cs"/>
      </a:defRPr>
    </a:lvl7pPr>
    <a:lvl8pPr marL="3200400" algn="l" defTabSz="914400" rtl="0" eaLnBrk="1" latinLnBrk="0" hangingPunct="1">
      <a:defRPr kern="1200">
        <a:solidFill>
          <a:schemeClr val="tx1"/>
        </a:solidFill>
        <a:latin typeface="Calibri" charset="0"/>
        <a:ea typeface="MS PGothic" charset="-128"/>
        <a:cs typeface="+mn-cs"/>
      </a:defRPr>
    </a:lvl8pPr>
    <a:lvl9pPr marL="3657600" algn="l" defTabSz="914400" rtl="0" eaLnBrk="1" latinLnBrk="0" hangingPunct="1">
      <a:defRPr kern="1200">
        <a:solidFill>
          <a:schemeClr val="tx1"/>
        </a:solidFill>
        <a:latin typeface="Calibri" charset="0"/>
        <a:ea typeface="MS PGothic" charset="-128"/>
        <a:cs typeface="+mn-cs"/>
      </a:defRPr>
    </a:lvl9pPr>
  </p:defaultTextStyle>
  <p:extLst>
    <p:ext uri="{EFAFB233-063F-42B5-8137-9DF3F51BA10A}">
      <p15:sldGuideLst xmlns:p15="http://schemas.microsoft.com/office/powerpoint/2012/main">
        <p15:guide id="1" orient="horz" pos="3884" userDrawn="1">
          <p15:clr>
            <a:srgbClr val="A4A3A4"/>
          </p15:clr>
        </p15:guide>
        <p15:guide id="2" pos="272" userDrawn="1">
          <p15:clr>
            <a:srgbClr val="A4A3A4"/>
          </p15:clr>
        </p15:guide>
        <p15:guide id="3" orient="horz" pos="935"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4A5C66"/>
    <a:srgbClr val="80BA24"/>
    <a:srgbClr val="FFFFFF"/>
    <a:srgbClr val="8996A0"/>
    <a:srgbClr val="BDC4C5"/>
    <a:srgbClr val="DFE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8"/>
    <p:restoredTop sz="94537"/>
  </p:normalViewPr>
  <p:slideViewPr>
    <p:cSldViewPr showGuides="1">
      <p:cViewPr varScale="1">
        <p:scale>
          <a:sx n="103" d="100"/>
          <a:sy n="103" d="100"/>
        </p:scale>
        <p:origin x="1040" y="176"/>
      </p:cViewPr>
      <p:guideLst>
        <p:guide orient="horz" pos="3884"/>
        <p:guide pos="272"/>
        <p:guide orient="horz" pos="935"/>
      </p:guideLst>
    </p:cSldViewPr>
  </p:slideViewPr>
  <p:outlineViewPr>
    <p:cViewPr>
      <p:scale>
        <a:sx n="33" d="100"/>
        <a:sy n="33" d="100"/>
      </p:scale>
      <p:origin x="0" y="-15736"/>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125" d="100"/>
          <a:sy n="125" d="100"/>
        </p:scale>
        <p:origin x="4640" y="16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Sensitivität</c:v>
                </c:pt>
              </c:strCache>
            </c:strRef>
          </c:tx>
          <c:spPr>
            <a:solidFill>
              <a:srgbClr val="4A5C66"/>
            </a:solidFill>
          </c:spPr>
          <c:cat>
            <c:strRef>
              <c:f>Sheet1!$A$2:$A$4</c:f>
              <c:strCache>
                <c:ptCount val="3"/>
                <c:pt idx="0">
                  <c:v>Schwellwert</c:v>
                </c:pt>
                <c:pt idx="1">
                  <c:v>Random Forest</c:v>
                </c:pt>
                <c:pt idx="2">
                  <c:v>1D-CNN</c:v>
                </c:pt>
              </c:strCache>
            </c:strRef>
          </c:cat>
          <c:val>
            <c:numRef>
              <c:f>Sheet1!$B$2:$B$4</c:f>
              <c:numCache>
                <c:formatCode>General</c:formatCode>
                <c:ptCount val="3"/>
                <c:pt idx="0">
                  <c:v>96.7</c:v>
                </c:pt>
                <c:pt idx="1">
                  <c:v>94.2</c:v>
                </c:pt>
                <c:pt idx="2">
                  <c:v>98.0</c:v>
                </c:pt>
              </c:numCache>
            </c:numRef>
          </c:val>
        </c:ser>
        <c:ser>
          <c:idx val="1"/>
          <c:order val="1"/>
          <c:tx>
            <c:strRef>
              <c:f>Sheet1!$C$1</c:f>
              <c:strCache>
                <c:ptCount val="1"/>
                <c:pt idx="0">
                  <c:v>Spezifität</c:v>
                </c:pt>
              </c:strCache>
            </c:strRef>
          </c:tx>
          <c:spPr>
            <a:solidFill>
              <a:srgbClr val="80BA24"/>
            </a:solidFill>
          </c:spPr>
          <c:cat>
            <c:strRef>
              <c:f>Sheet1!$A$2:$A$4</c:f>
              <c:strCache>
                <c:ptCount val="3"/>
                <c:pt idx="0">
                  <c:v>Schwellwert</c:v>
                </c:pt>
                <c:pt idx="1">
                  <c:v>Random Forest</c:v>
                </c:pt>
                <c:pt idx="2">
                  <c:v>1D-CNN</c:v>
                </c:pt>
              </c:strCache>
            </c:strRef>
          </c:cat>
          <c:val>
            <c:numRef>
              <c:f>Sheet1!$C$2:$C$4</c:f>
              <c:numCache>
                <c:formatCode>General</c:formatCode>
                <c:ptCount val="3"/>
                <c:pt idx="0">
                  <c:v>76.8</c:v>
                </c:pt>
                <c:pt idx="1">
                  <c:v>99.6</c:v>
                </c:pt>
                <c:pt idx="2">
                  <c:v>99.7</c:v>
                </c:pt>
              </c:numCache>
            </c:numRef>
          </c:val>
        </c:ser>
        <c:dLbls>
          <c:numFmt formatCode="0.0&quot;%&quot;" sourceLinked="0"/>
          <c:txPr>
            <a:bodyPr/>
            <a:lstStyle/>
            <a:p>
              <a:pPr>
                <a:defRPr sz="1100">
                  <a:solidFill>
                    <a:srgbClr val="263238"/>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110.0"/>
          <c:min val="0.0"/>
        </c:scaling>
        <c:delete val="0"/>
        <c:axPos val="l"/>
        <c:majorGridlines>
          <c:spPr>
            <a:ln>
              <a:solidFill>
                <a:srgbClr val="DDDDDD"/>
              </a:solidFill>
            </a:ln>
          </c:spPr>
        </c:majorGridlines>
        <c:numFmt formatCode="0.0&quot;%&quot;"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4A5C6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Zero-Shot</c:v>
                </c:pt>
              </c:strCache>
            </c:strRef>
          </c:tx>
          <c:spPr>
            <a:solidFill>
              <a:srgbClr val="4A5C66"/>
            </a:solidFill>
          </c:spPr>
          <c:cat>
            <c:strRef>
              <c:f>Sheet1!$A$2:$A$5</c:f>
              <c:strCache>
                <c:ptCount val="4"/>
                <c:pt idx="0">
                  <c:v>KFall
Rücken</c:v>
                </c:pt>
                <c:pt idx="1">
                  <c:v>UMAFall
Taille</c:v>
                </c:pt>
                <c:pt idx="2">
                  <c:v>UMAFall
Knöchel</c:v>
                </c:pt>
                <c:pt idx="3">
                  <c:v>FallAllD
Taille</c:v>
                </c:pt>
              </c:strCache>
            </c:strRef>
          </c:cat>
          <c:val>
            <c:numRef>
              <c:f>Sheet1!$B$2:$B$5</c:f>
              <c:numCache>
                <c:formatCode>General</c:formatCode>
                <c:ptCount val="4"/>
                <c:pt idx="0">
                  <c:v>100.0</c:v>
                </c:pt>
                <c:pt idx="1">
                  <c:v>43.8</c:v>
                </c:pt>
                <c:pt idx="2">
                  <c:v>19.4</c:v>
                </c:pt>
                <c:pt idx="3">
                  <c:v>12.7</c:v>
                </c:pt>
              </c:numCache>
            </c:numRef>
          </c:val>
        </c:ser>
        <c:ser>
          <c:idx val="1"/>
          <c:order val="1"/>
          <c:tx>
            <c:strRef>
              <c:f>Sheet1!$C$1</c:f>
              <c:strCache>
                <c:ptCount val="1"/>
                <c:pt idx="0">
                  <c:v>nach Fine-Tuning</c:v>
                </c:pt>
              </c:strCache>
            </c:strRef>
          </c:tx>
          <c:spPr>
            <a:solidFill>
              <a:srgbClr val="80BA24"/>
            </a:solidFill>
          </c:spPr>
          <c:cat>
            <c:strRef>
              <c:f>Sheet1!$A$2:$A$5</c:f>
              <c:strCache>
                <c:ptCount val="4"/>
                <c:pt idx="0">
                  <c:v>KFall
Rücken</c:v>
                </c:pt>
                <c:pt idx="1">
                  <c:v>UMAFall
Taille</c:v>
                </c:pt>
                <c:pt idx="2">
                  <c:v>UMAFall
Knöchel</c:v>
                </c:pt>
                <c:pt idx="3">
                  <c:v>FallAllD
Taille</c:v>
                </c:pt>
              </c:strCache>
            </c:strRef>
          </c:cat>
          <c:val>
            <c:numRef>
              <c:f>Sheet1!$C$2:$C$5</c:f>
              <c:numCache>
                <c:formatCode>General</c:formatCode>
                <c:ptCount val="4"/>
                <c:pt idx="0">
                  <c:v>100.0</c:v>
                </c:pt>
                <c:pt idx="1">
                  <c:v>91.7</c:v>
                </c:pt>
                <c:pt idx="2">
                  <c:v>27.8</c:v>
                </c:pt>
                <c:pt idx="3">
                  <c:v>69.8</c:v>
                </c:pt>
              </c:numCache>
            </c:numRef>
          </c:val>
        </c:ser>
        <c:dLbls>
          <c:numFmt formatCode="0&quot;%&quot;" sourceLinked="0"/>
          <c:txPr>
            <a:bodyPr/>
            <a:lstStyle/>
            <a:p>
              <a:pPr>
                <a:defRPr sz="1100">
                  <a:solidFill>
                    <a:srgbClr val="263238"/>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115.0"/>
          <c:min val="0.0"/>
        </c:scaling>
        <c:delete val="0"/>
        <c:axPos val="l"/>
        <c:majorGridlines>
          <c:spPr>
            <a:ln>
              <a:solidFill>
                <a:srgbClr val="DDDDDD"/>
              </a:solidFill>
            </a:ln>
          </c:spPr>
        </c:majorGridlines>
        <c:numFmt formatCode="0&quot;%&quot;"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4A5C6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3238"/>
                </a:solidFill>
              </a:rPr>
              <a:t>Sensitivität am Schienbein</a:t>
            </a:r>
          </a:p>
        </c:rich>
      </c:tx>
      <c:layout/>
      <c:overlay val="0"/>
    </c:title>
    <c:autoTitleDeleted val="0"/>
    <c:plotArea>
      <c:barChart>
        <c:barDir val="col"/>
        <c:grouping val="clustered"/>
        <c:ser>
          <c:idx val="0"/>
          <c:order val="0"/>
          <c:tx>
            <c:strRef>
              <c:f>Sheet1!$B$1</c:f>
              <c:strCache>
                <c:ptCount val="1"/>
                <c:pt idx="0">
                  <c:v>Se Schienbein</c:v>
                </c:pt>
              </c:strCache>
            </c:strRef>
          </c:tx>
          <c:spPr>
            <a:solidFill>
              <a:srgbClr val="80BA24"/>
            </a:solidFill>
          </c:spPr>
          <c:cat>
            <c:strRef>
              <c:f>Sheet1!$A$2:$A$6</c:f>
              <c:strCache>
                <c:ptCount val="5"/>
                <c:pt idx="0">
                  <c:v>A Basis</c:v>
                </c:pt>
                <c:pt idx="1">
                  <c:v>K +KFall</c:v>
                </c:pt>
                <c:pt idx="2">
                  <c:v>B1 +Bein</c:v>
                </c:pt>
                <c:pt idx="3">
                  <c:v>B2 +Fuß</c:v>
                </c:pt>
                <c:pt idx="4">
                  <c:v>B2r +Augm.</c:v>
                </c:pt>
              </c:strCache>
            </c:strRef>
          </c:cat>
          <c:val>
            <c:numRef>
              <c:f>Sheet1!$B$2:$B$6</c:f>
              <c:numCache>
                <c:formatCode>General</c:formatCode>
                <c:ptCount val="5"/>
                <c:pt idx="0">
                  <c:v>28.0</c:v>
                </c:pt>
                <c:pt idx="1">
                  <c:v>22.6</c:v>
                </c:pt>
                <c:pt idx="2">
                  <c:v>83.9</c:v>
                </c:pt>
                <c:pt idx="3">
                  <c:v>84.5</c:v>
                </c:pt>
                <c:pt idx="4">
                  <c:v>85.0</c:v>
                </c:pt>
              </c:numCache>
            </c:numRef>
          </c:val>
        </c:ser>
        <c:dLbls>
          <c:numFmt formatCode="0&quot;%&quot;" sourceLinked="0"/>
          <c:txPr>
            <a:bodyPr/>
            <a:lstStyle/>
            <a:p>
              <a:pPr>
                <a:defRPr sz="1100">
                  <a:solidFill>
                    <a:srgbClr val="263238"/>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spPr>
            <a:ln>
              <a:solidFill>
                <a:srgbClr val="DDDDDD"/>
              </a:solidFill>
            </a:ln>
          </c:spPr>
        </c:majorGridlines>
        <c:numFmt formatCode="0&quot;%&quot;"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5C6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3238"/>
                </a:solidFill>
              </a:rPr>
              <a:t>Fehlalarme/h an der Sohle (Smart-Insole, extern)</a:t>
            </a:r>
          </a:p>
        </c:rich>
      </c:tx>
      <c:layout/>
      <c:overlay val="0"/>
    </c:title>
    <c:autoTitleDeleted val="0"/>
    <c:plotArea>
      <c:barChart>
        <c:barDir val="col"/>
        <c:grouping val="clustered"/>
        <c:ser>
          <c:idx val="0"/>
          <c:order val="0"/>
          <c:tx>
            <c:strRef>
              <c:f>Sheet1!$B$1</c:f>
              <c:strCache>
                <c:ptCount val="1"/>
                <c:pt idx="0">
                  <c:v>FP/h Smart-Insole</c:v>
                </c:pt>
              </c:strCache>
            </c:strRef>
          </c:tx>
          <c:spPr>
            <a:solidFill>
              <a:srgbClr val="B3263E"/>
            </a:solidFill>
          </c:spPr>
          <c:cat>
            <c:strRef>
              <c:f>Sheet1!$A$2:$A$6</c:f>
              <c:strCache>
                <c:ptCount val="5"/>
                <c:pt idx="0">
                  <c:v>A Basis</c:v>
                </c:pt>
                <c:pt idx="1">
                  <c:v>K +KFall</c:v>
                </c:pt>
                <c:pt idx="2">
                  <c:v>B1 +Bein</c:v>
                </c:pt>
                <c:pt idx="3">
                  <c:v>B2 +Fuß</c:v>
                </c:pt>
                <c:pt idx="4">
                  <c:v>B2r +Augm.</c:v>
                </c:pt>
              </c:strCache>
            </c:strRef>
          </c:cat>
          <c:val>
            <c:numRef>
              <c:f>Sheet1!$B$2:$B$6</c:f>
              <c:numCache>
                <c:formatCode>General</c:formatCode>
                <c:ptCount val="5"/>
                <c:pt idx="0">
                  <c:v>290</c:v>
                </c:pt>
                <c:pt idx="1">
                  <c:v>65</c:v>
                </c:pt>
                <c:pt idx="2">
                  <c:v>508</c:v>
                </c:pt>
                <c:pt idx="3">
                  <c:v>53</c:v>
                </c:pt>
                <c:pt idx="4">
                  <c:v>18</c:v>
                </c:pt>
              </c:numCache>
            </c:numRef>
          </c:val>
        </c:ser>
        <c:dLbls>
          <c:numFmt formatCode="0" sourceLinked="0"/>
          <c:txPr>
            <a:bodyPr/>
            <a:lstStyle/>
            <a:p>
              <a:pPr>
                <a:defRPr sz="1100">
                  <a:solidFill>
                    <a:srgbClr val="263238"/>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600.0"/>
          <c:min val="0.0"/>
        </c:scaling>
        <c:delete val="0"/>
        <c:axPos val="l"/>
        <c:majorGridlines>
          <c:spPr>
            <a:ln>
              <a:solidFill>
                <a:srgbClr val="DDDDDD"/>
              </a:solidFill>
            </a:ln>
          </c:spPr>
        </c:majorGridlines>
        <c:numFmt formatCode="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A5C6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3238"/>
                </a:solidFill>
              </a:rPr>
              <a:t>Basismodell, Sensitivität</a:t>
            </a:r>
          </a:p>
        </c:rich>
      </c:tx>
      <c:layout/>
      <c:overlay val="0"/>
    </c:title>
    <c:autoTitleDeleted val="0"/>
    <c:plotArea>
      <c:barChart>
        <c:barDir val="col"/>
        <c:grouping val="clustered"/>
        <c:ser>
          <c:idx val="0"/>
          <c:order val="0"/>
          <c:tx>
            <c:strRef>
              <c:f>Sheet1!$B$1</c:f>
              <c:strCache>
                <c:ptCount val="1"/>
                <c:pt idx="0">
                  <c:v>links original</c:v>
                </c:pt>
              </c:strCache>
            </c:strRef>
          </c:tx>
          <c:spPr>
            <a:solidFill>
              <a:srgbClr val="4A5C66"/>
            </a:solidFill>
          </c:spPr>
          <c:cat>
            <c:strRef>
              <c:f>Sheet1!$A$2:$A$4</c:f>
              <c:strCache>
                <c:ptCount val="3"/>
                <c:pt idx="0">
                  <c:v>Oberarm</c:v>
                </c:pt>
                <c:pt idx="1">
                  <c:v>Handgelenk</c:v>
                </c:pt>
                <c:pt idx="2">
                  <c:v>Schienbein</c:v>
                </c:pt>
              </c:strCache>
            </c:strRef>
          </c:cat>
          <c:val>
            <c:numRef>
              <c:f>Sheet1!$B$2:$B$4</c:f>
              <c:numCache>
                <c:formatCode>General</c:formatCode>
                <c:ptCount val="3"/>
                <c:pt idx="0">
                  <c:v>6.2</c:v>
                </c:pt>
                <c:pt idx="1">
                  <c:v>9.9</c:v>
                </c:pt>
                <c:pt idx="2">
                  <c:v>16.6</c:v>
                </c:pt>
              </c:numCache>
            </c:numRef>
          </c:val>
        </c:ser>
        <c:ser>
          <c:idx val="1"/>
          <c:order val="1"/>
          <c:tx>
            <c:strRef>
              <c:f>Sheet1!$C$1</c:f>
              <c:strCache>
                <c:ptCount val="1"/>
                <c:pt idx="0">
                  <c:v>links gespiegelt</c:v>
                </c:pt>
              </c:strCache>
            </c:strRef>
          </c:tx>
          <c:spPr>
            <a:solidFill>
              <a:srgbClr val="80BA24"/>
            </a:solidFill>
          </c:spPr>
          <c:cat>
            <c:strRef>
              <c:f>Sheet1!$A$2:$A$4</c:f>
              <c:strCache>
                <c:ptCount val="3"/>
                <c:pt idx="0">
                  <c:v>Oberarm</c:v>
                </c:pt>
                <c:pt idx="1">
                  <c:v>Handgelenk</c:v>
                </c:pt>
                <c:pt idx="2">
                  <c:v>Schienbein</c:v>
                </c:pt>
              </c:strCache>
            </c:strRef>
          </c:cat>
          <c:val>
            <c:numRef>
              <c:f>Sheet1!$C$2:$C$4</c:f>
              <c:numCache>
                <c:formatCode>General</c:formatCode>
                <c:ptCount val="3"/>
                <c:pt idx="0">
                  <c:v>60.2</c:v>
                </c:pt>
                <c:pt idx="1">
                  <c:v>60.3</c:v>
                </c:pt>
                <c:pt idx="2">
                  <c:v>41.9</c:v>
                </c:pt>
              </c:numCache>
            </c:numRef>
          </c:val>
        </c:ser>
        <c:ser>
          <c:idx val="2"/>
          <c:order val="2"/>
          <c:tx>
            <c:strRef>
              <c:f>Sheet1!$D$1</c:f>
              <c:strCache>
                <c:ptCount val="1"/>
                <c:pt idx="0">
                  <c:v>rechts original</c:v>
                </c:pt>
              </c:strCache>
            </c:strRef>
          </c:tx>
          <c:spPr>
            <a:solidFill>
              <a:srgbClr val="2F6DB5"/>
            </a:solidFill>
          </c:spPr>
          <c:cat>
            <c:strRef>
              <c:f>Sheet1!$A$2:$A$4</c:f>
              <c:strCache>
                <c:ptCount val="3"/>
                <c:pt idx="0">
                  <c:v>Oberarm</c:v>
                </c:pt>
                <c:pt idx="1">
                  <c:v>Handgelenk</c:v>
                </c:pt>
                <c:pt idx="2">
                  <c:v>Schienbein</c:v>
                </c:pt>
              </c:strCache>
            </c:strRef>
          </c:cat>
          <c:val>
            <c:numRef>
              <c:f>Sheet1!$D$2:$D$4</c:f>
              <c:numCache>
                <c:formatCode>General</c:formatCode>
                <c:ptCount val="3"/>
                <c:pt idx="0">
                  <c:v>54.6</c:v>
                </c:pt>
                <c:pt idx="1">
                  <c:v>51.8</c:v>
                </c:pt>
                <c:pt idx="2">
                  <c:v>39.5</c:v>
                </c:pt>
              </c:numCache>
            </c:numRef>
          </c:val>
        </c:ser>
        <c:dLbls>
          <c:numFmt formatCode="0&quot;%&quot;" sourceLinked="0"/>
          <c:txPr>
            <a:bodyPr/>
            <a:lstStyle/>
            <a:p>
              <a:pPr>
                <a:defRPr sz="1100">
                  <a:solidFill>
                    <a:srgbClr val="263238"/>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200"/>
            </a:pPr>
          </a:p>
        </c:txPr>
        <c:crossAx val="-2113994440"/>
        <c:crosses val="autoZero"/>
        <c:auto val="1"/>
        <c:lblAlgn val="ctr"/>
        <c:lblOffset val="100"/>
        <c:noMultiLvlLbl val="0"/>
      </c:catAx>
      <c:valAx>
        <c:axId val="-2113994440"/>
        <c:scaling>
          <c:max val="75.0"/>
          <c:min val="0.0"/>
        </c:scaling>
        <c:delete val="0"/>
        <c:axPos val="l"/>
        <c:majorGridlines>
          <c:spPr>
            <a:ln>
              <a:solidFill>
                <a:srgbClr val="DDDDDD"/>
              </a:solidFill>
            </a:ln>
          </c:spPr>
        </c:majorGridlines>
        <c:numFmt formatCode="0&quot;%&quot;"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4A5C66"/>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37549A58-65A2-1C4E-BD33-6061F52BCE58}" type="datetimeFigureOut">
              <a:rPr lang="de-DE" altLang="de-DE"/>
              <a:pPr>
                <a:defRPr/>
              </a:pPr>
              <a:t>01.09.20</a:t>
            </a:fld>
            <a:endParaRPr lang="de-DE" alt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A2CBF72-E928-E147-A1D9-782F6DF0FEAB}" type="slidenum">
              <a:rPr lang="de-DE" altLang="de-DE"/>
              <a:pPr>
                <a:defRPr/>
              </a:pPr>
              <a:t>‹Nr.›</a:t>
            </a:fld>
            <a:endParaRPr lang="de-DE" altLang="de-DE"/>
          </a:p>
        </p:txBody>
      </p:sp>
    </p:spTree>
    <p:extLst>
      <p:ext uri="{BB962C8B-B14F-4D97-AF65-F5344CB8AC3E}">
        <p14:creationId xmlns:p14="http://schemas.microsoft.com/office/powerpoint/2010/main" val="211665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de-DE"/>
          </a:p>
        </p:txBody>
      </p:sp>
      <p:sp>
        <p:nvSpPr>
          <p:cNvPr id="2048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8B8FA84D-43F1-B541-9232-7D50279E8043}" type="datetimeFigureOut">
              <a:rPr lang="de-DE" altLang="de-DE"/>
              <a:pPr>
                <a:defRPr/>
              </a:pPr>
              <a:t>01.09.20</a:t>
            </a:fld>
            <a:endParaRPr lang="de-DE" altLang="de-DE"/>
          </a:p>
        </p:txBody>
      </p:sp>
      <p:sp>
        <p:nvSpPr>
          <p:cNvPr id="1741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de-DE" altLang="de-DE" noProof="0"/>
              <a:t>Textmasterformate durch Klicken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2048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de-DE"/>
          </a:p>
        </p:txBody>
      </p:sp>
      <p:sp>
        <p:nvSpPr>
          <p:cNvPr id="2048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79F7848-E2AA-B947-8B0B-A0FBC6F783BE}" type="slidenum">
              <a:rPr lang="de-DE" altLang="de-DE"/>
              <a:pPr>
                <a:defRPr/>
              </a:pPr>
              <a:t>‹Nr.›</a:t>
            </a:fld>
            <a:endParaRPr lang="de-DE" altLang="de-DE"/>
          </a:p>
        </p:txBody>
      </p:sp>
    </p:spTree>
    <p:extLst>
      <p:ext uri="{BB962C8B-B14F-4D97-AF65-F5344CB8AC3E}">
        <p14:creationId xmlns:p14="http://schemas.microsoft.com/office/powerpoint/2010/main" val="9060364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Thema: Sturzerkennung, die vollständig in einer Schuhsohle auf einem Mikrocontroller läuft. Partner Clever-Sole entwickelt die Sohle, ich habe die Erkennung untersucht und prototypisch umgesetzt.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meisten Datensätze messen an Hüfte oder Handgelenk. Für die Sohle gibt es keinen Sturzdatensatz. Daraus ergibt sich die Leitfrage des Projekts.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 das Gyroskop senkt vor allem Fehlalarme. Magnetometer lohnt nicht, da Stürze kurz sind und Magnetfelder in Innenräumen gestört werden. Eigene Ablation: an der Hüfte kaum Unterschied, weil nahe 100 %.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Stürze gibt es an Rumpf, Arm, Schienbein und Knöchel. An der Sohle nur Alltagsdaten. Das Modell muss also Stürze vom Bein und Alltag vom Fuß kombinieren.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Eigene Logger-Firmware, damit Daten der Zielhardware entstehen. Knöchel: USB-C oben. Sohle: IMU-Modul flach, Chip oben, X-Pfeil zu den Zehen; die Firmware kalibriert die genaue Lage selbst. Sohlenaufnahmen waren unvollständig und werden nicht ausgewertet.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gesamte Kette läuft auf dem ESP32-C6. Neu: Die Firmware bestimmt die Einbaulage nach jedem Aufwachen selbst (Schwerkraft im Stand = oben, Hauptdrehachse beim Gehen = quer, Schwungphase = vorn) und dreht die Daten in den Trainingsrahmen, da das CNN die Achsen einzeln auswertet. Nach einem Alarm meldet sie die Liegelage als Sturzrichtung.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Stürze sind selten. Mit einer einzigen Aufteilung kippen Ergebnisse. Deshalb fünffach und gepaart. Genauigkeit ist bei seltenen Stürzen wenig aussagekräftig, daher Sensitivität und Fehlalarme je Stunde.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Subjektunabhängiger Test auf 10 Probanden. Das CNN ist am Rumpf praktisch an der Obergrenze.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KFall überträgt ohne Anpassung. FallAllD scheitert trotz hoher Abtastrate. Clipping-Kontrolle schließt den Messbereich aus. Die spätere Erkenntnis zur Orientierung bietet eine einfachere Erklärung.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Jeder Fersenaufsatz sieht für das Rumpfmodell wie ein Aufprall aus. Voting wirkt nur, wenn das Modell um den Aufprall einen zusammenhängenden Block positiver Fenster liefert.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CAPPIMU misst dieselben Stürze gleichzeitig an neun Positionen. Statt einer fallenden Kurve sieht man einen Seitenunterschied. Am Fuß sind Alltagsspitzen höher als Sturzspitzen.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Sturzdaten vom Bein heben die Sensitivität um 61 Prozentpunkte. Ohne Fußdaten explodieren die Fehlalarme, weil jeder Fersenaufsatz wie ein Beinimpuls aussieht. ImbalanSense behebt das ohne Sensitivitätsverlust.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CNN wertet die Achsen einzeln aus. Gespiegelt erreicht die linke Seite die Werte der rechten. An der eigenen Hüfte reicht eine feste Drehung in den SisFall-Rahmen, ermittelt aus Schwerkraft und Liegelage. Die Augmentierung kostet nichts und macht das Modell robuster.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Knöchel erkennen die Beinmodelle fast alle Stürze, obwohl sie weder Hardware noch Person kannten. Die Liegelage zeigte, dass der linke Sensor 180 Grad gedreht war. Einfache Kennwerte sind ein guter Bestätiger.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Zusammenfassung der Hypothesen. Wichtig: Mehrere naheliegende Annahmen haben sich als falsch erwiesen.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Kernaussagen und nächste Schritte. Das Modell an der Sohle selbst ist noch nicht validiert.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8.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HM-Titelfoli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2892CBC1-0AA5-FD49-A6CF-7BC19D8FDA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760"/>
            <a:ext cx="12192000" cy="5173133"/>
          </a:xfrm>
          <a:prstGeom prst="rect">
            <a:avLst/>
          </a:prstGeom>
        </p:spPr>
      </p:pic>
      <p:sp>
        <p:nvSpPr>
          <p:cNvPr id="10" name="Rectangle 6">
            <a:extLst>
              <a:ext uri="{FF2B5EF4-FFF2-40B4-BE49-F238E27FC236}">
                <a16:creationId xmlns:a16="http://schemas.microsoft.com/office/drawing/2014/main" id="{A827390B-A86E-434B-90D4-3438340D1554}"/>
              </a:ext>
            </a:extLst>
          </p:cNvPr>
          <p:cNvSpPr>
            <a:spLocks noChangeArrowheads="1"/>
          </p:cNvSpPr>
          <p:nvPr userDrawn="1"/>
        </p:nvSpPr>
        <p:spPr bwMode="auto">
          <a:xfrm>
            <a:off x="8544293"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dirty="0">
              <a:cs typeface="Arial" pitchFamily="34" charset="0"/>
            </a:endParaRPr>
          </a:p>
        </p:txBody>
      </p:sp>
      <p:sp>
        <p:nvSpPr>
          <p:cNvPr id="11" name="Textplatzhalter 9">
            <a:extLst>
              <a:ext uri="{FF2B5EF4-FFF2-40B4-BE49-F238E27FC236}">
                <a16:creationId xmlns:a16="http://schemas.microsoft.com/office/drawing/2014/main" id="{13903DC0-149E-A447-909C-1CDEC9D4222F}"/>
              </a:ext>
            </a:extLst>
          </p:cNvPr>
          <p:cNvSpPr>
            <a:spLocks noGrp="1"/>
          </p:cNvSpPr>
          <p:nvPr>
            <p:ph type="body" sz="quarter" idx="10" hasCustomPrompt="1"/>
          </p:nvPr>
        </p:nvSpPr>
        <p:spPr>
          <a:xfrm>
            <a:off x="8760296" y="3789040"/>
            <a:ext cx="3168351" cy="2231801"/>
          </a:xfrm>
        </p:spPr>
        <p:txBody>
          <a:bodyPr anchor="b"/>
          <a:lstStyle>
            <a:lvl1pPr marL="0" indent="0">
              <a:lnSpc>
                <a:spcPct val="150000"/>
              </a:lnSpc>
              <a:buNone/>
              <a:defRPr sz="2200" b="1"/>
            </a:lvl1pPr>
          </a:lstStyle>
          <a:p>
            <a:pPr lvl="0"/>
            <a:r>
              <a:rPr lang="de-DE" dirty="0"/>
              <a:t>ÜBERSCHRIFT</a:t>
            </a:r>
          </a:p>
        </p:txBody>
      </p:sp>
      <p:sp>
        <p:nvSpPr>
          <p:cNvPr id="12" name="Rectangle 5">
            <a:extLst>
              <a:ext uri="{FF2B5EF4-FFF2-40B4-BE49-F238E27FC236}">
                <a16:creationId xmlns:a16="http://schemas.microsoft.com/office/drawing/2014/main" id="{CB4F93A7-5B61-D941-9FC9-6DB6CDC6EF0E}"/>
              </a:ext>
            </a:extLst>
          </p:cNvPr>
          <p:cNvSpPr>
            <a:spLocks noChangeArrowheads="1"/>
          </p:cNvSpPr>
          <p:nvPr userDrawn="1"/>
        </p:nvSpPr>
        <p:spPr bwMode="auto">
          <a:xfrm>
            <a:off x="9768408" y="6497638"/>
            <a:ext cx="2419360"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Tree>
    <p:extLst>
      <p:ext uri="{BB962C8B-B14F-4D97-AF65-F5344CB8AC3E}">
        <p14:creationId xmlns:p14="http://schemas.microsoft.com/office/powerpoint/2010/main" val="15263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HM-Titelfolie">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6EBF173-6194-1449-A8B7-B55867141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760"/>
            <a:ext cx="12192000" cy="5173133"/>
          </a:xfrm>
          <a:prstGeom prst="rect">
            <a:avLst/>
          </a:prstGeom>
        </p:spPr>
      </p:pic>
      <p:sp>
        <p:nvSpPr>
          <p:cNvPr id="10" name="Rectangle 6">
            <a:extLst>
              <a:ext uri="{FF2B5EF4-FFF2-40B4-BE49-F238E27FC236}">
                <a16:creationId xmlns:a16="http://schemas.microsoft.com/office/drawing/2014/main" id="{A827390B-A86E-434B-90D4-3438340D1554}"/>
              </a:ext>
            </a:extLst>
          </p:cNvPr>
          <p:cNvSpPr>
            <a:spLocks noChangeArrowheads="1"/>
          </p:cNvSpPr>
          <p:nvPr userDrawn="1"/>
        </p:nvSpPr>
        <p:spPr bwMode="auto">
          <a:xfrm>
            <a:off x="8544293"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dirty="0">
              <a:cs typeface="Arial" pitchFamily="34" charset="0"/>
            </a:endParaRPr>
          </a:p>
        </p:txBody>
      </p:sp>
      <p:sp>
        <p:nvSpPr>
          <p:cNvPr id="11" name="Textplatzhalter 9">
            <a:extLst>
              <a:ext uri="{FF2B5EF4-FFF2-40B4-BE49-F238E27FC236}">
                <a16:creationId xmlns:a16="http://schemas.microsoft.com/office/drawing/2014/main" id="{13903DC0-149E-A447-909C-1CDEC9D4222F}"/>
              </a:ext>
            </a:extLst>
          </p:cNvPr>
          <p:cNvSpPr>
            <a:spLocks noGrp="1"/>
          </p:cNvSpPr>
          <p:nvPr>
            <p:ph type="body" sz="quarter" idx="10" hasCustomPrompt="1"/>
          </p:nvPr>
        </p:nvSpPr>
        <p:spPr>
          <a:xfrm>
            <a:off x="8760296" y="3789040"/>
            <a:ext cx="3168351" cy="2231801"/>
          </a:xfrm>
        </p:spPr>
        <p:txBody>
          <a:bodyPr anchor="b"/>
          <a:lstStyle>
            <a:lvl1pPr marL="0" indent="0">
              <a:lnSpc>
                <a:spcPct val="150000"/>
              </a:lnSpc>
              <a:buNone/>
              <a:defRPr sz="2200" b="1"/>
            </a:lvl1pPr>
          </a:lstStyle>
          <a:p>
            <a:pPr lvl="0"/>
            <a:r>
              <a:rPr lang="de-DE" dirty="0"/>
              <a:t>ÜBERSCHRIFT</a:t>
            </a:r>
          </a:p>
        </p:txBody>
      </p:sp>
      <p:sp>
        <p:nvSpPr>
          <p:cNvPr id="7" name="Rectangle 5">
            <a:extLst>
              <a:ext uri="{FF2B5EF4-FFF2-40B4-BE49-F238E27FC236}">
                <a16:creationId xmlns:a16="http://schemas.microsoft.com/office/drawing/2014/main" id="{9E426BC6-EC8D-2B49-804D-49B49D31458C}"/>
              </a:ext>
            </a:extLst>
          </p:cNvPr>
          <p:cNvSpPr>
            <a:spLocks noChangeArrowheads="1"/>
          </p:cNvSpPr>
          <p:nvPr userDrawn="1"/>
        </p:nvSpPr>
        <p:spPr bwMode="auto">
          <a:xfrm>
            <a:off x="9768408" y="6497638"/>
            <a:ext cx="2419360"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Tree>
    <p:extLst>
      <p:ext uri="{BB962C8B-B14F-4D97-AF65-F5344CB8AC3E}">
        <p14:creationId xmlns:p14="http://schemas.microsoft.com/office/powerpoint/2010/main" val="4220661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HM-Titelfolie">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A692ADC8-598A-EC43-8E74-629C6533D2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760"/>
            <a:ext cx="12192000" cy="5169690"/>
          </a:xfrm>
          <a:prstGeom prst="rect">
            <a:avLst/>
          </a:prstGeom>
        </p:spPr>
      </p:pic>
      <p:sp>
        <p:nvSpPr>
          <p:cNvPr id="8" name="Rectangle 6"/>
          <p:cNvSpPr>
            <a:spLocks noChangeArrowheads="1"/>
          </p:cNvSpPr>
          <p:nvPr userDrawn="1"/>
        </p:nvSpPr>
        <p:spPr bwMode="auto">
          <a:xfrm>
            <a:off x="8544293"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dirty="0">
              <a:cs typeface="Arial" pitchFamily="34" charset="0"/>
            </a:endParaRPr>
          </a:p>
        </p:txBody>
      </p:sp>
      <p:sp>
        <p:nvSpPr>
          <p:cNvPr id="10" name="Textplatzhalter 9"/>
          <p:cNvSpPr>
            <a:spLocks noGrp="1"/>
          </p:cNvSpPr>
          <p:nvPr>
            <p:ph type="body" sz="quarter" idx="10" hasCustomPrompt="1"/>
          </p:nvPr>
        </p:nvSpPr>
        <p:spPr>
          <a:xfrm>
            <a:off x="8760296" y="3789040"/>
            <a:ext cx="3168351" cy="2231801"/>
          </a:xfrm>
        </p:spPr>
        <p:txBody>
          <a:bodyPr anchor="b"/>
          <a:lstStyle>
            <a:lvl1pPr marL="0" indent="0">
              <a:lnSpc>
                <a:spcPct val="150000"/>
              </a:lnSpc>
              <a:buNone/>
              <a:defRPr sz="2200" b="1"/>
            </a:lvl1pPr>
          </a:lstStyle>
          <a:p>
            <a:pPr lvl="0"/>
            <a:r>
              <a:rPr lang="de-DE" dirty="0"/>
              <a:t>ÜBERSCHRIFT</a:t>
            </a:r>
          </a:p>
        </p:txBody>
      </p:sp>
      <p:sp>
        <p:nvSpPr>
          <p:cNvPr id="20" name="Rectangle 5">
            <a:extLst>
              <a:ext uri="{FF2B5EF4-FFF2-40B4-BE49-F238E27FC236}">
                <a16:creationId xmlns:a16="http://schemas.microsoft.com/office/drawing/2014/main" id="{69576794-5162-6048-BCAD-629826D7D57A}"/>
              </a:ext>
            </a:extLst>
          </p:cNvPr>
          <p:cNvSpPr>
            <a:spLocks noChangeArrowheads="1"/>
          </p:cNvSpPr>
          <p:nvPr userDrawn="1"/>
        </p:nvSpPr>
        <p:spPr bwMode="auto">
          <a:xfrm>
            <a:off x="9768408" y="6497638"/>
            <a:ext cx="2419360"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Tree>
    <p:extLst>
      <p:ext uri="{BB962C8B-B14F-4D97-AF65-F5344CB8AC3E}">
        <p14:creationId xmlns:p14="http://schemas.microsoft.com/office/powerpoint/2010/main" val="110051938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79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Fachbereich oder Institut">
    <p:spTree>
      <p:nvGrpSpPr>
        <p:cNvPr id="1" name=""/>
        <p:cNvGrpSpPr/>
        <p:nvPr/>
      </p:nvGrpSpPr>
      <p:grpSpPr>
        <a:xfrm>
          <a:off x="0" y="0"/>
          <a:ext cx="0" cy="0"/>
          <a:chOff x="0" y="0"/>
          <a:chExt cx="0" cy="0"/>
        </a:xfrm>
      </p:grpSpPr>
      <p:pic>
        <p:nvPicPr>
          <p:cNvPr id="7" name="Grafik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66825"/>
            <a:ext cx="121920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userDrawn="1"/>
        </p:nvSpPr>
        <p:spPr bwMode="auto">
          <a:xfrm>
            <a:off x="8639787"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5040131"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Textplatzhalter 9"/>
          <p:cNvSpPr>
            <a:spLocks noGrp="1"/>
          </p:cNvSpPr>
          <p:nvPr>
            <p:ph type="body" sz="quarter" idx="10" hasCustomPrompt="1"/>
          </p:nvPr>
        </p:nvSpPr>
        <p:spPr>
          <a:xfrm>
            <a:off x="8867542" y="2996952"/>
            <a:ext cx="2845083" cy="720080"/>
          </a:xfrm>
        </p:spPr>
        <p:txBody>
          <a:bodyPr tIns="0" rIns="0" bIns="0" anchor="t"/>
          <a:lstStyle>
            <a:lvl1pPr marL="0" indent="0">
              <a:lnSpc>
                <a:spcPct val="150000"/>
              </a:lnSpc>
              <a:buNone/>
              <a:defRPr sz="2200" b="1"/>
            </a:lvl1pPr>
          </a:lstStyle>
          <a:p>
            <a:pPr lvl="0"/>
            <a:r>
              <a:rPr lang="de-DE" dirty="0"/>
              <a:t>ÜBERSCHRIFT</a:t>
            </a:r>
          </a:p>
        </p:txBody>
      </p:sp>
      <p:sp>
        <p:nvSpPr>
          <p:cNvPr id="11" name="Textplatzhalter 9"/>
          <p:cNvSpPr>
            <a:spLocks noGrp="1"/>
          </p:cNvSpPr>
          <p:nvPr>
            <p:ph type="body" sz="quarter" idx="11" hasCustomPrompt="1"/>
          </p:nvPr>
        </p:nvSpPr>
        <p:spPr>
          <a:xfrm>
            <a:off x="5303319" y="3717032"/>
            <a:ext cx="2736897" cy="2231801"/>
          </a:xfrm>
        </p:spPr>
        <p:txBody>
          <a:bodyPr anchor="b"/>
          <a:lstStyle>
            <a:lvl1pPr marL="0" indent="0">
              <a:lnSpc>
                <a:spcPct val="150000"/>
              </a:lnSpc>
              <a:buNone/>
              <a:defRPr sz="2200" b="1"/>
            </a:lvl1pPr>
          </a:lstStyle>
          <a:p>
            <a:pPr lvl="0"/>
            <a:r>
              <a:rPr lang="de-DE" dirty="0"/>
              <a:t>ÜBERSCHRIFT</a:t>
            </a:r>
          </a:p>
        </p:txBody>
      </p:sp>
      <p:sp>
        <p:nvSpPr>
          <p:cNvPr id="14" name="Textplatzhalter 13"/>
          <p:cNvSpPr>
            <a:spLocks noGrp="1"/>
          </p:cNvSpPr>
          <p:nvPr>
            <p:ph type="body" sz="quarter" idx="12"/>
          </p:nvPr>
        </p:nvSpPr>
        <p:spPr>
          <a:xfrm>
            <a:off x="8867243" y="3574926"/>
            <a:ext cx="2845382" cy="1800225"/>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de-DE" dirty="0"/>
              <a:t>Mastertextformat</a:t>
            </a:r>
          </a:p>
        </p:txBody>
      </p:sp>
      <p:pic>
        <p:nvPicPr>
          <p:cNvPr id="3" name="Grafik 2">
            <a:extLst>
              <a:ext uri="{FF2B5EF4-FFF2-40B4-BE49-F238E27FC236}">
                <a16:creationId xmlns:a16="http://schemas.microsoft.com/office/drawing/2014/main" id="{D1A4DEDB-1913-094B-A031-F2D1C477CD31}"/>
              </a:ext>
            </a:extLst>
          </p:cNvPr>
          <p:cNvPicPr>
            <a:picLocks noChangeAspect="1"/>
          </p:cNvPicPr>
          <p:nvPr userDrawn="1"/>
        </p:nvPicPr>
        <p:blipFill>
          <a:blip r:embed="rId3"/>
          <a:stretch>
            <a:fillRect/>
          </a:stretch>
        </p:blipFill>
        <p:spPr>
          <a:xfrm>
            <a:off x="9766300" y="6502400"/>
            <a:ext cx="2425700" cy="355600"/>
          </a:xfrm>
          <a:prstGeom prst="rect">
            <a:avLst/>
          </a:prstGeom>
        </p:spPr>
      </p:pic>
    </p:spTree>
    <p:extLst>
      <p:ext uri="{BB962C8B-B14F-4D97-AF65-F5344CB8AC3E}">
        <p14:creationId xmlns:p14="http://schemas.microsoft.com/office/powerpoint/2010/main" val="1245626021"/>
      </p:ext>
    </p:extLst>
  </p:cSld>
  <p:clrMapOvr>
    <a:masterClrMapping/>
  </p:clrMapOvr>
  <p:extLst>
    <p:ext uri="{DCECCB84-F9BA-43D5-87BE-67443E8EF086}">
      <p15:sldGuideLst xmlns:p15="http://schemas.microsoft.com/office/powerpoint/2012/main">
        <p15:guide id="1" orient="horz" pos="79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
        <p:nvSpPr>
          <p:cNvPr id="5" name="Titel 2"/>
          <p:cNvSpPr>
            <a:spLocks noGrp="1"/>
          </p:cNvSpPr>
          <p:nvPr>
            <p:ph type="title"/>
          </p:nvPr>
        </p:nvSpPr>
        <p:spPr>
          <a:xfrm>
            <a:off x="4320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7" name="Textplatzhalter 7"/>
          <p:cNvSpPr>
            <a:spLocks noGrp="1"/>
          </p:cNvSpPr>
          <p:nvPr>
            <p:ph type="body" sz="quarter" idx="11"/>
          </p:nvPr>
        </p:nvSpPr>
        <p:spPr>
          <a:xfrm>
            <a:off x="432001" y="1620000"/>
            <a:ext cx="11232619" cy="4617288"/>
          </a:xfrm>
        </p:spPr>
        <p:txBody>
          <a:bodyPr lIns="0"/>
          <a:lstStyle>
            <a:lvl1pPr marL="0" indent="0">
              <a:buNone/>
              <a:defRPr sz="1800"/>
            </a:lvl1pPr>
          </a:lstStyle>
          <a:p>
            <a:pPr lvl="0"/>
            <a:r>
              <a:rPr lang="de-DE" dirty="0"/>
              <a:t>Mastertextformat bearbeiten</a:t>
            </a:r>
          </a:p>
        </p:txBody>
      </p:sp>
    </p:spTree>
    <p:extLst>
      <p:ext uri="{BB962C8B-B14F-4D97-AF65-F5344CB8AC3E}">
        <p14:creationId xmlns:p14="http://schemas.microsoft.com/office/powerpoint/2010/main" val="1939881767"/>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xtfolie">
    <p:spTree>
      <p:nvGrpSpPr>
        <p:cNvPr id="1" name=""/>
        <p:cNvGrpSpPr/>
        <p:nvPr/>
      </p:nvGrpSpPr>
      <p:grpSpPr>
        <a:xfrm>
          <a:off x="0" y="0"/>
          <a:ext cx="0" cy="0"/>
          <a:chOff x="0" y="0"/>
          <a:chExt cx="0" cy="0"/>
        </a:xfrm>
      </p:grpSpPr>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
        <p:nvSpPr>
          <p:cNvPr id="5" name="Titel 2"/>
          <p:cNvSpPr>
            <a:spLocks noGrp="1"/>
          </p:cNvSpPr>
          <p:nvPr>
            <p:ph type="title"/>
          </p:nvPr>
        </p:nvSpPr>
        <p:spPr>
          <a:xfrm>
            <a:off x="4320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7" name="Textplatzhalter 7"/>
          <p:cNvSpPr>
            <a:spLocks noGrp="1"/>
          </p:cNvSpPr>
          <p:nvPr>
            <p:ph type="body" sz="quarter" idx="11"/>
          </p:nvPr>
        </p:nvSpPr>
        <p:spPr>
          <a:xfrm>
            <a:off x="432001" y="1620000"/>
            <a:ext cx="11232619" cy="1736992"/>
          </a:xfrm>
        </p:spPr>
        <p:txBody>
          <a:bodyPr lIns="0"/>
          <a:lstStyle>
            <a:lvl1pPr marL="0" indent="0">
              <a:buNone/>
              <a:defRPr sz="1800"/>
            </a:lvl1pPr>
          </a:lstStyle>
          <a:p>
            <a:pPr lvl="0"/>
            <a:r>
              <a:rPr lang="de-DE" dirty="0"/>
              <a:t>Mastertextformat bearbeiten</a:t>
            </a:r>
          </a:p>
        </p:txBody>
      </p:sp>
      <p:sp>
        <p:nvSpPr>
          <p:cNvPr id="8" name="Rectangle 7"/>
          <p:cNvSpPr>
            <a:spLocks noChangeArrowheads="1"/>
          </p:cNvSpPr>
          <p:nvPr userDrawn="1"/>
        </p:nvSpPr>
        <p:spPr bwMode="auto">
          <a:xfrm>
            <a:off x="432000" y="3068960"/>
            <a:ext cx="3551765" cy="3168328"/>
          </a:xfrm>
          <a:prstGeom prst="rect">
            <a:avLst/>
          </a:prstGeom>
          <a:solidFill>
            <a:srgbClr val="80BA24"/>
          </a:solidFill>
          <a:ln w="6350">
            <a:no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7"/>
          <p:cNvSpPr>
            <a:spLocks noChangeArrowheads="1"/>
          </p:cNvSpPr>
          <p:nvPr userDrawn="1"/>
        </p:nvSpPr>
        <p:spPr bwMode="auto">
          <a:xfrm>
            <a:off x="4270576" y="3068960"/>
            <a:ext cx="3551765" cy="3168328"/>
          </a:xfrm>
          <a:prstGeom prst="rect">
            <a:avLst/>
          </a:prstGeom>
          <a:solidFill>
            <a:srgbClr val="80BA24"/>
          </a:solidFill>
          <a:ln w="6350">
            <a:no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7"/>
          <p:cNvSpPr>
            <a:spLocks noChangeArrowheads="1"/>
          </p:cNvSpPr>
          <p:nvPr userDrawn="1"/>
        </p:nvSpPr>
        <p:spPr bwMode="auto">
          <a:xfrm>
            <a:off x="8112000" y="3068960"/>
            <a:ext cx="3551765" cy="3168328"/>
          </a:xfrm>
          <a:prstGeom prst="rect">
            <a:avLst/>
          </a:prstGeom>
          <a:solidFill>
            <a:srgbClr val="80BA24"/>
          </a:solidFill>
          <a:ln w="6350">
            <a:no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Textplatzhalter 11"/>
          <p:cNvSpPr>
            <a:spLocks noGrp="1"/>
          </p:cNvSpPr>
          <p:nvPr>
            <p:ph type="body" sz="quarter" idx="12" hasCustomPrompt="1"/>
          </p:nvPr>
        </p:nvSpPr>
        <p:spPr>
          <a:xfrm>
            <a:off x="566640" y="3212976"/>
            <a:ext cx="2880320" cy="768596"/>
          </a:xfrm>
        </p:spPr>
        <p:txBody>
          <a:bodyPr lIns="90000" rIns="90000"/>
          <a:lstStyle>
            <a:lvl1pPr marL="0" indent="0">
              <a:buNone/>
              <a:defRPr sz="2400" b="1">
                <a:solidFill>
                  <a:schemeClr val="bg1"/>
                </a:solidFill>
              </a:defRPr>
            </a:lvl1pPr>
          </a:lstStyle>
          <a:p>
            <a:pPr lvl="0"/>
            <a:r>
              <a:rPr lang="de-DE" sz="2400" dirty="0"/>
              <a:t>Text</a:t>
            </a:r>
            <a:endParaRPr lang="de-DE" dirty="0"/>
          </a:p>
        </p:txBody>
      </p:sp>
      <p:sp>
        <p:nvSpPr>
          <p:cNvPr id="14" name="Textplatzhalter 11"/>
          <p:cNvSpPr>
            <a:spLocks noGrp="1"/>
          </p:cNvSpPr>
          <p:nvPr>
            <p:ph type="body" sz="quarter" idx="13" hasCustomPrompt="1"/>
          </p:nvPr>
        </p:nvSpPr>
        <p:spPr>
          <a:xfrm>
            <a:off x="4416240" y="3212976"/>
            <a:ext cx="2880320" cy="768596"/>
          </a:xfrm>
        </p:spPr>
        <p:txBody>
          <a:bodyPr lIns="90000" rIns="90000"/>
          <a:lstStyle>
            <a:lvl1pPr marL="0" indent="0">
              <a:buNone/>
              <a:defRPr sz="2400" b="1">
                <a:solidFill>
                  <a:schemeClr val="bg1"/>
                </a:solidFill>
              </a:defRPr>
            </a:lvl1pPr>
          </a:lstStyle>
          <a:p>
            <a:pPr lvl="0"/>
            <a:r>
              <a:rPr lang="de-DE" sz="2400" dirty="0"/>
              <a:t>Text</a:t>
            </a:r>
            <a:endParaRPr lang="de-DE" dirty="0"/>
          </a:p>
        </p:txBody>
      </p:sp>
      <p:sp>
        <p:nvSpPr>
          <p:cNvPr id="15" name="Textplatzhalter 11"/>
          <p:cNvSpPr>
            <a:spLocks noGrp="1"/>
          </p:cNvSpPr>
          <p:nvPr>
            <p:ph type="body" sz="quarter" idx="14" hasCustomPrompt="1"/>
          </p:nvPr>
        </p:nvSpPr>
        <p:spPr>
          <a:xfrm>
            <a:off x="8256240" y="3214316"/>
            <a:ext cx="2880320" cy="768596"/>
          </a:xfrm>
        </p:spPr>
        <p:txBody>
          <a:bodyPr lIns="90000" rIns="90000"/>
          <a:lstStyle>
            <a:lvl1pPr marL="0" indent="0">
              <a:buNone/>
              <a:defRPr sz="2400" b="1">
                <a:solidFill>
                  <a:schemeClr val="bg1"/>
                </a:solidFill>
              </a:defRPr>
            </a:lvl1pPr>
          </a:lstStyle>
          <a:p>
            <a:pPr lvl="0"/>
            <a:r>
              <a:rPr lang="de-DE" sz="2400" dirty="0"/>
              <a:t>Text</a:t>
            </a:r>
            <a:endParaRPr lang="de-DE" dirty="0"/>
          </a:p>
        </p:txBody>
      </p:sp>
    </p:spTree>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folie mit Bilder">
    <p:spTree>
      <p:nvGrpSpPr>
        <p:cNvPr id="1" name=""/>
        <p:cNvGrpSpPr/>
        <p:nvPr/>
      </p:nvGrpSpPr>
      <p:grpSpPr>
        <a:xfrm>
          <a:off x="0" y="0"/>
          <a:ext cx="0" cy="0"/>
          <a:chOff x="0" y="0"/>
          <a:chExt cx="0" cy="0"/>
        </a:xfrm>
      </p:grpSpPr>
      <p:sp>
        <p:nvSpPr>
          <p:cNvPr id="14" name="Bildplatzhalter 6"/>
          <p:cNvSpPr>
            <a:spLocks noGrp="1"/>
          </p:cNvSpPr>
          <p:nvPr>
            <p:ph type="pic" sz="quarter" idx="17"/>
          </p:nvPr>
        </p:nvSpPr>
        <p:spPr>
          <a:xfrm>
            <a:off x="8125885" y="1700808"/>
            <a:ext cx="3526167" cy="4536480"/>
          </a:xfrm>
        </p:spPr>
        <p:txBody>
          <a:bodyPr/>
          <a:lstStyle>
            <a:lvl1pPr marL="0" indent="0">
              <a:buFontTx/>
              <a:buNone/>
              <a:defRPr/>
            </a:lvl1pPr>
          </a:lstStyle>
          <a:p>
            <a:endParaRPr lang="de-DE" dirty="0"/>
          </a:p>
        </p:txBody>
      </p:sp>
      <p:sp>
        <p:nvSpPr>
          <p:cNvPr id="7" name="Bildplatzhalter 6"/>
          <p:cNvSpPr>
            <a:spLocks noGrp="1"/>
          </p:cNvSpPr>
          <p:nvPr>
            <p:ph type="pic" sz="quarter" idx="15"/>
          </p:nvPr>
        </p:nvSpPr>
        <p:spPr>
          <a:xfrm>
            <a:off x="432001" y="1700808"/>
            <a:ext cx="3526167" cy="4536480"/>
          </a:xfrm>
        </p:spPr>
        <p:txBody>
          <a:bodyPr/>
          <a:lstStyle>
            <a:lvl1pPr marL="0" indent="0">
              <a:buFontTx/>
              <a:buNone/>
              <a:defRPr/>
            </a:lvl1pPr>
          </a:lstStyle>
          <a:p>
            <a:endParaRPr lang="de-DE" dirty="0"/>
          </a:p>
        </p:txBody>
      </p:sp>
      <p:sp>
        <p:nvSpPr>
          <p:cNvPr id="13" name="Bildplatzhalter 6"/>
          <p:cNvSpPr>
            <a:spLocks noGrp="1"/>
          </p:cNvSpPr>
          <p:nvPr>
            <p:ph type="pic" sz="quarter" idx="16"/>
          </p:nvPr>
        </p:nvSpPr>
        <p:spPr>
          <a:xfrm>
            <a:off x="4271798" y="1700214"/>
            <a:ext cx="3526167" cy="4537075"/>
          </a:xfrm>
        </p:spPr>
        <p:txBody>
          <a:bodyPr/>
          <a:lstStyle>
            <a:lvl1pPr marL="0" indent="0">
              <a:buFontTx/>
              <a:buNone/>
              <a:defRPr/>
            </a:lvl1pPr>
          </a:lstStyle>
          <a:p>
            <a:endParaRPr lang="de-DE" dirty="0"/>
          </a:p>
        </p:txBody>
      </p:sp>
      <p:sp>
        <p:nvSpPr>
          <p:cNvPr id="2" name="Titel 1"/>
          <p:cNvSpPr>
            <a:spLocks noGrp="1"/>
          </p:cNvSpPr>
          <p:nvPr>
            <p:ph type="title"/>
          </p:nvPr>
        </p:nvSpPr>
        <p:spPr>
          <a:xfrm>
            <a:off x="432001" y="1080000"/>
            <a:ext cx="11324167" cy="576262"/>
          </a:xfrm>
        </p:spPr>
        <p:txBody>
          <a:bodyPr lIns="0"/>
          <a:lstStyle/>
          <a:p>
            <a:r>
              <a:rPr lang="de-DE" dirty="0"/>
              <a:t>Mastertitelformat bearbeiten</a:t>
            </a:r>
          </a:p>
        </p:txBody>
      </p:sp>
      <p:sp>
        <p:nvSpPr>
          <p:cNvPr id="3" name="Foliennummernplatzhalter 2"/>
          <p:cNvSpPr>
            <a:spLocks noGrp="1"/>
          </p:cNvSpPr>
          <p:nvPr>
            <p:ph type="sldNum" sz="quarter" idx="10"/>
          </p:nvPr>
        </p:nvSpPr>
        <p:spPr/>
        <p:txBody>
          <a:bodyPr/>
          <a:lstStyle/>
          <a:p>
            <a:pPr>
              <a:defRPr/>
            </a:pPr>
            <a:fld id="{2866142A-AFED-1443-8B06-6463BAB2C889}" type="slidenum">
              <a:rPr lang="de-DE" altLang="de-DE" smtClean="0"/>
              <a:pPr>
                <a:defRPr/>
              </a:pPr>
              <a:t>‹Nr.›</a:t>
            </a:fld>
            <a:endParaRPr lang="de-DE" altLang="de-DE"/>
          </a:p>
        </p:txBody>
      </p:sp>
      <p:sp>
        <p:nvSpPr>
          <p:cNvPr id="18" name="Textplatzhalter 17"/>
          <p:cNvSpPr>
            <a:spLocks noGrp="1"/>
          </p:cNvSpPr>
          <p:nvPr>
            <p:ph type="body" sz="quarter" idx="12"/>
          </p:nvPr>
        </p:nvSpPr>
        <p:spPr>
          <a:xfrm>
            <a:off x="760370" y="1883197"/>
            <a:ext cx="3097100" cy="628650"/>
          </a:xfrm>
        </p:spPr>
        <p:txBody>
          <a:bodyPr/>
          <a:lstStyle>
            <a:lvl1pPr marL="0" indent="0">
              <a:buNone/>
              <a:defRPr sz="1600" b="1">
                <a:solidFill>
                  <a:srgbClr val="FFFFFF"/>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endParaRPr lang="de-DE" dirty="0"/>
          </a:p>
        </p:txBody>
      </p:sp>
      <p:sp>
        <p:nvSpPr>
          <p:cNvPr id="22" name="Textplatzhalter 21"/>
          <p:cNvSpPr>
            <a:spLocks noGrp="1"/>
          </p:cNvSpPr>
          <p:nvPr>
            <p:ph type="body" sz="quarter" idx="13"/>
          </p:nvPr>
        </p:nvSpPr>
        <p:spPr>
          <a:xfrm>
            <a:off x="4606943" y="1817219"/>
            <a:ext cx="3203556" cy="741362"/>
          </a:xfrm>
        </p:spPr>
        <p:txBody>
          <a:bodyPr/>
          <a:lstStyle>
            <a:lvl1pPr marL="0" indent="0">
              <a:buNone/>
              <a:defRPr sz="1600" b="1">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endParaRPr lang="de-DE" dirty="0"/>
          </a:p>
        </p:txBody>
      </p:sp>
      <p:sp>
        <p:nvSpPr>
          <p:cNvPr id="24" name="Textplatzhalter 23"/>
          <p:cNvSpPr>
            <a:spLocks noGrp="1"/>
          </p:cNvSpPr>
          <p:nvPr>
            <p:ph type="body" sz="quarter" idx="14"/>
          </p:nvPr>
        </p:nvSpPr>
        <p:spPr>
          <a:xfrm>
            <a:off x="8464551" y="1817220"/>
            <a:ext cx="3187700" cy="809625"/>
          </a:xfrm>
        </p:spPr>
        <p:txBody>
          <a:bodyPr/>
          <a:lstStyle>
            <a:lvl1pPr marL="0" indent="0">
              <a:buNone/>
              <a:defRPr sz="1600" b="1">
                <a:solidFill>
                  <a:schemeClr val="bg1"/>
                </a:solidFill>
              </a:defRPr>
            </a:lvl1pPr>
          </a:lstStyle>
          <a:p>
            <a:pPr lvl="0"/>
            <a:endParaRPr lang="de-DE" dirty="0"/>
          </a:p>
        </p:txBody>
      </p:sp>
    </p:spTree>
    <p:extLst>
      <p:ext uri="{BB962C8B-B14F-4D97-AF65-F5344CB8AC3E}">
        <p14:creationId xmlns:p14="http://schemas.microsoft.com/office/powerpoint/2010/main" val="1870272515"/>
      </p:ext>
    </p:extLst>
  </p:cSld>
  <p:clrMapOvr>
    <a:masterClrMapping/>
  </p:clrMapOvr>
  <p:extLst>
    <p:ext uri="{DCECCB84-F9BA-43D5-87BE-67443E8EF086}">
      <p15:sldGuideLst xmlns:p15="http://schemas.microsoft.com/office/powerpoint/2012/main">
        <p15:guide id="1" orient="horz" pos="1071" userDrawn="1">
          <p15:clr>
            <a:srgbClr val="FBAE40"/>
          </p15:clr>
        </p15:guide>
        <p15:guide id="2" pos="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feld+Aufzählung im Block">
    <p:spTree>
      <p:nvGrpSpPr>
        <p:cNvPr id="1" name=""/>
        <p:cNvGrpSpPr/>
        <p:nvPr/>
      </p:nvGrpSpPr>
      <p:grpSpPr>
        <a:xfrm>
          <a:off x="0" y="0"/>
          <a:ext cx="0" cy="0"/>
          <a:chOff x="0" y="0"/>
          <a:chExt cx="0" cy="0"/>
        </a:xfrm>
      </p:grpSpPr>
      <p:sp>
        <p:nvSpPr>
          <p:cNvPr id="16" name="Rechteck 15"/>
          <p:cNvSpPr/>
          <p:nvPr userDrawn="1"/>
        </p:nvSpPr>
        <p:spPr>
          <a:xfrm>
            <a:off x="1703512" y="2780927"/>
            <a:ext cx="9950855" cy="158417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4" name="Foliennummernplatzhalter 5"/>
          <p:cNvSpPr>
            <a:spLocks noGrp="1"/>
          </p:cNvSpPr>
          <p:nvPr>
            <p:ph type="sldNum" sz="quarter" idx="10"/>
          </p:nvPr>
        </p:nvSpPr>
        <p:spPr/>
        <p:txBody>
          <a:bodyPr/>
          <a:lstStyle>
            <a:lvl1pPr>
              <a:defRPr/>
            </a:lvl1pPr>
          </a:lstStyle>
          <a:p>
            <a:pPr>
              <a:defRPr/>
            </a:pPr>
            <a:fld id="{A5228DEF-7D63-224F-B0E5-713CE21DF6E5}" type="slidenum">
              <a:rPr lang="de-DE" altLang="de-DE"/>
              <a:pPr>
                <a:defRPr/>
              </a:pPr>
              <a:t>‹Nr.›</a:t>
            </a:fld>
            <a:endParaRPr lang="de-DE" altLang="de-DE"/>
          </a:p>
        </p:txBody>
      </p:sp>
      <p:sp>
        <p:nvSpPr>
          <p:cNvPr id="7" name="Titel 2"/>
          <p:cNvSpPr>
            <a:spLocks noGrp="1"/>
          </p:cNvSpPr>
          <p:nvPr>
            <p:ph type="title"/>
          </p:nvPr>
        </p:nvSpPr>
        <p:spPr>
          <a:xfrm>
            <a:off x="4318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8" name="Textplatzhalter 7"/>
          <p:cNvSpPr>
            <a:spLocks noGrp="1"/>
          </p:cNvSpPr>
          <p:nvPr>
            <p:ph type="body" sz="quarter" idx="11"/>
          </p:nvPr>
        </p:nvSpPr>
        <p:spPr>
          <a:xfrm>
            <a:off x="431801" y="1620001"/>
            <a:ext cx="11340927" cy="1330351"/>
          </a:xfrm>
        </p:spPr>
        <p:txBody>
          <a:bodyPr lIns="0" rIns="90000"/>
          <a:lstStyle>
            <a:lvl1pPr marL="0" indent="0">
              <a:buNone/>
              <a:defRPr/>
            </a:lvl1pPr>
          </a:lstStyle>
          <a:p>
            <a:pPr lvl="0"/>
            <a:r>
              <a:rPr lang="de-DE" dirty="0"/>
              <a:t>Mastertextformat bearbeiten</a:t>
            </a:r>
          </a:p>
        </p:txBody>
      </p:sp>
      <p:sp>
        <p:nvSpPr>
          <p:cNvPr id="5" name="Rechteck 4"/>
          <p:cNvSpPr/>
          <p:nvPr userDrawn="1"/>
        </p:nvSpPr>
        <p:spPr>
          <a:xfrm>
            <a:off x="1703512" y="4509121"/>
            <a:ext cx="9950855" cy="172764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10" name="Rechteck 8"/>
          <p:cNvSpPr>
            <a:spLocks noChangeArrowheads="1"/>
          </p:cNvSpPr>
          <p:nvPr userDrawn="1"/>
        </p:nvSpPr>
        <p:spPr bwMode="auto">
          <a:xfrm>
            <a:off x="3071284" y="2432051"/>
            <a:ext cx="9480549"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90000">
            <a:noAutofit/>
          </a:bodyPr>
          <a:lstStyle>
            <a:lvl1pPr marL="342900" indent="-3429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079500" indent="-358775">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lvl="0" eaLnBrk="1" hangingPunct="1">
              <a:spcAft>
                <a:spcPts val="600"/>
              </a:spcAft>
              <a:buClr>
                <a:srgbClr val="80BA24"/>
              </a:buClr>
              <a:buFont typeface="Wingdings" charset="2"/>
              <a:buChar char="§"/>
            </a:pPr>
            <a:endParaRPr lang="de-DE" altLang="de-DE" sz="2000" dirty="0">
              <a:solidFill>
                <a:srgbClr val="4A5C66"/>
              </a:solidFill>
              <a:latin typeface="Arial" charset="0"/>
            </a:endParaRPr>
          </a:p>
        </p:txBody>
      </p:sp>
      <p:sp>
        <p:nvSpPr>
          <p:cNvPr id="3" name="Textplatzhalter 2"/>
          <p:cNvSpPr>
            <a:spLocks noGrp="1"/>
          </p:cNvSpPr>
          <p:nvPr>
            <p:ph type="body" sz="quarter" idx="12"/>
          </p:nvPr>
        </p:nvSpPr>
        <p:spPr>
          <a:xfrm>
            <a:off x="1919536" y="2980358"/>
            <a:ext cx="8583083" cy="1528763"/>
          </a:xfrm>
        </p:spPr>
        <p:txBody>
          <a:bodyPr lIns="0" rIns="90000"/>
          <a:lstStyle>
            <a:lvl1pPr>
              <a:defRPr sz="1800"/>
            </a:lvl1pPr>
          </a:lstStyle>
          <a:p>
            <a:pPr lvl="0"/>
            <a:r>
              <a:rPr lang="de-DE" dirty="0"/>
              <a:t>Mastertextformat bearbeiten</a:t>
            </a:r>
          </a:p>
        </p:txBody>
      </p:sp>
      <p:sp>
        <p:nvSpPr>
          <p:cNvPr id="13" name="Textplatzhalter 2"/>
          <p:cNvSpPr>
            <a:spLocks noGrp="1"/>
          </p:cNvSpPr>
          <p:nvPr>
            <p:ph type="body" sz="quarter" idx="13"/>
          </p:nvPr>
        </p:nvSpPr>
        <p:spPr>
          <a:xfrm>
            <a:off x="1929530" y="4653137"/>
            <a:ext cx="8583083" cy="1528763"/>
          </a:xfrm>
        </p:spPr>
        <p:txBody>
          <a:bodyPr lIns="0" rIns="90000"/>
          <a:lstStyle>
            <a:lvl1pPr>
              <a:defRPr sz="1800"/>
            </a:lvl1pPr>
          </a:lstStyle>
          <a:p>
            <a:pPr lvl="0"/>
            <a:r>
              <a:rPr lang="de-DE" dirty="0"/>
              <a:t>Mastertextformat bearbeiten</a:t>
            </a:r>
          </a:p>
        </p:txBody>
      </p:sp>
      <p:pic>
        <p:nvPicPr>
          <p:cNvPr id="14" name="Bild 13" descr="organisation.t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8015" y="3173431"/>
            <a:ext cx="909041" cy="83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Bild 1" descr="euro-schein.ti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40185" y="4959058"/>
            <a:ext cx="975295" cy="55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extfeld+Aufzählung im Block">
    <p:spTree>
      <p:nvGrpSpPr>
        <p:cNvPr id="1" name=""/>
        <p:cNvGrpSpPr/>
        <p:nvPr/>
      </p:nvGrpSpPr>
      <p:grpSpPr>
        <a:xfrm>
          <a:off x="0" y="0"/>
          <a:ext cx="0" cy="0"/>
          <a:chOff x="0" y="0"/>
          <a:chExt cx="0" cy="0"/>
        </a:xfrm>
      </p:grpSpPr>
      <p:sp>
        <p:nvSpPr>
          <p:cNvPr id="4" name="Foliennummernplatzhalter 5"/>
          <p:cNvSpPr>
            <a:spLocks noGrp="1"/>
          </p:cNvSpPr>
          <p:nvPr>
            <p:ph type="sldNum" sz="quarter" idx="10"/>
          </p:nvPr>
        </p:nvSpPr>
        <p:spPr/>
        <p:txBody>
          <a:bodyPr/>
          <a:lstStyle>
            <a:lvl1pPr>
              <a:defRPr/>
            </a:lvl1pPr>
          </a:lstStyle>
          <a:p>
            <a:pPr>
              <a:defRPr/>
            </a:pPr>
            <a:fld id="{A5228DEF-7D63-224F-B0E5-713CE21DF6E5}" type="slidenum">
              <a:rPr lang="de-DE" altLang="de-DE"/>
              <a:pPr>
                <a:defRPr/>
              </a:pPr>
              <a:t>‹Nr.›</a:t>
            </a:fld>
            <a:endParaRPr lang="de-DE" altLang="de-DE"/>
          </a:p>
        </p:txBody>
      </p:sp>
      <p:sp>
        <p:nvSpPr>
          <p:cNvPr id="7" name="Titel 2"/>
          <p:cNvSpPr>
            <a:spLocks noGrp="1"/>
          </p:cNvSpPr>
          <p:nvPr>
            <p:ph type="title"/>
          </p:nvPr>
        </p:nvSpPr>
        <p:spPr>
          <a:xfrm>
            <a:off x="4318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8" name="Textplatzhalter 7"/>
          <p:cNvSpPr>
            <a:spLocks noGrp="1"/>
          </p:cNvSpPr>
          <p:nvPr>
            <p:ph type="body" sz="quarter" idx="11"/>
          </p:nvPr>
        </p:nvSpPr>
        <p:spPr>
          <a:xfrm>
            <a:off x="431801" y="1620001"/>
            <a:ext cx="11340927" cy="1330351"/>
          </a:xfrm>
        </p:spPr>
        <p:txBody>
          <a:bodyPr lIns="0" rIns="90000"/>
          <a:lstStyle>
            <a:lvl1pPr marL="0" indent="0">
              <a:buNone/>
              <a:defRPr/>
            </a:lvl1pPr>
          </a:lstStyle>
          <a:p>
            <a:pPr lvl="0"/>
            <a:r>
              <a:rPr lang="de-DE" dirty="0"/>
              <a:t>Mastertextformat bearbeiten</a:t>
            </a:r>
          </a:p>
        </p:txBody>
      </p:sp>
      <p:sp>
        <p:nvSpPr>
          <p:cNvPr id="10" name="Rechteck 8"/>
          <p:cNvSpPr>
            <a:spLocks noChangeArrowheads="1"/>
          </p:cNvSpPr>
          <p:nvPr userDrawn="1"/>
        </p:nvSpPr>
        <p:spPr bwMode="auto">
          <a:xfrm>
            <a:off x="3071284" y="2432051"/>
            <a:ext cx="9480549"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90000">
            <a:noAutofit/>
          </a:bodyPr>
          <a:lstStyle>
            <a:lvl1pPr marL="342900" indent="-3429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079500" indent="-358775">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lvl="0" eaLnBrk="1" hangingPunct="1">
              <a:spcAft>
                <a:spcPts val="600"/>
              </a:spcAft>
              <a:buClr>
                <a:srgbClr val="80BA24"/>
              </a:buClr>
              <a:buFont typeface="Wingdings" charset="2"/>
              <a:buChar char="§"/>
            </a:pPr>
            <a:endParaRPr lang="de-DE" altLang="de-DE" sz="2000" dirty="0">
              <a:solidFill>
                <a:srgbClr val="4A5C66"/>
              </a:solidFill>
              <a:latin typeface="Arial" charset="0"/>
            </a:endParaRPr>
          </a:p>
        </p:txBody>
      </p:sp>
      <p:pic>
        <p:nvPicPr>
          <p:cNvPr id="11" name="Bild 10" descr="icon_people.t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4632" y="3291575"/>
            <a:ext cx="888429"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Bild 11" descr="haus.ti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31800" y="4928474"/>
            <a:ext cx="97529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hteck 13">
            <a:extLst>
              <a:ext uri="{FF2B5EF4-FFF2-40B4-BE49-F238E27FC236}">
                <a16:creationId xmlns:a16="http://schemas.microsoft.com/office/drawing/2014/main" id="{1C6723BC-5FFF-A14D-8404-D5F91F1C72B1}"/>
              </a:ext>
            </a:extLst>
          </p:cNvPr>
          <p:cNvSpPr/>
          <p:nvPr userDrawn="1"/>
        </p:nvSpPr>
        <p:spPr>
          <a:xfrm>
            <a:off x="1703512" y="2780927"/>
            <a:ext cx="9950855" cy="158417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15" name="Rechteck 14">
            <a:extLst>
              <a:ext uri="{FF2B5EF4-FFF2-40B4-BE49-F238E27FC236}">
                <a16:creationId xmlns:a16="http://schemas.microsoft.com/office/drawing/2014/main" id="{C594EDCD-2274-FE44-87CC-3D768625475C}"/>
              </a:ext>
            </a:extLst>
          </p:cNvPr>
          <p:cNvSpPr/>
          <p:nvPr userDrawn="1"/>
        </p:nvSpPr>
        <p:spPr>
          <a:xfrm>
            <a:off x="1703512" y="4509121"/>
            <a:ext cx="9950855" cy="172764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16" name="Textplatzhalter 2">
            <a:extLst>
              <a:ext uri="{FF2B5EF4-FFF2-40B4-BE49-F238E27FC236}">
                <a16:creationId xmlns:a16="http://schemas.microsoft.com/office/drawing/2014/main" id="{C02CBA60-C706-9748-870A-3B807F15522F}"/>
              </a:ext>
            </a:extLst>
          </p:cNvPr>
          <p:cNvSpPr>
            <a:spLocks noGrp="1"/>
          </p:cNvSpPr>
          <p:nvPr>
            <p:ph type="body" sz="quarter" idx="12"/>
          </p:nvPr>
        </p:nvSpPr>
        <p:spPr>
          <a:xfrm>
            <a:off x="1919536" y="2980358"/>
            <a:ext cx="8583083" cy="1528763"/>
          </a:xfrm>
        </p:spPr>
        <p:txBody>
          <a:bodyPr lIns="0" rIns="90000"/>
          <a:lstStyle>
            <a:lvl1pPr>
              <a:defRPr sz="1800"/>
            </a:lvl1pPr>
          </a:lstStyle>
          <a:p>
            <a:pPr lvl="0"/>
            <a:r>
              <a:rPr lang="de-DE" dirty="0"/>
              <a:t>Mastertextformat bearbeiten</a:t>
            </a:r>
          </a:p>
        </p:txBody>
      </p:sp>
      <p:sp>
        <p:nvSpPr>
          <p:cNvPr id="17" name="Textplatzhalter 2">
            <a:extLst>
              <a:ext uri="{FF2B5EF4-FFF2-40B4-BE49-F238E27FC236}">
                <a16:creationId xmlns:a16="http://schemas.microsoft.com/office/drawing/2014/main" id="{47172106-5D28-8B48-8CE5-77E78E3EF862}"/>
              </a:ext>
            </a:extLst>
          </p:cNvPr>
          <p:cNvSpPr>
            <a:spLocks noGrp="1"/>
          </p:cNvSpPr>
          <p:nvPr>
            <p:ph type="body" sz="quarter" idx="13"/>
          </p:nvPr>
        </p:nvSpPr>
        <p:spPr>
          <a:xfrm>
            <a:off x="1929530" y="4653137"/>
            <a:ext cx="8583083" cy="1528763"/>
          </a:xfrm>
        </p:spPr>
        <p:txBody>
          <a:bodyPr lIns="0" rIns="90000"/>
          <a:lstStyle>
            <a:lvl1pPr>
              <a:defRPr sz="1800"/>
            </a:lvl1pPr>
          </a:lstStyle>
          <a:p>
            <a:pPr lvl="0"/>
            <a:r>
              <a:rPr lang="de-DE" dirty="0"/>
              <a:t>Mastertextformat bearbeiten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fzählungsfeld 1,5 zeilig">
    <p:spTree>
      <p:nvGrpSpPr>
        <p:cNvPr id="1" name=""/>
        <p:cNvGrpSpPr/>
        <p:nvPr/>
      </p:nvGrpSpPr>
      <p:grpSpPr>
        <a:xfrm>
          <a:off x="0" y="0"/>
          <a:ext cx="0" cy="0"/>
          <a:chOff x="0" y="0"/>
          <a:chExt cx="0" cy="0"/>
        </a:xfrm>
      </p:grpSpPr>
      <p:sp>
        <p:nvSpPr>
          <p:cNvPr id="3" name="Inhaltsplatzhalter 2"/>
          <p:cNvSpPr>
            <a:spLocks noGrp="1"/>
          </p:cNvSpPr>
          <p:nvPr>
            <p:ph idx="1"/>
          </p:nvPr>
        </p:nvSpPr>
        <p:spPr>
          <a:xfrm>
            <a:off x="432000" y="1548016"/>
            <a:ext cx="11164821" cy="4617288"/>
          </a:xfrm>
        </p:spPr>
        <p:txBody>
          <a:bodyPr lIns="0"/>
          <a:lstStyle>
            <a:lvl1pPr>
              <a:lnSpc>
                <a:spcPts val="4100"/>
              </a:lnSpc>
              <a:defRPr sz="2000">
                <a:solidFill>
                  <a:srgbClr val="4A5C66"/>
                </a:solidFill>
                <a:latin typeface="Arial" pitchFamily="34" charset="0"/>
                <a:cs typeface="Arial" pitchFamily="34" charset="0"/>
              </a:defRPr>
            </a:lvl1pPr>
            <a:lvl2pPr>
              <a:defRPr sz="2000">
                <a:solidFill>
                  <a:srgbClr val="4A5C66"/>
                </a:solidFill>
                <a:latin typeface="Arial" pitchFamily="34" charset="0"/>
                <a:cs typeface="Arial" pitchFamily="34" charset="0"/>
              </a:defRPr>
            </a:lvl2pPr>
            <a:lvl3pPr>
              <a:defRPr sz="1800">
                <a:solidFill>
                  <a:srgbClr val="4A5C66"/>
                </a:solidFill>
                <a:latin typeface="Arial" pitchFamily="34" charset="0"/>
                <a:cs typeface="Arial" pitchFamily="34" charset="0"/>
              </a:defRPr>
            </a:lvl3pPr>
            <a:lvl4pPr>
              <a:defRPr sz="1800">
                <a:solidFill>
                  <a:srgbClr val="4A5C66"/>
                </a:solidFill>
                <a:latin typeface="Arial" pitchFamily="34" charset="0"/>
                <a:cs typeface="Arial" pitchFamily="34" charset="0"/>
              </a:defRPr>
            </a:lvl4pPr>
            <a:lvl5pPr>
              <a:defRPr sz="1800">
                <a:solidFill>
                  <a:srgbClr val="4A5C66"/>
                </a:solidFill>
                <a:latin typeface="Arial" pitchFamily="34" charset="0"/>
                <a:cs typeface="Arial" pitchFamily="34" charset="0"/>
              </a:defRPr>
            </a:lvl5pPr>
          </a:lstStyle>
          <a:p>
            <a:pPr lvl="0"/>
            <a:r>
              <a:rPr lang="de-DE" dirty="0"/>
              <a:t>Mastertextformat bearbeiten</a:t>
            </a:r>
          </a:p>
          <a:p>
            <a:pPr lvl="0"/>
            <a:endParaRPr lang="de-DE" dirty="0"/>
          </a:p>
        </p:txBody>
      </p:sp>
      <p:sp>
        <p:nvSpPr>
          <p:cNvPr id="10" name="Titel 9"/>
          <p:cNvSpPr>
            <a:spLocks noGrp="1"/>
          </p:cNvSpPr>
          <p:nvPr>
            <p:ph type="title"/>
          </p:nvPr>
        </p:nvSpPr>
        <p:spPr>
          <a:xfrm>
            <a:off x="432000" y="1080000"/>
            <a:ext cx="11227200" cy="576000"/>
          </a:xfrm>
        </p:spPr>
        <p:txBody>
          <a:bodyPr lIns="0"/>
          <a:lstStyle>
            <a:lvl1pPr>
              <a:defRPr sz="2200"/>
            </a:lvl1pPr>
          </a:lstStyle>
          <a:p>
            <a:r>
              <a:rPr lang="de-DE" dirty="0"/>
              <a:t>Mastertitelformat bearbeiten</a:t>
            </a:r>
          </a:p>
        </p:txBody>
      </p:sp>
      <p:sp>
        <p:nvSpPr>
          <p:cNvPr id="4" name="Foliennummernplatzhalter 5"/>
          <p:cNvSpPr>
            <a:spLocks noGrp="1"/>
          </p:cNvSpPr>
          <p:nvPr>
            <p:ph type="sldNum" sz="quarter" idx="10"/>
          </p:nvPr>
        </p:nvSpPr>
        <p:spPr/>
        <p:txBody>
          <a:bodyPr/>
          <a:lstStyle>
            <a:lvl1pPr>
              <a:defRPr/>
            </a:lvl1pPr>
          </a:lstStyle>
          <a:p>
            <a:pPr>
              <a:defRPr/>
            </a:pPr>
            <a:fld id="{5D6CBC89-780D-6F43-A4AF-E4A7285D6779}" type="slidenum">
              <a:rPr lang="de-DE" altLang="de-DE"/>
              <a:pPr>
                <a:defRPr/>
              </a:pPr>
              <a:t>‹Nr.›</a:t>
            </a:fld>
            <a:endParaRPr lang="de-DE" altLang="de-DE"/>
          </a:p>
        </p:txBody>
      </p:sp>
    </p:spTree>
    <p:extLst>
      <p:ext uri="{BB962C8B-B14F-4D97-AF65-F5344CB8AC3E}">
        <p14:creationId xmlns:p14="http://schemas.microsoft.com/office/powerpoint/2010/main" val="496129215"/>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Kapitelfolie">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5"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6"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7" name="Grafik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0484" y="6599238"/>
            <a:ext cx="1921933"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431800"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3310467"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Rectangle 11"/>
          <p:cNvSpPr>
            <a:spLocks noChangeArrowheads="1"/>
          </p:cNvSpPr>
          <p:nvPr userDrawn="1"/>
        </p:nvSpPr>
        <p:spPr bwMode="auto">
          <a:xfrm>
            <a:off x="6191251"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12"/>
          <p:cNvSpPr>
            <a:spLocks noChangeArrowheads="1"/>
          </p:cNvSpPr>
          <p:nvPr userDrawn="1"/>
        </p:nvSpPr>
        <p:spPr bwMode="auto">
          <a:xfrm>
            <a:off x="9069917" y="2114574"/>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Rectangle 13"/>
          <p:cNvSpPr>
            <a:spLocks noChangeArrowheads="1"/>
          </p:cNvSpPr>
          <p:nvPr userDrawn="1"/>
        </p:nvSpPr>
        <p:spPr bwMode="auto">
          <a:xfrm>
            <a:off x="431800"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3" name="Rectangle 14"/>
          <p:cNvSpPr>
            <a:spLocks noChangeArrowheads="1"/>
          </p:cNvSpPr>
          <p:nvPr userDrawn="1"/>
        </p:nvSpPr>
        <p:spPr bwMode="auto">
          <a:xfrm>
            <a:off x="3310467"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4" name="Rectangle 15"/>
          <p:cNvSpPr>
            <a:spLocks noChangeArrowheads="1"/>
          </p:cNvSpPr>
          <p:nvPr userDrawn="1"/>
        </p:nvSpPr>
        <p:spPr bwMode="auto">
          <a:xfrm>
            <a:off x="6191251"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5" name="Rectangle 16"/>
          <p:cNvSpPr>
            <a:spLocks noChangeArrowheads="1"/>
          </p:cNvSpPr>
          <p:nvPr userDrawn="1"/>
        </p:nvSpPr>
        <p:spPr bwMode="auto">
          <a:xfrm>
            <a:off x="9069917" y="4275162"/>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2" name="Titel 1"/>
          <p:cNvSpPr>
            <a:spLocks noGrp="1"/>
          </p:cNvSpPr>
          <p:nvPr>
            <p:ph type="title"/>
          </p:nvPr>
        </p:nvSpPr>
        <p:spPr>
          <a:xfrm>
            <a:off x="432001" y="1080000"/>
            <a:ext cx="11323407" cy="576000"/>
          </a:xfrm>
        </p:spPr>
        <p:txBody>
          <a:bodyPr lIns="0"/>
          <a:lstStyle/>
          <a:p>
            <a:r>
              <a:rPr lang="de-DE" dirty="0"/>
              <a:t>Mastertitelformat bearbeiten</a:t>
            </a:r>
          </a:p>
        </p:txBody>
      </p:sp>
      <p:sp>
        <p:nvSpPr>
          <p:cNvPr id="16" name="Foliennummernplatzhalter 5"/>
          <p:cNvSpPr>
            <a:spLocks noGrp="1"/>
          </p:cNvSpPr>
          <p:nvPr>
            <p:ph type="sldNum" sz="quarter" idx="10"/>
          </p:nvPr>
        </p:nvSpPr>
        <p:spPr/>
        <p:txBody>
          <a:bodyPr/>
          <a:lstStyle>
            <a:lvl1pPr>
              <a:defRPr/>
            </a:lvl1pPr>
          </a:lstStyle>
          <a:p>
            <a:pPr>
              <a:defRPr/>
            </a:pPr>
            <a:fld id="{44477509-71AF-1442-AA36-4D80324E8263}" type="slidenum">
              <a:rPr lang="de-DE" altLang="de-DE"/>
              <a:pPr>
                <a:defRPr/>
              </a:pPr>
              <a:t>‹Nr.›</a:t>
            </a:fld>
            <a:endParaRPr lang="de-DE" altLang="de-DE"/>
          </a:p>
        </p:txBody>
      </p:sp>
      <p:sp>
        <p:nvSpPr>
          <p:cNvPr id="18" name="Textplatzhalter 17"/>
          <p:cNvSpPr>
            <a:spLocks noGrp="1"/>
          </p:cNvSpPr>
          <p:nvPr>
            <p:ph type="body" sz="quarter" idx="11" hasCustomPrompt="1"/>
          </p:nvPr>
        </p:nvSpPr>
        <p:spPr>
          <a:xfrm>
            <a:off x="431801" y="1620001"/>
            <a:ext cx="11324167" cy="492986"/>
          </a:xfrm>
        </p:spPr>
        <p:txBody>
          <a:bodyPr/>
          <a:lstStyle>
            <a:lvl1pPr marL="0" indent="0">
              <a:buNone/>
              <a:defRPr/>
            </a:lvl1pPr>
          </a:lstStyle>
          <a:p>
            <a:pPr lvl="0"/>
            <a:r>
              <a:rPr lang="de-DE" altLang="de-DE" sz="1800" dirty="0">
                <a:latin typeface="Arial" charset="0"/>
                <a:ea typeface="MS PGothic" charset="-128"/>
                <a:cs typeface="Arial" charset="0"/>
              </a:rPr>
              <a:t>Textfeld</a:t>
            </a:r>
            <a:endParaRPr lang="de-DE" dirty="0"/>
          </a:p>
        </p:txBody>
      </p:sp>
      <p:sp>
        <p:nvSpPr>
          <p:cNvPr id="19" name="Textplatzhalter 18"/>
          <p:cNvSpPr>
            <a:spLocks noGrp="1"/>
          </p:cNvSpPr>
          <p:nvPr>
            <p:ph type="body" sz="quarter" idx="12"/>
          </p:nvPr>
        </p:nvSpPr>
        <p:spPr>
          <a:xfrm>
            <a:off x="719667" y="2275200"/>
            <a:ext cx="2015960" cy="649744"/>
          </a:xfrm>
        </p:spPr>
        <p:txBody>
          <a:bodyPr/>
          <a:lstStyle>
            <a:lvl1pPr marL="0" indent="0">
              <a:buFontTx/>
              <a:buNone/>
              <a:defRPr sz="1600" b="1">
                <a:solidFill>
                  <a:schemeClr val="bg1"/>
                </a:solidFill>
              </a:defRPr>
            </a:lvl1pPr>
          </a:lstStyle>
          <a:p>
            <a:pPr lvl="0"/>
            <a:endParaRPr lang="de-DE" dirty="0"/>
          </a:p>
        </p:txBody>
      </p:sp>
      <p:sp>
        <p:nvSpPr>
          <p:cNvPr id="20" name="Textplatzhalter 18"/>
          <p:cNvSpPr>
            <a:spLocks noGrp="1"/>
          </p:cNvSpPr>
          <p:nvPr>
            <p:ph type="body" sz="quarter" idx="13"/>
          </p:nvPr>
        </p:nvSpPr>
        <p:spPr>
          <a:xfrm>
            <a:off x="360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1" name="Textplatzhalter 18"/>
          <p:cNvSpPr>
            <a:spLocks noGrp="1"/>
          </p:cNvSpPr>
          <p:nvPr>
            <p:ph type="body" sz="quarter" idx="14"/>
          </p:nvPr>
        </p:nvSpPr>
        <p:spPr>
          <a:xfrm>
            <a:off x="648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2" name="Textplatzhalter 18"/>
          <p:cNvSpPr>
            <a:spLocks noGrp="1"/>
          </p:cNvSpPr>
          <p:nvPr>
            <p:ph type="body" sz="quarter" idx="15"/>
          </p:nvPr>
        </p:nvSpPr>
        <p:spPr>
          <a:xfrm>
            <a:off x="72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3" name="Textplatzhalter 18"/>
          <p:cNvSpPr>
            <a:spLocks noGrp="1"/>
          </p:cNvSpPr>
          <p:nvPr>
            <p:ph type="body" sz="quarter" idx="16"/>
          </p:nvPr>
        </p:nvSpPr>
        <p:spPr>
          <a:xfrm>
            <a:off x="360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4" name="Textplatzhalter 18"/>
          <p:cNvSpPr>
            <a:spLocks noGrp="1"/>
          </p:cNvSpPr>
          <p:nvPr>
            <p:ph type="body" sz="quarter" idx="17"/>
          </p:nvPr>
        </p:nvSpPr>
        <p:spPr>
          <a:xfrm>
            <a:off x="648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5" name="Textplatzhalter 24"/>
          <p:cNvSpPr>
            <a:spLocks noGrp="1"/>
          </p:cNvSpPr>
          <p:nvPr>
            <p:ph type="body" sz="quarter" idx="18" hasCustomPrompt="1"/>
          </p:nvPr>
        </p:nvSpPr>
        <p:spPr>
          <a:xfrm>
            <a:off x="719668" y="2700000"/>
            <a:ext cx="20159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6" name="Textplatzhalter 24"/>
          <p:cNvSpPr>
            <a:spLocks noGrp="1"/>
          </p:cNvSpPr>
          <p:nvPr>
            <p:ph type="body" sz="quarter" idx="19" hasCustomPrompt="1"/>
          </p:nvPr>
        </p:nvSpPr>
        <p:spPr>
          <a:xfrm>
            <a:off x="3600000" y="2700000"/>
            <a:ext cx="22797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7" name="Textplatzhalter 24"/>
          <p:cNvSpPr>
            <a:spLocks noGrp="1"/>
          </p:cNvSpPr>
          <p:nvPr>
            <p:ph type="body" sz="quarter" idx="20" hasCustomPrompt="1"/>
          </p:nvPr>
        </p:nvSpPr>
        <p:spPr>
          <a:xfrm>
            <a:off x="6480000" y="270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8" name="Textplatzhalter 24"/>
          <p:cNvSpPr>
            <a:spLocks noGrp="1"/>
          </p:cNvSpPr>
          <p:nvPr>
            <p:ph type="body" sz="quarter" idx="21" hasCustomPrompt="1"/>
          </p:nvPr>
        </p:nvSpPr>
        <p:spPr>
          <a:xfrm>
            <a:off x="719667" y="4896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9" name="Textplatzhalter 24"/>
          <p:cNvSpPr>
            <a:spLocks noGrp="1"/>
          </p:cNvSpPr>
          <p:nvPr>
            <p:ph type="body" sz="quarter" idx="22" hasCustomPrompt="1"/>
          </p:nvPr>
        </p:nvSpPr>
        <p:spPr>
          <a:xfrm>
            <a:off x="360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0" name="Textplatzhalter 24"/>
          <p:cNvSpPr>
            <a:spLocks noGrp="1"/>
          </p:cNvSpPr>
          <p:nvPr>
            <p:ph type="body" sz="quarter" idx="23" hasCustomPrompt="1"/>
          </p:nvPr>
        </p:nvSpPr>
        <p:spPr>
          <a:xfrm>
            <a:off x="648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Tree>
    <p:extLst>
      <p:ext uri="{BB962C8B-B14F-4D97-AF65-F5344CB8AC3E}">
        <p14:creationId xmlns:p14="http://schemas.microsoft.com/office/powerpoint/2010/main" val="1565943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Kapitelfolie">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5"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6"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7" name="Grafik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0484" y="6599238"/>
            <a:ext cx="1921933"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431800" y="2114574"/>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3310467" y="2114574"/>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Rectangle 11"/>
          <p:cNvSpPr>
            <a:spLocks noChangeArrowheads="1"/>
          </p:cNvSpPr>
          <p:nvPr userDrawn="1"/>
        </p:nvSpPr>
        <p:spPr bwMode="auto">
          <a:xfrm>
            <a:off x="6191251" y="2114574"/>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12"/>
          <p:cNvSpPr>
            <a:spLocks noChangeArrowheads="1"/>
          </p:cNvSpPr>
          <p:nvPr userDrawn="1"/>
        </p:nvSpPr>
        <p:spPr bwMode="auto">
          <a:xfrm>
            <a:off x="9069917" y="2114574"/>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Rectangle 13"/>
          <p:cNvSpPr>
            <a:spLocks noChangeArrowheads="1"/>
          </p:cNvSpPr>
          <p:nvPr userDrawn="1"/>
        </p:nvSpPr>
        <p:spPr bwMode="auto">
          <a:xfrm>
            <a:off x="431800" y="4275162"/>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3" name="Rectangle 14"/>
          <p:cNvSpPr>
            <a:spLocks noChangeArrowheads="1"/>
          </p:cNvSpPr>
          <p:nvPr userDrawn="1"/>
        </p:nvSpPr>
        <p:spPr bwMode="auto">
          <a:xfrm>
            <a:off x="3310467" y="4275162"/>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4" name="Rectangle 15"/>
          <p:cNvSpPr>
            <a:spLocks noChangeArrowheads="1"/>
          </p:cNvSpPr>
          <p:nvPr userDrawn="1"/>
        </p:nvSpPr>
        <p:spPr bwMode="auto">
          <a:xfrm>
            <a:off x="6191251" y="4275162"/>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5" name="Rectangle 16"/>
          <p:cNvSpPr>
            <a:spLocks noChangeArrowheads="1"/>
          </p:cNvSpPr>
          <p:nvPr userDrawn="1"/>
        </p:nvSpPr>
        <p:spPr bwMode="auto">
          <a:xfrm>
            <a:off x="9069917" y="4275162"/>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2" name="Titel 1"/>
          <p:cNvSpPr>
            <a:spLocks noGrp="1"/>
          </p:cNvSpPr>
          <p:nvPr>
            <p:ph type="title"/>
          </p:nvPr>
        </p:nvSpPr>
        <p:spPr>
          <a:xfrm>
            <a:off x="432001" y="1080000"/>
            <a:ext cx="11323407" cy="576000"/>
          </a:xfrm>
        </p:spPr>
        <p:txBody>
          <a:bodyPr lIns="0"/>
          <a:lstStyle/>
          <a:p>
            <a:r>
              <a:rPr lang="de-DE"/>
              <a:t>Mastertitelformat bearbeiten</a:t>
            </a:r>
            <a:endParaRPr lang="de-DE" dirty="0"/>
          </a:p>
        </p:txBody>
      </p:sp>
      <p:sp>
        <p:nvSpPr>
          <p:cNvPr id="16" name="Foliennummernplatzhalter 5"/>
          <p:cNvSpPr>
            <a:spLocks noGrp="1"/>
          </p:cNvSpPr>
          <p:nvPr>
            <p:ph type="sldNum" sz="quarter" idx="10"/>
          </p:nvPr>
        </p:nvSpPr>
        <p:spPr/>
        <p:txBody>
          <a:bodyPr/>
          <a:lstStyle>
            <a:lvl1pPr>
              <a:defRPr/>
            </a:lvl1pPr>
          </a:lstStyle>
          <a:p>
            <a:pPr>
              <a:defRPr/>
            </a:pPr>
            <a:fld id="{1D4B7358-837F-F449-96D9-6AA1275CBD5B}" type="slidenum">
              <a:rPr lang="de-DE" altLang="de-DE"/>
              <a:pPr>
                <a:defRPr/>
              </a:pPr>
              <a:t>‹Nr.›</a:t>
            </a:fld>
            <a:endParaRPr lang="de-DE" altLang="de-DE"/>
          </a:p>
        </p:txBody>
      </p:sp>
      <p:sp>
        <p:nvSpPr>
          <p:cNvPr id="17" name="Textplatzhalter 17"/>
          <p:cNvSpPr>
            <a:spLocks noGrp="1"/>
          </p:cNvSpPr>
          <p:nvPr>
            <p:ph type="body" sz="quarter" idx="11" hasCustomPrompt="1"/>
          </p:nvPr>
        </p:nvSpPr>
        <p:spPr>
          <a:xfrm>
            <a:off x="431801" y="1620001"/>
            <a:ext cx="11324167" cy="296832"/>
          </a:xfrm>
        </p:spPr>
        <p:txBody>
          <a:bodyPr/>
          <a:lstStyle>
            <a:lvl1pPr marL="0" indent="0">
              <a:buNone/>
              <a:defRPr/>
            </a:lvl1pPr>
          </a:lstStyle>
          <a:p>
            <a:pPr lvl="0"/>
            <a:r>
              <a:rPr lang="de-DE" altLang="de-DE" sz="1800" dirty="0">
                <a:latin typeface="Arial" charset="0"/>
                <a:ea typeface="MS PGothic" charset="-128"/>
                <a:cs typeface="Arial" charset="0"/>
              </a:rPr>
              <a:t>Textfeld</a:t>
            </a:r>
            <a:endParaRPr lang="de-DE" dirty="0"/>
          </a:p>
        </p:txBody>
      </p:sp>
      <p:sp>
        <p:nvSpPr>
          <p:cNvPr id="19" name="Textplatzhalter 18"/>
          <p:cNvSpPr>
            <a:spLocks noGrp="1"/>
          </p:cNvSpPr>
          <p:nvPr>
            <p:ph type="body" sz="quarter" idx="12"/>
          </p:nvPr>
        </p:nvSpPr>
        <p:spPr>
          <a:xfrm>
            <a:off x="719667" y="2275200"/>
            <a:ext cx="2015960" cy="1009784"/>
          </a:xfrm>
        </p:spPr>
        <p:txBody>
          <a:bodyPr/>
          <a:lstStyle>
            <a:lvl1pPr marL="0" indent="0">
              <a:buFontTx/>
              <a:buNone/>
              <a:defRPr sz="1600" b="1"/>
            </a:lvl1pPr>
          </a:lstStyle>
          <a:p>
            <a:pPr lvl="0"/>
            <a:endParaRPr lang="de-DE" dirty="0"/>
          </a:p>
        </p:txBody>
      </p:sp>
      <p:sp>
        <p:nvSpPr>
          <p:cNvPr id="20" name="Textplatzhalter 18"/>
          <p:cNvSpPr>
            <a:spLocks noGrp="1"/>
          </p:cNvSpPr>
          <p:nvPr>
            <p:ph type="body" sz="quarter" idx="13"/>
          </p:nvPr>
        </p:nvSpPr>
        <p:spPr>
          <a:xfrm>
            <a:off x="3600000" y="2275200"/>
            <a:ext cx="2015960" cy="1009784"/>
          </a:xfrm>
        </p:spPr>
        <p:txBody>
          <a:bodyPr/>
          <a:lstStyle>
            <a:lvl1pPr marL="0" indent="0">
              <a:buFontTx/>
              <a:buNone/>
              <a:defRPr sz="1600" b="1"/>
            </a:lvl1pPr>
          </a:lstStyle>
          <a:p>
            <a:pPr lvl="0"/>
            <a:endParaRPr lang="de-DE" dirty="0"/>
          </a:p>
        </p:txBody>
      </p:sp>
      <p:sp>
        <p:nvSpPr>
          <p:cNvPr id="21" name="Textplatzhalter 18"/>
          <p:cNvSpPr>
            <a:spLocks noGrp="1"/>
          </p:cNvSpPr>
          <p:nvPr>
            <p:ph type="body" sz="quarter" idx="14"/>
          </p:nvPr>
        </p:nvSpPr>
        <p:spPr>
          <a:xfrm>
            <a:off x="6480000" y="2275200"/>
            <a:ext cx="2015960" cy="1009784"/>
          </a:xfrm>
        </p:spPr>
        <p:txBody>
          <a:bodyPr/>
          <a:lstStyle>
            <a:lvl1pPr marL="0" indent="0">
              <a:buFontTx/>
              <a:buNone/>
              <a:defRPr sz="1600" b="1"/>
            </a:lvl1pPr>
          </a:lstStyle>
          <a:p>
            <a:pPr lvl="0"/>
            <a:endParaRPr lang="de-DE" dirty="0"/>
          </a:p>
        </p:txBody>
      </p:sp>
      <p:sp>
        <p:nvSpPr>
          <p:cNvPr id="22" name="Textplatzhalter 18"/>
          <p:cNvSpPr>
            <a:spLocks noGrp="1"/>
          </p:cNvSpPr>
          <p:nvPr>
            <p:ph type="body" sz="quarter" idx="15"/>
          </p:nvPr>
        </p:nvSpPr>
        <p:spPr>
          <a:xfrm>
            <a:off x="720000" y="4435200"/>
            <a:ext cx="2015960" cy="1009784"/>
          </a:xfrm>
        </p:spPr>
        <p:txBody>
          <a:bodyPr/>
          <a:lstStyle>
            <a:lvl1pPr marL="0" indent="0">
              <a:buFontTx/>
              <a:buNone/>
              <a:defRPr sz="1600" b="1"/>
            </a:lvl1pPr>
          </a:lstStyle>
          <a:p>
            <a:pPr lvl="0"/>
            <a:endParaRPr lang="de-DE" dirty="0"/>
          </a:p>
        </p:txBody>
      </p:sp>
      <p:sp>
        <p:nvSpPr>
          <p:cNvPr id="23" name="Textplatzhalter 18"/>
          <p:cNvSpPr>
            <a:spLocks noGrp="1"/>
          </p:cNvSpPr>
          <p:nvPr>
            <p:ph type="body" sz="quarter" idx="16"/>
          </p:nvPr>
        </p:nvSpPr>
        <p:spPr>
          <a:xfrm>
            <a:off x="3600000" y="4435200"/>
            <a:ext cx="2015960" cy="1009784"/>
          </a:xfrm>
        </p:spPr>
        <p:txBody>
          <a:bodyPr/>
          <a:lstStyle>
            <a:lvl1pPr marL="0" indent="0">
              <a:buFontTx/>
              <a:buNone/>
              <a:defRPr sz="1600" b="1"/>
            </a:lvl1pPr>
          </a:lstStyle>
          <a:p>
            <a:pPr lvl="0"/>
            <a:endParaRPr lang="de-DE" dirty="0"/>
          </a:p>
        </p:txBody>
      </p:sp>
      <p:sp>
        <p:nvSpPr>
          <p:cNvPr id="24" name="Textplatzhalter 18"/>
          <p:cNvSpPr>
            <a:spLocks noGrp="1"/>
          </p:cNvSpPr>
          <p:nvPr>
            <p:ph type="body" sz="quarter" idx="17"/>
          </p:nvPr>
        </p:nvSpPr>
        <p:spPr>
          <a:xfrm>
            <a:off x="6507781" y="4435200"/>
            <a:ext cx="2015960" cy="1009784"/>
          </a:xfrm>
        </p:spPr>
        <p:txBody>
          <a:bodyPr/>
          <a:lstStyle>
            <a:lvl1pPr marL="0" indent="0">
              <a:buFontTx/>
              <a:buNone/>
              <a:defRPr sz="1600" b="1"/>
            </a:lvl1pPr>
          </a:lstStyle>
          <a:p>
            <a:pPr lvl="0"/>
            <a:endParaRPr lang="de-DE" dirty="0"/>
          </a:p>
        </p:txBody>
      </p:sp>
    </p:spTree>
    <p:extLst>
      <p:ext uri="{BB962C8B-B14F-4D97-AF65-F5344CB8AC3E}">
        <p14:creationId xmlns:p14="http://schemas.microsoft.com/office/powerpoint/2010/main" val="1408562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Kapitelfolie">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5"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6"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7" name="Grafik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0484" y="6599238"/>
            <a:ext cx="1921933"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431800"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3310467"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Rectangle 11"/>
          <p:cNvSpPr>
            <a:spLocks noChangeArrowheads="1"/>
          </p:cNvSpPr>
          <p:nvPr userDrawn="1"/>
        </p:nvSpPr>
        <p:spPr bwMode="auto">
          <a:xfrm>
            <a:off x="6191251"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12"/>
          <p:cNvSpPr>
            <a:spLocks noChangeArrowheads="1"/>
          </p:cNvSpPr>
          <p:nvPr userDrawn="1"/>
        </p:nvSpPr>
        <p:spPr bwMode="auto">
          <a:xfrm>
            <a:off x="9069917"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Rectangle 13"/>
          <p:cNvSpPr>
            <a:spLocks noChangeArrowheads="1"/>
          </p:cNvSpPr>
          <p:nvPr userDrawn="1"/>
        </p:nvSpPr>
        <p:spPr bwMode="auto">
          <a:xfrm>
            <a:off x="431800"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3" name="Rectangle 14"/>
          <p:cNvSpPr>
            <a:spLocks noChangeArrowheads="1"/>
          </p:cNvSpPr>
          <p:nvPr userDrawn="1"/>
        </p:nvSpPr>
        <p:spPr bwMode="auto">
          <a:xfrm>
            <a:off x="3310467"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4" name="Rectangle 15"/>
          <p:cNvSpPr>
            <a:spLocks noChangeArrowheads="1"/>
          </p:cNvSpPr>
          <p:nvPr userDrawn="1"/>
        </p:nvSpPr>
        <p:spPr bwMode="auto">
          <a:xfrm>
            <a:off x="6191251"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5" name="Rectangle 16"/>
          <p:cNvSpPr>
            <a:spLocks noChangeArrowheads="1"/>
          </p:cNvSpPr>
          <p:nvPr userDrawn="1"/>
        </p:nvSpPr>
        <p:spPr bwMode="auto">
          <a:xfrm>
            <a:off x="9069917"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2" name="Titel 1"/>
          <p:cNvSpPr>
            <a:spLocks noGrp="1"/>
          </p:cNvSpPr>
          <p:nvPr>
            <p:ph type="title"/>
          </p:nvPr>
        </p:nvSpPr>
        <p:spPr>
          <a:xfrm>
            <a:off x="432001" y="1080000"/>
            <a:ext cx="11323407" cy="576000"/>
          </a:xfrm>
        </p:spPr>
        <p:txBody>
          <a:bodyPr lIns="0"/>
          <a:lstStyle/>
          <a:p>
            <a:r>
              <a:rPr lang="de-DE"/>
              <a:t>Mastertitelformat bearbeiten</a:t>
            </a:r>
            <a:endParaRPr lang="de-DE" dirty="0"/>
          </a:p>
        </p:txBody>
      </p:sp>
      <p:sp>
        <p:nvSpPr>
          <p:cNvPr id="16" name="Foliennummernplatzhalter 5"/>
          <p:cNvSpPr>
            <a:spLocks noGrp="1"/>
          </p:cNvSpPr>
          <p:nvPr>
            <p:ph type="sldNum" sz="quarter" idx="10"/>
          </p:nvPr>
        </p:nvSpPr>
        <p:spPr/>
        <p:txBody>
          <a:bodyPr/>
          <a:lstStyle>
            <a:lvl1pPr>
              <a:defRPr/>
            </a:lvl1pPr>
          </a:lstStyle>
          <a:p>
            <a:pPr>
              <a:defRPr/>
            </a:pPr>
            <a:fld id="{44477509-71AF-1442-AA36-4D80324E8263}" type="slidenum">
              <a:rPr lang="de-DE" altLang="de-DE"/>
              <a:pPr>
                <a:defRPr/>
              </a:pPr>
              <a:t>‹Nr.›</a:t>
            </a:fld>
            <a:endParaRPr lang="de-DE" altLang="de-DE"/>
          </a:p>
        </p:txBody>
      </p:sp>
      <p:sp>
        <p:nvSpPr>
          <p:cNvPr id="18" name="Textplatzhalter 17"/>
          <p:cNvSpPr>
            <a:spLocks noGrp="1"/>
          </p:cNvSpPr>
          <p:nvPr>
            <p:ph type="body" sz="quarter" idx="11" hasCustomPrompt="1"/>
          </p:nvPr>
        </p:nvSpPr>
        <p:spPr>
          <a:xfrm>
            <a:off x="431801" y="1620001"/>
            <a:ext cx="11324167" cy="681037"/>
          </a:xfrm>
        </p:spPr>
        <p:txBody>
          <a:bodyPr/>
          <a:lstStyle>
            <a:lvl1pPr marL="0" indent="0">
              <a:buNone/>
              <a:defRPr/>
            </a:lvl1pPr>
          </a:lstStyle>
          <a:p>
            <a:pPr lvl="0"/>
            <a:r>
              <a:rPr lang="de-DE" altLang="de-DE" sz="1800" dirty="0">
                <a:latin typeface="Arial" charset="0"/>
                <a:ea typeface="MS PGothic" charset="-128"/>
                <a:cs typeface="Arial" charset="0"/>
              </a:rPr>
              <a:t>Textfeld</a:t>
            </a:r>
            <a:endParaRPr lang="de-DE" dirty="0"/>
          </a:p>
        </p:txBody>
      </p:sp>
      <p:sp>
        <p:nvSpPr>
          <p:cNvPr id="20" name="Textplatzhalter 18"/>
          <p:cNvSpPr>
            <a:spLocks noGrp="1"/>
          </p:cNvSpPr>
          <p:nvPr>
            <p:ph type="body" sz="quarter" idx="12"/>
          </p:nvPr>
        </p:nvSpPr>
        <p:spPr>
          <a:xfrm>
            <a:off x="719667" y="2275200"/>
            <a:ext cx="2015960" cy="649744"/>
          </a:xfrm>
        </p:spPr>
        <p:txBody>
          <a:bodyPr/>
          <a:lstStyle>
            <a:lvl1pPr marL="0" indent="0">
              <a:buFontTx/>
              <a:buNone/>
              <a:defRPr sz="1600" b="1">
                <a:solidFill>
                  <a:schemeClr val="bg1"/>
                </a:solidFill>
              </a:defRPr>
            </a:lvl1pPr>
          </a:lstStyle>
          <a:p>
            <a:pPr lvl="0"/>
            <a:endParaRPr lang="de-DE" dirty="0"/>
          </a:p>
        </p:txBody>
      </p:sp>
      <p:sp>
        <p:nvSpPr>
          <p:cNvPr id="21" name="Textplatzhalter 24"/>
          <p:cNvSpPr>
            <a:spLocks noGrp="1"/>
          </p:cNvSpPr>
          <p:nvPr>
            <p:ph type="body" sz="quarter" idx="18" hasCustomPrompt="1"/>
          </p:nvPr>
        </p:nvSpPr>
        <p:spPr>
          <a:xfrm>
            <a:off x="719668" y="2700000"/>
            <a:ext cx="20159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2" name="Textplatzhalter 18"/>
          <p:cNvSpPr>
            <a:spLocks noGrp="1"/>
          </p:cNvSpPr>
          <p:nvPr>
            <p:ph type="body" sz="quarter" idx="13"/>
          </p:nvPr>
        </p:nvSpPr>
        <p:spPr>
          <a:xfrm>
            <a:off x="360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3" name="Textplatzhalter 24"/>
          <p:cNvSpPr>
            <a:spLocks noGrp="1"/>
          </p:cNvSpPr>
          <p:nvPr>
            <p:ph type="body" sz="quarter" idx="19" hasCustomPrompt="1"/>
          </p:nvPr>
        </p:nvSpPr>
        <p:spPr>
          <a:xfrm>
            <a:off x="3600000" y="2700000"/>
            <a:ext cx="22797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4" name="Textplatzhalter 18"/>
          <p:cNvSpPr>
            <a:spLocks noGrp="1"/>
          </p:cNvSpPr>
          <p:nvPr>
            <p:ph type="body" sz="quarter" idx="14"/>
          </p:nvPr>
        </p:nvSpPr>
        <p:spPr>
          <a:xfrm>
            <a:off x="648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5" name="Textplatzhalter 24"/>
          <p:cNvSpPr>
            <a:spLocks noGrp="1"/>
          </p:cNvSpPr>
          <p:nvPr>
            <p:ph type="body" sz="quarter" idx="20" hasCustomPrompt="1"/>
          </p:nvPr>
        </p:nvSpPr>
        <p:spPr>
          <a:xfrm>
            <a:off x="6480000" y="270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6" name="Textplatzhalter 18"/>
          <p:cNvSpPr>
            <a:spLocks noGrp="1"/>
          </p:cNvSpPr>
          <p:nvPr>
            <p:ph type="body" sz="quarter" idx="21"/>
          </p:nvPr>
        </p:nvSpPr>
        <p:spPr>
          <a:xfrm>
            <a:off x="9361124" y="2271781"/>
            <a:ext cx="2015960" cy="649744"/>
          </a:xfrm>
        </p:spPr>
        <p:txBody>
          <a:bodyPr/>
          <a:lstStyle>
            <a:lvl1pPr marL="0" indent="0">
              <a:buFontTx/>
              <a:buNone/>
              <a:defRPr sz="1600" b="1">
                <a:solidFill>
                  <a:schemeClr val="bg1"/>
                </a:solidFill>
              </a:defRPr>
            </a:lvl1pPr>
          </a:lstStyle>
          <a:p>
            <a:pPr lvl="0"/>
            <a:endParaRPr lang="de-DE" dirty="0"/>
          </a:p>
        </p:txBody>
      </p:sp>
      <p:sp>
        <p:nvSpPr>
          <p:cNvPr id="27" name="Textplatzhalter 24"/>
          <p:cNvSpPr>
            <a:spLocks noGrp="1"/>
          </p:cNvSpPr>
          <p:nvPr>
            <p:ph type="body" sz="quarter" idx="22" hasCustomPrompt="1"/>
          </p:nvPr>
        </p:nvSpPr>
        <p:spPr>
          <a:xfrm>
            <a:off x="9361124" y="2696581"/>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8" name="Textplatzhalter 18"/>
          <p:cNvSpPr>
            <a:spLocks noGrp="1"/>
          </p:cNvSpPr>
          <p:nvPr>
            <p:ph type="body" sz="quarter" idx="15"/>
          </p:nvPr>
        </p:nvSpPr>
        <p:spPr>
          <a:xfrm>
            <a:off x="72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9" name="Textplatzhalter 24"/>
          <p:cNvSpPr>
            <a:spLocks noGrp="1"/>
          </p:cNvSpPr>
          <p:nvPr>
            <p:ph type="body" sz="quarter" idx="23" hasCustomPrompt="1"/>
          </p:nvPr>
        </p:nvSpPr>
        <p:spPr>
          <a:xfrm>
            <a:off x="719667" y="4896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0" name="Textplatzhalter 18"/>
          <p:cNvSpPr>
            <a:spLocks noGrp="1"/>
          </p:cNvSpPr>
          <p:nvPr>
            <p:ph type="body" sz="quarter" idx="16"/>
          </p:nvPr>
        </p:nvSpPr>
        <p:spPr>
          <a:xfrm>
            <a:off x="3600000" y="4435200"/>
            <a:ext cx="2015960" cy="649744"/>
          </a:xfrm>
        </p:spPr>
        <p:txBody>
          <a:bodyPr/>
          <a:lstStyle>
            <a:lvl1pPr marL="0" indent="0">
              <a:buFontTx/>
              <a:buNone/>
              <a:defRPr sz="1600" b="1">
                <a:solidFill>
                  <a:schemeClr val="bg1"/>
                </a:solidFill>
              </a:defRPr>
            </a:lvl1pPr>
          </a:lstStyle>
          <a:p>
            <a:pPr lvl="0"/>
            <a:endParaRPr lang="de-DE" dirty="0"/>
          </a:p>
        </p:txBody>
      </p:sp>
      <p:sp>
        <p:nvSpPr>
          <p:cNvPr id="31" name="Textplatzhalter 24"/>
          <p:cNvSpPr>
            <a:spLocks noGrp="1"/>
          </p:cNvSpPr>
          <p:nvPr>
            <p:ph type="body" sz="quarter" idx="24" hasCustomPrompt="1"/>
          </p:nvPr>
        </p:nvSpPr>
        <p:spPr>
          <a:xfrm>
            <a:off x="360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2" name="Textplatzhalter 18"/>
          <p:cNvSpPr>
            <a:spLocks noGrp="1"/>
          </p:cNvSpPr>
          <p:nvPr>
            <p:ph type="body" sz="quarter" idx="17"/>
          </p:nvPr>
        </p:nvSpPr>
        <p:spPr>
          <a:xfrm>
            <a:off x="6480000" y="4435200"/>
            <a:ext cx="2015960" cy="649744"/>
          </a:xfrm>
        </p:spPr>
        <p:txBody>
          <a:bodyPr/>
          <a:lstStyle>
            <a:lvl1pPr marL="0" indent="0">
              <a:buFontTx/>
              <a:buNone/>
              <a:defRPr sz="1600" b="1">
                <a:solidFill>
                  <a:schemeClr val="bg1"/>
                </a:solidFill>
              </a:defRPr>
            </a:lvl1pPr>
          </a:lstStyle>
          <a:p>
            <a:pPr lvl="0"/>
            <a:endParaRPr lang="de-DE" dirty="0"/>
          </a:p>
        </p:txBody>
      </p:sp>
      <p:sp>
        <p:nvSpPr>
          <p:cNvPr id="33" name="Textplatzhalter 24"/>
          <p:cNvSpPr>
            <a:spLocks noGrp="1"/>
          </p:cNvSpPr>
          <p:nvPr>
            <p:ph type="body" sz="quarter" idx="25" hasCustomPrompt="1"/>
          </p:nvPr>
        </p:nvSpPr>
        <p:spPr>
          <a:xfrm>
            <a:off x="648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4" name="Textplatzhalter 18"/>
          <p:cNvSpPr>
            <a:spLocks noGrp="1"/>
          </p:cNvSpPr>
          <p:nvPr>
            <p:ph type="body" sz="quarter" idx="26"/>
          </p:nvPr>
        </p:nvSpPr>
        <p:spPr>
          <a:xfrm>
            <a:off x="9361124" y="4435200"/>
            <a:ext cx="2015960" cy="649744"/>
          </a:xfrm>
        </p:spPr>
        <p:txBody>
          <a:bodyPr/>
          <a:lstStyle>
            <a:lvl1pPr marL="0" indent="0">
              <a:buFontTx/>
              <a:buNone/>
              <a:defRPr sz="1600" b="1">
                <a:solidFill>
                  <a:schemeClr val="bg1"/>
                </a:solidFill>
              </a:defRPr>
            </a:lvl1pPr>
          </a:lstStyle>
          <a:p>
            <a:pPr lvl="0"/>
            <a:endParaRPr lang="de-DE" dirty="0"/>
          </a:p>
        </p:txBody>
      </p:sp>
      <p:sp>
        <p:nvSpPr>
          <p:cNvPr id="35" name="Textplatzhalter 24"/>
          <p:cNvSpPr>
            <a:spLocks noGrp="1"/>
          </p:cNvSpPr>
          <p:nvPr>
            <p:ph type="body" sz="quarter" idx="27" hasCustomPrompt="1"/>
          </p:nvPr>
        </p:nvSpPr>
        <p:spPr>
          <a:xfrm>
            <a:off x="9361124"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32001" y="1080000"/>
            <a:ext cx="11323407" cy="576000"/>
          </a:xfrm>
        </p:spPr>
        <p:txBody>
          <a:bodyPr lIns="0"/>
          <a:lstStyle/>
          <a:p>
            <a:r>
              <a:rPr lang="de-DE"/>
              <a:t>Mastertitelformat bearbeiten</a:t>
            </a:r>
          </a:p>
        </p:txBody>
      </p:sp>
      <p:sp>
        <p:nvSpPr>
          <p:cNvPr id="3" name="Inhaltsplatzhalter 2"/>
          <p:cNvSpPr>
            <a:spLocks noGrp="1"/>
          </p:cNvSpPr>
          <p:nvPr>
            <p:ph sz="half" idx="1"/>
          </p:nvPr>
        </p:nvSpPr>
        <p:spPr>
          <a:xfrm>
            <a:off x="432000" y="1620000"/>
            <a:ext cx="5444144" cy="46172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6255895" y="1620000"/>
            <a:ext cx="5408724" cy="46172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oliennummernplatzhalter 5"/>
          <p:cNvSpPr>
            <a:spLocks noGrp="1"/>
          </p:cNvSpPr>
          <p:nvPr>
            <p:ph type="sldNum" sz="quarter" idx="10"/>
          </p:nvPr>
        </p:nvSpPr>
        <p:spPr/>
        <p:txBody>
          <a:bodyPr/>
          <a:lstStyle>
            <a:lvl1pPr>
              <a:defRPr/>
            </a:lvl1pPr>
          </a:lstStyle>
          <a:p>
            <a:pPr>
              <a:defRPr/>
            </a:pPr>
            <a:fld id="{E6315162-6469-F349-9026-AA5216DF4595}" type="slidenum">
              <a:rPr lang="de-DE" altLang="de-DE"/>
              <a:pPr>
                <a:defRPr/>
              </a:pPr>
              <a:t>‹Nr.›</a:t>
            </a:fld>
            <a:endParaRPr lang="de-DE" altLang="de-DE"/>
          </a:p>
        </p:txBody>
      </p:sp>
    </p:spTree>
    <p:extLst>
      <p:ext uri="{BB962C8B-B14F-4D97-AF65-F5344CB8AC3E}">
        <p14:creationId xmlns:p14="http://schemas.microsoft.com/office/powerpoint/2010/main" val="1912198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ufzählungsfeld+Bild">
    <p:spTree>
      <p:nvGrpSpPr>
        <p:cNvPr id="1" name=""/>
        <p:cNvGrpSpPr/>
        <p:nvPr/>
      </p:nvGrpSpPr>
      <p:grpSpPr>
        <a:xfrm>
          <a:off x="0" y="0"/>
          <a:ext cx="0" cy="0"/>
          <a:chOff x="0" y="0"/>
          <a:chExt cx="0" cy="0"/>
        </a:xfrm>
      </p:grpSpPr>
      <p:sp>
        <p:nvSpPr>
          <p:cNvPr id="5" name="Bildplatzhalter 4"/>
          <p:cNvSpPr>
            <a:spLocks noGrp="1"/>
          </p:cNvSpPr>
          <p:nvPr>
            <p:ph type="pic" sz="quarter" idx="11"/>
          </p:nvPr>
        </p:nvSpPr>
        <p:spPr>
          <a:xfrm>
            <a:off x="8132234" y="1620001"/>
            <a:ext cx="3526367" cy="4617288"/>
          </a:xfrm>
        </p:spPr>
        <p:txBody>
          <a:bodyPr/>
          <a:lstStyle>
            <a:lvl1pPr marL="0" indent="0">
              <a:buFontTx/>
              <a:buNone/>
              <a:defRPr/>
            </a:lvl1pPr>
          </a:lstStyle>
          <a:p>
            <a:endParaRPr lang="de-DE" dirty="0"/>
          </a:p>
        </p:txBody>
      </p:sp>
      <p:sp>
        <p:nvSpPr>
          <p:cNvPr id="3" name="Inhaltsplatzhalter 2"/>
          <p:cNvSpPr>
            <a:spLocks noGrp="1"/>
          </p:cNvSpPr>
          <p:nvPr>
            <p:ph idx="1"/>
          </p:nvPr>
        </p:nvSpPr>
        <p:spPr>
          <a:xfrm>
            <a:off x="432000" y="1620000"/>
            <a:ext cx="7512787" cy="4617288"/>
          </a:xfrm>
        </p:spPr>
        <p:txBody>
          <a:bodyPr lIns="0"/>
          <a:lstStyle>
            <a:lvl1pPr>
              <a:defRPr sz="1800">
                <a:solidFill>
                  <a:srgbClr val="4A5C66"/>
                </a:solidFill>
                <a:latin typeface="Arial" pitchFamily="34" charset="0"/>
                <a:cs typeface="Arial" pitchFamily="34" charset="0"/>
              </a:defRPr>
            </a:lvl1pPr>
            <a:lvl2pPr>
              <a:defRPr sz="1800">
                <a:solidFill>
                  <a:srgbClr val="4A5C66"/>
                </a:solidFill>
                <a:latin typeface="Arial" pitchFamily="34" charset="0"/>
                <a:cs typeface="Arial" pitchFamily="34" charset="0"/>
              </a:defRPr>
            </a:lvl2pPr>
            <a:lvl3pPr>
              <a:defRPr sz="1800">
                <a:solidFill>
                  <a:srgbClr val="4A5C66"/>
                </a:solidFill>
                <a:latin typeface="Arial" pitchFamily="34" charset="0"/>
                <a:cs typeface="Arial" pitchFamily="34" charset="0"/>
              </a:defRPr>
            </a:lvl3pPr>
            <a:lvl4pPr>
              <a:defRPr sz="1800">
                <a:solidFill>
                  <a:srgbClr val="4A5C66"/>
                </a:solidFill>
                <a:latin typeface="Arial" pitchFamily="34" charset="0"/>
                <a:cs typeface="Arial" pitchFamily="34" charset="0"/>
              </a:defRPr>
            </a:lvl4pPr>
            <a:lvl5pPr>
              <a:defRPr sz="1800">
                <a:solidFill>
                  <a:srgbClr val="4A5C66"/>
                </a:solidFill>
                <a:latin typeface="Arial" pitchFamily="34" charset="0"/>
                <a:cs typeface="Arial" pitchFamily="34"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 9"/>
          <p:cNvSpPr>
            <a:spLocks noGrp="1"/>
          </p:cNvSpPr>
          <p:nvPr>
            <p:ph type="title"/>
          </p:nvPr>
        </p:nvSpPr>
        <p:spPr>
          <a:xfrm>
            <a:off x="432000" y="1080000"/>
            <a:ext cx="11227200" cy="576000"/>
          </a:xfrm>
        </p:spPr>
        <p:txBody>
          <a:bodyPr lIns="0"/>
          <a:lstStyle>
            <a:lvl1pPr>
              <a:defRPr sz="2200"/>
            </a:lvl1pPr>
          </a:lstStyle>
          <a:p>
            <a:r>
              <a:rPr lang="de-DE" dirty="0"/>
              <a:t>Mastertitelformat bearbeiten</a:t>
            </a:r>
          </a:p>
        </p:txBody>
      </p:sp>
      <p:sp>
        <p:nvSpPr>
          <p:cNvPr id="4" name="Foliennummernplatzhalter 5"/>
          <p:cNvSpPr>
            <a:spLocks noGrp="1"/>
          </p:cNvSpPr>
          <p:nvPr>
            <p:ph type="sldNum" sz="quarter" idx="10"/>
          </p:nvPr>
        </p:nvSpPr>
        <p:spPr/>
        <p:txBody>
          <a:bodyPr/>
          <a:lstStyle>
            <a:lvl1pPr>
              <a:defRPr/>
            </a:lvl1pPr>
          </a:lstStyle>
          <a:p>
            <a:pPr>
              <a:defRPr/>
            </a:pPr>
            <a:fld id="{5D6CBC89-780D-6F43-A4AF-E4A7285D6779}" type="slidenum">
              <a:rPr lang="de-DE" altLang="de-DE"/>
              <a:pPr>
                <a:defRPr/>
              </a:pPr>
              <a:t>‹Nr.›</a:t>
            </a:fld>
            <a:endParaRPr lang="de-DE" altLang="de-DE"/>
          </a:p>
        </p:txBody>
      </p:sp>
    </p:spTree>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feld+Aufzählungsfeld+Bild">
    <p:spTree>
      <p:nvGrpSpPr>
        <p:cNvPr id="1" name=""/>
        <p:cNvGrpSpPr/>
        <p:nvPr/>
      </p:nvGrpSpPr>
      <p:grpSpPr>
        <a:xfrm>
          <a:off x="0" y="0"/>
          <a:ext cx="0" cy="0"/>
          <a:chOff x="0" y="0"/>
          <a:chExt cx="0" cy="0"/>
        </a:xfrm>
      </p:grpSpPr>
      <p:sp>
        <p:nvSpPr>
          <p:cNvPr id="5" name="Bildplatzhalter 4"/>
          <p:cNvSpPr>
            <a:spLocks noGrp="1"/>
          </p:cNvSpPr>
          <p:nvPr>
            <p:ph type="pic" sz="quarter" idx="11"/>
          </p:nvPr>
        </p:nvSpPr>
        <p:spPr>
          <a:xfrm>
            <a:off x="8132234" y="1620001"/>
            <a:ext cx="3526367" cy="4617288"/>
          </a:xfrm>
        </p:spPr>
        <p:txBody>
          <a:bodyPr/>
          <a:lstStyle>
            <a:lvl1pPr marL="0" indent="0">
              <a:buFontTx/>
              <a:buNone/>
              <a:defRPr/>
            </a:lvl1pPr>
          </a:lstStyle>
          <a:p>
            <a:endParaRPr lang="de-DE" dirty="0"/>
          </a:p>
        </p:txBody>
      </p:sp>
      <p:sp>
        <p:nvSpPr>
          <p:cNvPr id="3" name="Inhaltsplatzhalter 2"/>
          <p:cNvSpPr>
            <a:spLocks noGrp="1"/>
          </p:cNvSpPr>
          <p:nvPr>
            <p:ph idx="1"/>
          </p:nvPr>
        </p:nvSpPr>
        <p:spPr>
          <a:xfrm>
            <a:off x="432000" y="3060000"/>
            <a:ext cx="7512787" cy="3177288"/>
          </a:xfrm>
        </p:spPr>
        <p:txBody>
          <a:bodyPr lIns="0"/>
          <a:lstStyle>
            <a:lvl1pPr>
              <a:defRPr sz="1800">
                <a:solidFill>
                  <a:srgbClr val="4A5C66"/>
                </a:solidFill>
                <a:latin typeface="Arial" pitchFamily="34" charset="0"/>
                <a:cs typeface="Arial" pitchFamily="34" charset="0"/>
              </a:defRPr>
            </a:lvl1pPr>
            <a:lvl2pPr>
              <a:defRPr sz="1800">
                <a:solidFill>
                  <a:srgbClr val="4A5C66"/>
                </a:solidFill>
                <a:latin typeface="Arial" pitchFamily="34" charset="0"/>
                <a:cs typeface="Arial" pitchFamily="34" charset="0"/>
              </a:defRPr>
            </a:lvl2pPr>
            <a:lvl3pPr>
              <a:defRPr sz="1800">
                <a:solidFill>
                  <a:srgbClr val="4A5C66"/>
                </a:solidFill>
                <a:latin typeface="Arial" pitchFamily="34" charset="0"/>
                <a:cs typeface="Arial" pitchFamily="34" charset="0"/>
              </a:defRPr>
            </a:lvl3pPr>
            <a:lvl4pPr>
              <a:defRPr sz="1800">
                <a:solidFill>
                  <a:srgbClr val="4A5C66"/>
                </a:solidFill>
                <a:latin typeface="Arial" pitchFamily="34" charset="0"/>
                <a:cs typeface="Arial" pitchFamily="34" charset="0"/>
              </a:defRPr>
            </a:lvl4pPr>
            <a:lvl5pPr>
              <a:defRPr sz="1800">
                <a:solidFill>
                  <a:srgbClr val="4A5C66"/>
                </a:solidFill>
                <a:latin typeface="Arial" pitchFamily="34" charset="0"/>
                <a:cs typeface="Arial" pitchFamily="34"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 9"/>
          <p:cNvSpPr>
            <a:spLocks noGrp="1"/>
          </p:cNvSpPr>
          <p:nvPr>
            <p:ph type="title"/>
          </p:nvPr>
        </p:nvSpPr>
        <p:spPr>
          <a:xfrm>
            <a:off x="432000" y="1080000"/>
            <a:ext cx="11227200" cy="576000"/>
          </a:xfrm>
        </p:spPr>
        <p:txBody>
          <a:bodyPr lIns="0"/>
          <a:lstStyle>
            <a:lvl1pPr>
              <a:defRPr sz="2200"/>
            </a:lvl1pPr>
          </a:lstStyle>
          <a:p>
            <a:r>
              <a:rPr lang="de-DE" dirty="0"/>
              <a:t>Mastertitelformat bearbeiten</a:t>
            </a:r>
          </a:p>
        </p:txBody>
      </p:sp>
      <p:sp>
        <p:nvSpPr>
          <p:cNvPr id="4" name="Foliennummernplatzhalter 5"/>
          <p:cNvSpPr>
            <a:spLocks noGrp="1"/>
          </p:cNvSpPr>
          <p:nvPr>
            <p:ph type="sldNum" sz="quarter" idx="10"/>
          </p:nvPr>
        </p:nvSpPr>
        <p:spPr/>
        <p:txBody>
          <a:bodyPr/>
          <a:lstStyle>
            <a:lvl1pPr>
              <a:defRPr/>
            </a:lvl1pPr>
          </a:lstStyle>
          <a:p>
            <a:pPr>
              <a:defRPr/>
            </a:pPr>
            <a:fld id="{5D6CBC89-780D-6F43-A4AF-E4A7285D6779}" type="slidenum">
              <a:rPr lang="de-DE" altLang="de-DE"/>
              <a:pPr>
                <a:defRPr/>
              </a:pPr>
              <a:t>‹Nr.›</a:t>
            </a:fld>
            <a:endParaRPr lang="de-DE" altLang="de-DE"/>
          </a:p>
        </p:txBody>
      </p:sp>
      <p:sp>
        <p:nvSpPr>
          <p:cNvPr id="11" name="Textplatzhalter 10"/>
          <p:cNvSpPr>
            <a:spLocks noGrp="1"/>
          </p:cNvSpPr>
          <p:nvPr>
            <p:ph type="body" sz="quarter" idx="12"/>
          </p:nvPr>
        </p:nvSpPr>
        <p:spPr>
          <a:xfrm>
            <a:off x="431799" y="1620001"/>
            <a:ext cx="8352500" cy="1431925"/>
          </a:xfrm>
        </p:spPr>
        <p:txBody>
          <a:bodyPr/>
          <a:lstStyle>
            <a:lvl1pPr marL="0" indent="0">
              <a:buFontTx/>
              <a:buNone/>
              <a:defRPr/>
            </a:lvl1pPr>
            <a:lvl2pPr marL="266700" indent="0">
              <a:buNone/>
              <a:defRPr/>
            </a:lvl2pPr>
            <a:lvl3pPr marL="542925" indent="0">
              <a:buNone/>
              <a:defRPr/>
            </a:lvl3pPr>
            <a:lvl4pPr marL="809625" indent="0">
              <a:buNone/>
              <a:defRPr/>
            </a:lvl4pPr>
            <a:lvl5pPr marL="1076325" indent="0">
              <a:buNone/>
              <a:defRPr/>
            </a:lvl5pPr>
          </a:lstStyle>
          <a:p>
            <a:pPr lvl="0"/>
            <a:r>
              <a:rPr lang="de-DE" dirty="0"/>
              <a:t>Mastertextformat bearbeiten</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elplatzhalter 1"/>
          <p:cNvSpPr>
            <a:spLocks noGrp="1"/>
          </p:cNvSpPr>
          <p:nvPr>
            <p:ph type="title"/>
          </p:nvPr>
        </p:nvSpPr>
        <p:spPr bwMode="auto">
          <a:xfrm>
            <a:off x="432001" y="1080000"/>
            <a:ext cx="1132416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0" bIns="45720" numCol="1" anchor="t" anchorCtr="0" compatLnSpc="1">
            <a:prstTxWarp prst="textNoShape">
              <a:avLst/>
            </a:prstTxWarp>
          </a:bodyPr>
          <a:lstStyle/>
          <a:p>
            <a:pPr lvl="0"/>
            <a:r>
              <a:rPr lang="de-DE" altLang="de-DE" dirty="0"/>
              <a:t>Titelmasterformat durch Klicken bearbeiten</a:t>
            </a:r>
          </a:p>
        </p:txBody>
      </p:sp>
      <p:sp>
        <p:nvSpPr>
          <p:cNvPr id="1027" name="Textplatzhalter 2"/>
          <p:cNvSpPr>
            <a:spLocks noGrp="1"/>
          </p:cNvSpPr>
          <p:nvPr>
            <p:ph type="body" idx="1"/>
          </p:nvPr>
        </p:nvSpPr>
        <p:spPr bwMode="auto">
          <a:xfrm>
            <a:off x="432000" y="1620001"/>
            <a:ext cx="1133051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2"/>
            <a:r>
              <a:rPr lang="de-DE" altLang="de-DE" dirty="0"/>
              <a:t>Dritte Ebene</a:t>
            </a:r>
          </a:p>
          <a:p>
            <a:pPr lvl="3"/>
            <a:r>
              <a:rPr lang="de-DE" altLang="de-DE" dirty="0"/>
              <a:t>Vierte Ebene</a:t>
            </a:r>
          </a:p>
          <a:p>
            <a:pPr lvl="4"/>
            <a:r>
              <a:rPr lang="de-DE" altLang="de-DE" dirty="0"/>
              <a:t>Fünfte Ebene</a:t>
            </a:r>
          </a:p>
        </p:txBody>
      </p:sp>
      <p:sp>
        <p:nvSpPr>
          <p:cNvPr id="1028"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6" name="Foliennummernplatzhalter 5"/>
          <p:cNvSpPr>
            <a:spLocks noGrp="1"/>
          </p:cNvSpPr>
          <p:nvPr>
            <p:ph type="sldNum" sz="quarter" idx="4"/>
          </p:nvPr>
        </p:nvSpPr>
        <p:spPr>
          <a:xfrm>
            <a:off x="11184467" y="6546850"/>
            <a:ext cx="637117" cy="26670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a:solidFill>
                  <a:schemeClr val="bg1"/>
                </a:solidFill>
                <a:latin typeface="Arial" charset="0"/>
              </a:defRPr>
            </a:lvl1pPr>
          </a:lstStyle>
          <a:p>
            <a:pPr>
              <a:defRPr/>
            </a:pPr>
            <a:fld id="{2866142A-AFED-1443-8B06-6463BAB2C889}" type="slidenum">
              <a:rPr lang="de-DE" altLang="de-DE"/>
              <a:pPr>
                <a:defRPr/>
              </a:pPr>
              <a:t>‹Nr.›</a:t>
            </a:fld>
            <a:endParaRPr lang="de-DE" altLang="de-DE"/>
          </a:p>
        </p:txBody>
      </p:sp>
      <p:sp>
        <p:nvSpPr>
          <p:cNvPr id="1032"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1033"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12" name="Picture 2">
            <a:extLst>
              <a:ext uri="{FF2B5EF4-FFF2-40B4-BE49-F238E27FC236}">
                <a16:creationId xmlns:a16="http://schemas.microsoft.com/office/drawing/2014/main" id="{4D50FC33-BA03-D341-83A0-35E637362E22}"/>
              </a:ext>
            </a:extLst>
          </p:cNvPr>
          <p:cNvPicPr>
            <a:picLocks noChangeAspect="1" noChangeArrowheads="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p:blipFill>
        <p:spPr bwMode="auto">
          <a:xfrm>
            <a:off x="442800" y="360000"/>
            <a:ext cx="4260555" cy="5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4" name="Grafik 3">
            <a:extLst>
              <a:ext uri="{FF2B5EF4-FFF2-40B4-BE49-F238E27FC236}">
                <a16:creationId xmlns:a16="http://schemas.microsoft.com/office/drawing/2014/main" id="{C572C864-C096-EE45-8500-19995A117EE6}"/>
              </a:ext>
            </a:extLst>
          </p:cNvPr>
          <p:cNvPicPr>
            <a:picLocks noChangeAspect="1"/>
          </p:cNvPicPr>
          <p:nvPr userDrawn="1"/>
        </p:nvPicPr>
        <p:blipFill>
          <a:blip r:embed="rId20"/>
          <a:stretch>
            <a:fillRect/>
          </a:stretch>
        </p:blipFill>
        <p:spPr>
          <a:xfrm>
            <a:off x="432000" y="6625975"/>
            <a:ext cx="1976118" cy="104006"/>
          </a:xfrm>
          <a:prstGeom prst="rect">
            <a:avLst/>
          </a:prstGeom>
        </p:spPr>
      </p:pic>
    </p:spTree>
  </p:cSld>
  <p:clrMap bg1="lt1" tx1="dk1" bg2="lt2" tx2="dk2" accent1="accent1" accent2="accent2" accent3="accent3" accent4="accent4" accent5="accent5" accent6="accent6" hlink="hlink" folHlink="folHlink"/>
  <p:sldLayoutIdLst>
    <p:sldLayoutId id="2147484414" r:id="rId1"/>
    <p:sldLayoutId id="2147484427" r:id="rId2"/>
    <p:sldLayoutId id="2147484413" r:id="rId3"/>
    <p:sldLayoutId id="2147484415" r:id="rId4"/>
    <p:sldLayoutId id="2147484405" r:id="rId5"/>
    <p:sldLayoutId id="2147484426" r:id="rId6"/>
    <p:sldLayoutId id="2147484423" r:id="rId7"/>
    <p:sldLayoutId id="2147484420" r:id="rId8"/>
    <p:sldLayoutId id="2147484421" r:id="rId9"/>
    <p:sldLayoutId id="2147484406" r:id="rId10"/>
    <p:sldLayoutId id="2147484416" r:id="rId11"/>
    <p:sldLayoutId id="2147484417" r:id="rId12"/>
    <p:sldLayoutId id="2147484424" r:id="rId13"/>
    <p:sldLayoutId id="2147484407" r:id="rId14"/>
    <p:sldLayoutId id="2147484425" r:id="rId15"/>
    <p:sldLayoutId id="2147484422" r:id="rId16"/>
  </p:sldLayoutIdLst>
  <p:hf hdr="0" ftr="0" dt="0"/>
  <p:txStyles>
    <p:titleStyle>
      <a:lvl1pPr algn="l" rtl="0" eaLnBrk="1" fontAlgn="base" hangingPunct="1">
        <a:spcBef>
          <a:spcPct val="0"/>
        </a:spcBef>
        <a:spcAft>
          <a:spcPct val="0"/>
        </a:spcAft>
        <a:defRPr sz="2200" b="1" kern="1200">
          <a:solidFill>
            <a:srgbClr val="4A5C66"/>
          </a:solidFill>
          <a:latin typeface="Arial" pitchFamily="34" charset="0"/>
          <a:ea typeface="MS PGothic" pitchFamily="34" charset="-128"/>
          <a:cs typeface="Arial" pitchFamily="34" charset="0"/>
        </a:defRPr>
      </a:lvl1pPr>
      <a:lvl2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2pPr>
      <a:lvl3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3pPr>
      <a:lvl4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4pPr>
      <a:lvl5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285750" indent="-285750" algn="l" rtl="0" eaLnBrk="1" fontAlgn="base" hangingPunct="1">
        <a:spcBef>
          <a:spcPct val="20000"/>
        </a:spcBef>
        <a:spcAft>
          <a:spcPct val="0"/>
        </a:spcAft>
        <a:buClr>
          <a:srgbClr val="80BA24"/>
        </a:buClr>
        <a:buSzPct val="106000"/>
        <a:buFont typeface="Wingdings" pitchFamily="2" charset="2"/>
        <a:buChar char="§"/>
        <a:defRPr kern="1200">
          <a:solidFill>
            <a:srgbClr val="4A5C66"/>
          </a:solidFill>
          <a:latin typeface="Arial" pitchFamily="34" charset="0"/>
          <a:ea typeface="MS PGothic" pitchFamily="34" charset="-128"/>
          <a:cs typeface="Arial" pitchFamily="34" charset="0"/>
        </a:defRPr>
      </a:lvl1pPr>
      <a:lvl2pPr marL="552450" indent="-285750" algn="l" rtl="0" eaLnBrk="1" fontAlgn="base" hangingPunct="1">
        <a:spcBef>
          <a:spcPct val="20000"/>
        </a:spcBef>
        <a:spcAft>
          <a:spcPct val="0"/>
        </a:spcAft>
        <a:buClr>
          <a:srgbClr val="80BA24"/>
        </a:buClr>
        <a:buSzPct val="90000"/>
        <a:buFont typeface="Wingdings" pitchFamily="2" charset="2"/>
        <a:buChar char="§"/>
        <a:defRPr kern="1200">
          <a:solidFill>
            <a:srgbClr val="4A5C66"/>
          </a:solidFill>
          <a:latin typeface="Arial" pitchFamily="34" charset="0"/>
          <a:ea typeface="Arial" charset="0"/>
          <a:cs typeface="Arial" pitchFamily="34" charset="0"/>
        </a:defRPr>
      </a:lvl2pPr>
      <a:lvl3pPr marL="828675" indent="-285750" algn="l" rtl="0" eaLnBrk="1" fontAlgn="base" hangingPunct="1">
        <a:spcBef>
          <a:spcPct val="20000"/>
        </a:spcBef>
        <a:spcAft>
          <a:spcPct val="0"/>
        </a:spcAft>
        <a:buClr>
          <a:srgbClr val="80BA24"/>
        </a:buClr>
        <a:buSzPct val="80000"/>
        <a:buFont typeface="Wingdings" pitchFamily="2" charset="2"/>
        <a:buChar char="§"/>
        <a:defRPr kern="1200">
          <a:solidFill>
            <a:srgbClr val="4A5C66"/>
          </a:solidFill>
          <a:latin typeface="Arial" pitchFamily="34" charset="0"/>
          <a:ea typeface="Arial" charset="0"/>
          <a:cs typeface="Arial" pitchFamily="34" charset="0"/>
        </a:defRPr>
      </a:lvl3pPr>
      <a:lvl4pPr marL="1095375" indent="-285750" algn="l" rtl="0" eaLnBrk="1" fontAlgn="base" hangingPunct="1">
        <a:spcBef>
          <a:spcPct val="20000"/>
        </a:spcBef>
        <a:spcAft>
          <a:spcPct val="0"/>
        </a:spcAft>
        <a:buClr>
          <a:srgbClr val="80BA24"/>
        </a:buClr>
        <a:buSzPct val="80000"/>
        <a:buFont typeface="Wingdings" pitchFamily="2" charset="2"/>
        <a:buChar char="§"/>
        <a:defRPr kern="1200">
          <a:solidFill>
            <a:srgbClr val="4A5C66"/>
          </a:solidFill>
          <a:latin typeface="Arial" pitchFamily="34" charset="0"/>
          <a:ea typeface="Arial" charset="0"/>
          <a:cs typeface="Arial" pitchFamily="34" charset="0"/>
        </a:defRPr>
      </a:lvl4pPr>
      <a:lvl5pPr marL="1362075" indent="-285750" algn="l" rtl="0" eaLnBrk="1" fontAlgn="base" hangingPunct="1">
        <a:spcBef>
          <a:spcPct val="20000"/>
        </a:spcBef>
        <a:spcAft>
          <a:spcPct val="0"/>
        </a:spcAft>
        <a:buClr>
          <a:srgbClr val="80BA24"/>
        </a:buClr>
        <a:buSzPct val="80000"/>
        <a:buFont typeface="Wingdings" pitchFamily="2" charset="2"/>
        <a:buChar char="§"/>
        <a:defRPr kern="1200">
          <a:solidFill>
            <a:srgbClr val="4A5C66"/>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spcAft>
                <a:spcPts val="600"/>
              </a:spcAft>
            </a:pPr>
            <a:r>
              <a:rPr sz="1800" b="1">
                <a:solidFill>
                  <a:srgbClr val="263238"/>
                </a:solidFill>
              </a:rPr>
              <a:t>Sturzerkennung mit TinyML in einer sensorischen Einlegesohle</a:t>
            </a:r>
          </a:p>
          <a:p>
            <a:pPr>
              <a:spcAft>
                <a:spcPts val="200"/>
              </a:spcAft>
            </a:pPr>
            <a:r>
              <a:rPr sz="1200" b="0">
                <a:solidFill>
                  <a:srgbClr val="4A5C66"/>
                </a:solidFill>
              </a:rPr>
              <a:t>Studienprojekt 2 · Mechatronik (M.Sc.)</a:t>
            </a:r>
          </a:p>
          <a:p>
            <a:pPr>
              <a:spcAft>
                <a:spcPts val="200"/>
              </a:spcAft>
            </a:pPr>
            <a:r>
              <a:rPr sz="1200" b="1">
                <a:solidFill>
                  <a:srgbClr val="263238"/>
                </a:solidFill>
              </a:rPr>
              <a:t>Aly Elbermawy</a:t>
            </a:r>
          </a:p>
          <a:p>
            <a:pPr>
              <a:spcAft>
                <a:spcPts val="200"/>
              </a:spcAft>
            </a:pPr>
            <a:r>
              <a:rPr sz="1100" b="0">
                <a:solidFill>
                  <a:srgbClr val="4A5C66"/>
                </a:solidFill>
              </a:rPr>
              <a:t>Betreuer: Prof. Dr. Sergej Kovalev</a:t>
            </a:r>
          </a:p>
          <a:p>
            <a:pPr>
              <a:spcAft>
                <a:spcPts val="200"/>
              </a:spcAft>
            </a:pPr>
            <a:r>
              <a:rPr sz="1100" b="0">
                <a:solidFill>
                  <a:srgbClr val="4A5C66"/>
                </a:solidFill>
              </a:rPr>
              <a:t>Partner: TrackTech GmbH / Clever-Sole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und Ziel</a:t>
            </a:r>
          </a:p>
        </p:txBody>
      </p:sp>
      <p:sp>
        <p:nvSpPr>
          <p:cNvPr id="4" name="TextBox 3"/>
          <p:cNvSpPr txBox="1"/>
          <p:nvPr/>
        </p:nvSpPr>
        <p:spPr>
          <a:xfrm>
            <a:off x="429768" y="1691640"/>
            <a:ext cx="11247120" cy="1097280"/>
          </a:xfrm>
          <a:prstGeom prst="rect">
            <a:avLst/>
          </a:prstGeom>
          <a:noFill/>
        </p:spPr>
        <p:txBody>
          <a:bodyPr wrap="square" lIns="45720" rIns="45720" tIns="27432" bIns="27432" anchor="t">
            <a:spAutoFit/>
          </a:bodyPr>
          <a:lstStyle/>
          <a:p>
            <a:pPr algn="l">
              <a:spcAft>
                <a:spcPts val="600"/>
              </a:spcAft>
            </a:pPr>
            <a:r>
              <a:rPr sz="1800" b="0" i="0">
                <a:solidFill>
                  <a:srgbClr val="263238"/>
                </a:solidFill>
              </a:rPr>
              <a:t>Nach einem Sturz ist entscheidend, wie lange die Person unbemerkt liegen bleibt. </a:t>
            </a:r>
            <a:r>
              <a:rPr sz="1800" b="1" i="0">
                <a:solidFill>
                  <a:srgbClr val="263238"/>
                </a:solidFill>
              </a:rPr>
              <a:t>Ziel: </a:t>
            </a:r>
            <a:r>
              <a:rPr sz="1800" b="0" i="0">
                <a:solidFill>
                  <a:srgbClr val="263238"/>
                </a:solidFill>
              </a:rPr>
              <a:t>eine Sturzerkennung, die direkt in der Einlegesohle läuft, ohne Smartphone oder Cloud.</a:t>
            </a:r>
          </a:p>
        </p:txBody>
      </p:sp>
      <p:sp>
        <p:nvSpPr>
          <p:cNvPr id="5" name="Rectangle 4"/>
          <p:cNvSpPr/>
          <p:nvPr/>
        </p:nvSpPr>
        <p:spPr>
          <a:xfrm>
            <a:off x="429768" y="3063240"/>
            <a:ext cx="36118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3154680"/>
            <a:ext cx="3337560" cy="731520"/>
          </a:xfrm>
          <a:prstGeom prst="rect">
            <a:avLst/>
          </a:prstGeom>
          <a:noFill/>
        </p:spPr>
        <p:txBody>
          <a:bodyPr wrap="square" lIns="45720" rIns="45720" tIns="27432" bIns="27432" anchor="t">
            <a:spAutoFit/>
          </a:bodyPr>
          <a:lstStyle/>
          <a:p>
            <a:pPr algn="l">
              <a:spcAft>
                <a:spcPts val="600"/>
              </a:spcAft>
            </a:pPr>
            <a:r>
              <a:rPr sz="4000" b="1" i="0">
                <a:solidFill>
                  <a:srgbClr val="80BA24"/>
                </a:solidFill>
              </a:rPr>
              <a:t>6 Achsen</a:t>
            </a:r>
          </a:p>
        </p:txBody>
      </p:sp>
      <p:sp>
        <p:nvSpPr>
          <p:cNvPr id="7" name="TextBox 6"/>
          <p:cNvSpPr txBox="1"/>
          <p:nvPr/>
        </p:nvSpPr>
        <p:spPr>
          <a:xfrm>
            <a:off x="566928" y="3995928"/>
            <a:ext cx="33375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IMU: Beschleunigung + Drehrate</a:t>
            </a:r>
          </a:p>
        </p:txBody>
      </p:sp>
      <p:sp>
        <p:nvSpPr>
          <p:cNvPr id="8" name="Rectangle 7"/>
          <p:cNvSpPr/>
          <p:nvPr/>
        </p:nvSpPr>
        <p:spPr>
          <a:xfrm>
            <a:off x="4224528" y="3063240"/>
            <a:ext cx="36118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361688" y="3154680"/>
            <a:ext cx="3337560" cy="731520"/>
          </a:xfrm>
          <a:prstGeom prst="rect">
            <a:avLst/>
          </a:prstGeom>
          <a:noFill/>
        </p:spPr>
        <p:txBody>
          <a:bodyPr wrap="square" lIns="45720" rIns="45720" tIns="27432" bIns="27432" anchor="t">
            <a:spAutoFit/>
          </a:bodyPr>
          <a:lstStyle/>
          <a:p>
            <a:pPr algn="l">
              <a:spcAft>
                <a:spcPts val="600"/>
              </a:spcAft>
            </a:pPr>
            <a:r>
              <a:rPr sz="4000" b="1" i="0">
                <a:solidFill>
                  <a:srgbClr val="4A5C66"/>
                </a:solidFill>
              </a:rPr>
              <a:t>≈ 80 KB</a:t>
            </a:r>
          </a:p>
        </p:txBody>
      </p:sp>
      <p:sp>
        <p:nvSpPr>
          <p:cNvPr id="10" name="TextBox 9"/>
          <p:cNvSpPr txBox="1"/>
          <p:nvPr/>
        </p:nvSpPr>
        <p:spPr>
          <a:xfrm>
            <a:off x="4361688" y="3995928"/>
            <a:ext cx="33375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int8-Modell auf dem ESP32-C6 (TinyML)</a:t>
            </a:r>
          </a:p>
        </p:txBody>
      </p:sp>
      <p:sp>
        <p:nvSpPr>
          <p:cNvPr id="11" name="Rectangle 10"/>
          <p:cNvSpPr/>
          <p:nvPr/>
        </p:nvSpPr>
        <p:spPr>
          <a:xfrm>
            <a:off x="8019288" y="3063240"/>
            <a:ext cx="36118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56448" y="3154680"/>
            <a:ext cx="3337560" cy="731520"/>
          </a:xfrm>
          <a:prstGeom prst="rect">
            <a:avLst/>
          </a:prstGeom>
          <a:noFill/>
        </p:spPr>
        <p:txBody>
          <a:bodyPr wrap="square" lIns="45720" rIns="45720" tIns="27432" bIns="27432" anchor="t">
            <a:spAutoFit/>
          </a:bodyPr>
          <a:lstStyle/>
          <a:p>
            <a:pPr algn="l">
              <a:spcAft>
                <a:spcPts val="600"/>
              </a:spcAft>
            </a:pPr>
            <a:r>
              <a:rPr sz="4000" b="1" i="0">
                <a:solidFill>
                  <a:srgbClr val="B3263E"/>
                </a:solidFill>
              </a:rPr>
              <a:t>0</a:t>
            </a:r>
          </a:p>
        </p:txBody>
      </p:sp>
      <p:sp>
        <p:nvSpPr>
          <p:cNvPr id="13" name="TextBox 12"/>
          <p:cNvSpPr txBox="1"/>
          <p:nvPr/>
        </p:nvSpPr>
        <p:spPr>
          <a:xfrm>
            <a:off x="8156448" y="3995928"/>
            <a:ext cx="33375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öffentliche Datensätze mit Stürzen an der Sohle</a:t>
            </a:r>
          </a:p>
        </p:txBody>
      </p:sp>
      <p:sp>
        <p:nvSpPr>
          <p:cNvPr id="14" name="TextBox 13"/>
          <p:cNvSpPr txBox="1"/>
          <p:nvPr/>
        </p:nvSpPr>
        <p:spPr>
          <a:xfrm>
            <a:off x="429768" y="4892040"/>
            <a:ext cx="11247120" cy="1188720"/>
          </a:xfrm>
          <a:prstGeom prst="rect">
            <a:avLst/>
          </a:prstGeom>
          <a:noFill/>
        </p:spPr>
        <p:txBody>
          <a:bodyPr wrap="square" lIns="45720" rIns="45720" tIns="27432" bIns="27432" anchor="t">
            <a:spAutoFit/>
          </a:bodyPr>
          <a:lstStyle/>
          <a:p>
            <a:pPr algn="l">
              <a:spcAft>
                <a:spcPts val="600"/>
              </a:spcAft>
            </a:pPr>
            <a:r>
              <a:rPr sz="1800" b="1" i="0">
                <a:solidFill>
                  <a:srgbClr val="263238"/>
                </a:solidFill>
              </a:rPr>
              <a:t>Leitfrage: </a:t>
            </a:r>
            <a:r>
              <a:rPr sz="1800" b="0" i="0">
                <a:solidFill>
                  <a:srgbClr val="263238"/>
                </a:solidFill>
              </a:rPr>
              <a:t>Lässt sich ein am Rumpf trainiertes Modell auf den Fuß übertragen, und was braucht es dafür?</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Sensorik: Warum 6 Achsen?</a:t>
            </a:r>
          </a:p>
        </p:txBody>
      </p:sp>
      <p:graphicFrame>
        <p:nvGraphicFramePr>
          <p:cNvPr id="4" name="Table 3"/>
          <p:cNvGraphicFramePr>
            <a:graphicFrameLocks noGrp="1"/>
          </p:cNvGraphicFramePr>
          <p:nvPr/>
        </p:nvGraphicFramePr>
        <p:xfrm>
          <a:off x="429768" y="1783080"/>
          <a:ext cx="6949440" cy="1828800"/>
        </p:xfrm>
        <a:graphic>
          <a:graphicData uri="http://schemas.openxmlformats.org/drawingml/2006/table">
            <a:tbl>
              <a:tblPr firstRow="1" bandRow="1">
                <a:tableStyleId>{5C22544A-7EE6-4342-B048-85BDC9FD1C3A}</a:tableStyleId>
              </a:tblPr>
              <a:tblGrid>
                <a:gridCol w="2103120"/>
                <a:gridCol w="2103120"/>
                <a:gridCol w="2743200"/>
              </a:tblGrid>
              <a:tr h="457200">
                <a:tc>
                  <a:txBody>
                    <a:bodyPr/>
                    <a:lstStyle/>
                    <a:p>
                      <a:pPr algn="l"/>
                      <a:r>
                        <a:rPr sz="1400" b="1">
                          <a:solidFill>
                            <a:srgbClr val="FFFFFF"/>
                          </a:solidFill>
                        </a:rPr>
                        <a:t>Konfiguration</a:t>
                      </a:r>
                    </a:p>
                  </a:txBody>
                  <a:tcPr marL="73152" marR="73152" marT="27432" marB="27432" anchor="ctr">
                    <a:solidFill>
                      <a:srgbClr val="4A5C66"/>
                    </a:solidFill>
                  </a:tcPr>
                </a:tc>
                <a:tc>
                  <a:txBody>
                    <a:bodyPr/>
                    <a:lstStyle/>
                    <a:p>
                      <a:pPr algn="ctr"/>
                      <a:r>
                        <a:rPr sz="1400" b="1">
                          <a:solidFill>
                            <a:srgbClr val="FFFFFF"/>
                          </a:solidFill>
                        </a:rPr>
                        <a:t>misst</a:t>
                      </a:r>
                    </a:p>
                  </a:txBody>
                  <a:tcPr marL="73152" marR="73152" marT="27432" marB="27432" anchor="ctr">
                    <a:solidFill>
                      <a:srgbClr val="4A5C66"/>
                    </a:solidFill>
                  </a:tcPr>
                </a:tc>
                <a:tc>
                  <a:txBody>
                    <a:bodyPr/>
                    <a:lstStyle/>
                    <a:p>
                      <a:pPr algn="ctr"/>
                      <a:r>
                        <a:rPr sz="1400" b="1">
                          <a:solidFill>
                            <a:srgbClr val="FFFFFF"/>
                          </a:solidFill>
                        </a:rPr>
                        <a:t>Nutzen für Stürze</a:t>
                      </a:r>
                    </a:p>
                  </a:txBody>
                  <a:tcPr marL="73152" marR="73152" marT="27432" marB="27432" anchor="ctr">
                    <a:solidFill>
                      <a:srgbClr val="4A5C66"/>
                    </a:solidFill>
                  </a:tcPr>
                </a:tc>
              </a:tr>
              <a:tr h="457200">
                <a:tc>
                  <a:txBody>
                    <a:bodyPr/>
                    <a:lstStyle/>
                    <a:p>
                      <a:pPr algn="l"/>
                      <a:r>
                        <a:rPr sz="1400" b="0">
                          <a:solidFill>
                            <a:srgbClr val="263238"/>
                          </a:solidFill>
                        </a:rPr>
                        <a:t>3 Achsen (Acc)</a:t>
                      </a:r>
                    </a:p>
                  </a:txBody>
                  <a:tcPr marL="73152" marR="73152" marT="27432" marB="27432" anchor="ctr">
                    <a:solidFill>
                      <a:srgbClr val="FFFFFF"/>
                    </a:solidFill>
                  </a:tcPr>
                </a:tc>
                <a:tc>
                  <a:txBody>
                    <a:bodyPr/>
                    <a:lstStyle/>
                    <a:p>
                      <a:pPr algn="ctr"/>
                      <a:r>
                        <a:rPr sz="1400" b="0">
                          <a:solidFill>
                            <a:srgbClr val="263238"/>
                          </a:solidFill>
                        </a:rPr>
                        <a:t>Aufprall, Freifall</a:t>
                      </a:r>
                    </a:p>
                  </a:txBody>
                  <a:tcPr marL="73152" marR="73152" marT="27432" marB="27432" anchor="ctr">
                    <a:solidFill>
                      <a:srgbClr val="FFFFFF"/>
                    </a:solidFill>
                  </a:tcPr>
                </a:tc>
                <a:tc>
                  <a:txBody>
                    <a:bodyPr/>
                    <a:lstStyle/>
                    <a:p>
                      <a:pPr algn="ctr"/>
                      <a:r>
                        <a:rPr sz="1400" b="0">
                          <a:solidFill>
                            <a:srgbClr val="263238"/>
                          </a:solidFill>
                        </a:rPr>
                        <a:t>Basis, viele Fehlalarme</a:t>
                      </a:r>
                    </a:p>
                  </a:txBody>
                  <a:tcPr marL="73152" marR="73152" marT="27432" marB="27432" anchor="ctr">
                    <a:solidFill>
                      <a:srgbClr val="FFFFFF"/>
                    </a:solidFill>
                  </a:tcPr>
                </a:tc>
              </a:tr>
              <a:tr h="457200">
                <a:tc>
                  <a:txBody>
                    <a:bodyPr/>
                    <a:lstStyle/>
                    <a:p>
                      <a:pPr algn="l"/>
                      <a:r>
                        <a:rPr sz="1400" b="1">
                          <a:solidFill>
                            <a:srgbClr val="263238"/>
                          </a:solidFill>
                        </a:rPr>
                        <a:t>6 Achsen (+ Gyro)</a:t>
                      </a:r>
                    </a:p>
                  </a:txBody>
                  <a:tcPr marL="73152" marR="73152" marT="27432" marB="27432" anchor="ctr">
                    <a:solidFill>
                      <a:srgbClr val="EFF6E4"/>
                    </a:solidFill>
                  </a:tcPr>
                </a:tc>
                <a:tc>
                  <a:txBody>
                    <a:bodyPr/>
                    <a:lstStyle/>
                    <a:p>
                      <a:pPr algn="ctr"/>
                      <a:r>
                        <a:rPr sz="1400" b="1">
                          <a:solidFill>
                            <a:srgbClr val="263238"/>
                          </a:solidFill>
                        </a:rPr>
                        <a:t>+ Drehrate</a:t>
                      </a:r>
                    </a:p>
                  </a:txBody>
                  <a:tcPr marL="73152" marR="73152" marT="27432" marB="27432" anchor="ctr">
                    <a:solidFill>
                      <a:srgbClr val="EFF6E4"/>
                    </a:solidFill>
                  </a:tcPr>
                </a:tc>
                <a:tc>
                  <a:txBody>
                    <a:bodyPr/>
                    <a:lstStyle/>
                    <a:p>
                      <a:pPr algn="ctr"/>
                      <a:r>
                        <a:rPr sz="1400" b="1">
                          <a:solidFill>
                            <a:srgbClr val="263238"/>
                          </a:solidFill>
                        </a:rPr>
                        <a:t>hoch: Sp 83 → 96 %</a:t>
                      </a:r>
                    </a:p>
                  </a:txBody>
                  <a:tcPr marL="73152" marR="73152" marT="27432" marB="27432" anchor="ctr">
                    <a:solidFill>
                      <a:srgbClr val="EFF6E4"/>
                    </a:solidFill>
                  </a:tcPr>
                </a:tc>
              </a:tr>
              <a:tr h="457200">
                <a:tc>
                  <a:txBody>
                    <a:bodyPr/>
                    <a:lstStyle/>
                    <a:p>
                      <a:pPr algn="l"/>
                      <a:r>
                        <a:rPr sz="1400" b="0">
                          <a:solidFill>
                            <a:srgbClr val="263238"/>
                          </a:solidFill>
                        </a:rPr>
                        <a:t>9 Achsen (+ Mag)</a:t>
                      </a:r>
                    </a:p>
                  </a:txBody>
                  <a:tcPr marL="73152" marR="73152" marT="27432" marB="27432" anchor="ctr">
                    <a:solidFill>
                      <a:srgbClr val="FFFFFF"/>
                    </a:solidFill>
                  </a:tcPr>
                </a:tc>
                <a:tc>
                  <a:txBody>
                    <a:bodyPr/>
                    <a:lstStyle/>
                    <a:p>
                      <a:pPr algn="ctr"/>
                      <a:r>
                        <a:rPr sz="1400" b="0">
                          <a:solidFill>
                            <a:srgbClr val="263238"/>
                          </a:solidFill>
                        </a:rPr>
                        <a:t>+ absolute Richtung</a:t>
                      </a:r>
                    </a:p>
                  </a:txBody>
                  <a:tcPr marL="73152" marR="73152" marT="27432" marB="27432" anchor="ctr">
                    <a:solidFill>
                      <a:srgbClr val="FFFFFF"/>
                    </a:solidFill>
                  </a:tcPr>
                </a:tc>
                <a:tc>
                  <a:txBody>
                    <a:bodyPr/>
                    <a:lstStyle/>
                    <a:p>
                      <a:pPr algn="ctr"/>
                      <a:r>
                        <a:rPr sz="1400" b="0">
                          <a:solidFill>
                            <a:srgbClr val="263238"/>
                          </a:solidFill>
                        </a:rPr>
                        <a:t>gering, Störung innen</a:t>
                      </a:r>
                    </a:p>
                  </a:txBody>
                  <a:tcPr marL="73152" marR="73152" marT="27432" marB="27432" anchor="ctr">
                    <a:solidFill>
                      <a:srgbClr val="FFFFFF"/>
                    </a:solidFill>
                  </a:tcPr>
                </a:tc>
              </a:tr>
            </a:tbl>
          </a:graphicData>
        </a:graphic>
      </p:graphicFrame>
      <p:sp>
        <p:nvSpPr>
          <p:cNvPr id="5" name="TextBox 4"/>
          <p:cNvSpPr txBox="1"/>
          <p:nvPr/>
        </p:nvSpPr>
        <p:spPr>
          <a:xfrm>
            <a:off x="7726679" y="1783080"/>
            <a:ext cx="3931920" cy="2743200"/>
          </a:xfrm>
          <a:prstGeom prst="rect">
            <a:avLst/>
          </a:prstGeom>
          <a:noFill/>
        </p:spPr>
        <p:txBody>
          <a:bodyPr wrap="square" lIns="45720" rIns="45720" tIns="27432" bIns="27432" anchor="t">
            <a:spAutoFit/>
          </a:bodyPr>
          <a:lstStyle/>
          <a:p>
            <a:pPr algn="l">
              <a:spcAft>
                <a:spcPts val="800"/>
              </a:spcAft>
            </a:pPr>
            <a:r>
              <a:rPr sz="1800" b="1" i="0">
                <a:solidFill>
                  <a:srgbClr val="80BA24"/>
                </a:solidFill>
              </a:rPr>
              <a:t>Arbeitspunkt</a:t>
            </a:r>
          </a:p>
          <a:p>
            <a:pPr algn="l">
              <a:spcAft>
                <a:spcPts val="800"/>
              </a:spcAft>
            </a:pPr>
            <a:r>
              <a:rPr sz="1600" b="0" i="0">
                <a:solidFill>
                  <a:srgbClr val="263238"/>
                </a:solidFill>
              </a:rPr>
              <a:t>±16 g, ±2000 °/s</a:t>
            </a:r>
          </a:p>
          <a:p>
            <a:pPr algn="l">
              <a:spcAft>
                <a:spcPts val="800"/>
              </a:spcAft>
            </a:pPr>
            <a:r>
              <a:rPr sz="1600" b="0" i="0">
                <a:solidFill>
                  <a:srgbClr val="263238"/>
                </a:solidFill>
              </a:rPr>
              <a:t>Erfassung 100 Hz, Modell 50 Hz</a:t>
            </a:r>
          </a:p>
          <a:p>
            <a:pPr algn="l">
              <a:spcAft>
                <a:spcPts val="800"/>
              </a:spcAft>
            </a:pPr>
            <a:r>
              <a:rPr sz="1600" b="0" i="0">
                <a:solidFill>
                  <a:srgbClr val="263238"/>
                </a:solidFill>
              </a:rPr>
              <a:t>≥ 12 Bit, geringe Rauschdichte</a:t>
            </a:r>
          </a:p>
          <a:p>
            <a:pPr algn="l">
              <a:spcAft>
                <a:spcPts val="800"/>
              </a:spcAft>
            </a:pPr>
            <a:r>
              <a:rPr sz="1600" b="0" i="0">
                <a:solidFill>
                  <a:srgbClr val="263238"/>
                </a:solidFill>
              </a:rPr>
              <a:t>Drift über 1–2 s Sturz unkritisch</a:t>
            </a:r>
          </a:p>
        </p:txBody>
      </p:sp>
      <p:sp>
        <p:nvSpPr>
          <p:cNvPr id="6" name="TextBox 5"/>
          <p:cNvSpPr txBox="1"/>
          <p:nvPr/>
        </p:nvSpPr>
        <p:spPr>
          <a:xfrm>
            <a:off x="429768" y="4343400"/>
            <a:ext cx="11247120" cy="1645920"/>
          </a:xfrm>
          <a:prstGeom prst="rect">
            <a:avLst/>
          </a:prstGeom>
          <a:noFill/>
        </p:spPr>
        <p:txBody>
          <a:bodyPr wrap="square" lIns="45720" rIns="45720" tIns="27432" bIns="27432" anchor="t">
            <a:spAutoFit/>
          </a:bodyPr>
          <a:lstStyle/>
          <a:p>
            <a:pPr algn="l">
              <a:spcAft>
                <a:spcPts val="600"/>
              </a:spcAft>
            </a:pPr>
            <a:r>
              <a:rPr sz="1600" b="1" i="0">
                <a:solidFill>
                  <a:srgbClr val="263238"/>
                </a:solidFill>
              </a:rPr>
              <a:t>Eigene Messung: </a:t>
            </a:r>
            <a:r>
              <a:rPr sz="1600" b="0" i="0">
                <a:solidFill>
                  <a:srgbClr val="263238"/>
                </a:solidFill>
              </a:rPr>
              <a:t>Am Rumpf bringt das Gyroskop im CNN nur +0,7 pp (98,7 vs. 98,0 %, Deckeneffekt); im Random Forest stammen 62 % der Merkmalswichtigkeit vom Gyroskop.</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Datensätze: Messorte am Körper</a:t>
            </a:r>
          </a:p>
        </p:txBody>
      </p:sp>
      <p:pic>
        <p:nvPicPr>
          <p:cNvPr id="4" name="Picture 3" descr="koerper.png"/>
          <p:cNvPicPr>
            <a:picLocks noChangeAspect="1"/>
          </p:cNvPicPr>
          <p:nvPr/>
        </p:nvPicPr>
        <p:blipFill>
          <a:blip r:embed="rId2"/>
          <a:stretch>
            <a:fillRect/>
          </a:stretch>
        </p:blipFill>
        <p:spPr>
          <a:xfrm>
            <a:off x="429768" y="1645920"/>
            <a:ext cx="6478422" cy="4572000"/>
          </a:xfrm>
          <a:prstGeom prst="rect">
            <a:avLst/>
          </a:prstGeom>
        </p:spPr>
      </p:pic>
      <p:sp>
        <p:nvSpPr>
          <p:cNvPr id="5" name="TextBox 4"/>
          <p:cNvSpPr txBox="1"/>
          <p:nvPr/>
        </p:nvSpPr>
        <p:spPr>
          <a:xfrm>
            <a:off x="7086600" y="1737360"/>
            <a:ext cx="4572000" cy="4389120"/>
          </a:xfrm>
          <a:prstGeom prst="rect">
            <a:avLst/>
          </a:prstGeom>
          <a:noFill/>
        </p:spPr>
        <p:txBody>
          <a:bodyPr wrap="square" lIns="45720" rIns="45720" tIns="27432" bIns="27432" anchor="t">
            <a:spAutoFit/>
          </a:bodyPr>
          <a:lstStyle/>
          <a:p>
            <a:pPr algn="l" marL="228600" indent="-228600">
              <a:spcAft>
                <a:spcPts val="700"/>
              </a:spcAft>
              <a:buChar char="•"/>
            </a:pPr>
            <a:r>
              <a:rPr sz="1500" b="1" i="0">
                <a:solidFill>
                  <a:srgbClr val="263238"/>
                </a:solidFill>
              </a:rPr>
              <a:t>SisFall</a:t>
            </a:r>
            <a:r>
              <a:rPr sz="1500" b="0" i="0">
                <a:solidFill>
                  <a:srgbClr val="263238"/>
                </a:solidFill>
              </a:rPr>
              <a:t> – Hüfte, Basismodell</a:t>
            </a:r>
          </a:p>
          <a:p>
            <a:pPr algn="l" marL="228600" indent="-228600">
              <a:spcAft>
                <a:spcPts val="700"/>
              </a:spcAft>
              <a:buChar char="•"/>
            </a:pPr>
            <a:r>
              <a:rPr sz="1500" b="1" i="0">
                <a:solidFill>
                  <a:srgbClr val="263238"/>
                </a:solidFill>
              </a:rPr>
              <a:t>KFall</a:t>
            </a:r>
            <a:r>
              <a:rPr sz="1500" b="0" i="0">
                <a:solidFill>
                  <a:srgbClr val="263238"/>
                </a:solidFill>
              </a:rPr>
              <a:t> – Rücken, Zwischenstufe</a:t>
            </a:r>
          </a:p>
          <a:p>
            <a:pPr algn="l" marL="228600" indent="-228600">
              <a:spcAft>
                <a:spcPts val="700"/>
              </a:spcAft>
              <a:buChar char="•"/>
            </a:pPr>
            <a:r>
              <a:rPr sz="1500" b="1" i="0">
                <a:solidFill>
                  <a:srgbClr val="263238"/>
                </a:solidFill>
              </a:rPr>
              <a:t>UMAFall, FallAllD</a:t>
            </a:r>
            <a:r>
              <a:rPr sz="1500" b="0" i="0">
                <a:solidFill>
                  <a:srgbClr val="263238"/>
                </a:solidFill>
              </a:rPr>
              <a:t> – Transfer</a:t>
            </a:r>
          </a:p>
          <a:p>
            <a:pPr algn="l" marL="228600" indent="-228600">
              <a:spcAft>
                <a:spcPts val="700"/>
              </a:spcAft>
              <a:buChar char="•"/>
            </a:pPr>
            <a:r>
              <a:rPr sz="1500" b="1" i="0">
                <a:solidFill>
                  <a:srgbClr val="263238"/>
                </a:solidFill>
              </a:rPr>
              <a:t>WEDA-FALL</a:t>
            </a:r>
            <a:r>
              <a:rPr sz="1500" b="0" i="0">
                <a:solidFill>
                  <a:srgbClr val="263238"/>
                </a:solidFill>
              </a:rPr>
              <a:t> – Ältere (77–95 J.)</a:t>
            </a:r>
          </a:p>
          <a:p>
            <a:pPr algn="l" marL="228600" indent="-228600">
              <a:spcAft>
                <a:spcPts val="700"/>
              </a:spcAft>
              <a:buChar char="•"/>
            </a:pPr>
            <a:r>
              <a:rPr sz="1500" b="1" i="0">
                <a:solidFill>
                  <a:srgbClr val="263238"/>
                </a:solidFill>
              </a:rPr>
              <a:t>CAPPIMU</a:t>
            </a:r>
            <a:r>
              <a:rPr sz="1500" b="0" i="0">
                <a:solidFill>
                  <a:srgbClr val="263238"/>
                </a:solidFill>
              </a:rPr>
              <a:t> – 9 Positionen, Stürze am Schienbein</a:t>
            </a:r>
          </a:p>
          <a:p>
            <a:pPr algn="l" marL="228600" indent="-228600">
              <a:spcAft>
                <a:spcPts val="700"/>
              </a:spcAft>
              <a:buChar char="•"/>
            </a:pPr>
            <a:r>
              <a:rPr sz="1500" b="1" i="0">
                <a:solidFill>
                  <a:srgbClr val="263238"/>
                </a:solidFill>
              </a:rPr>
              <a:t>ImbalanSense, Smart-Insole</a:t>
            </a:r>
            <a:r>
              <a:rPr sz="1500" b="0" i="0">
                <a:solidFill>
                  <a:srgbClr val="263238"/>
                </a:solidFill>
              </a:rPr>
              <a:t> – Sohle, nur Alltag</a:t>
            </a:r>
          </a:p>
          <a:p>
            <a:pPr algn="l" marL="228600" indent="-228600">
              <a:spcAft>
                <a:spcPts val="700"/>
              </a:spcAft>
              <a:buChar char="•"/>
            </a:pPr>
            <a:r>
              <a:rPr sz="1500" b="1" i="0">
                <a:solidFill>
                  <a:srgbClr val="263238"/>
                </a:solidFill>
              </a:rPr>
              <a:t>Eigene Pilotdaten</a:t>
            </a:r>
            <a:r>
              <a:rPr sz="1500" b="0" i="0">
                <a:solidFill>
                  <a:srgbClr val="263238"/>
                </a:solidFill>
              </a:rPr>
              <a:t> – Hüfte, Knöchel</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Prototyp und Datenaufnahme</a:t>
            </a:r>
          </a:p>
        </p:txBody>
      </p:sp>
      <p:pic>
        <p:nvPicPr>
          <p:cNvPr id="4" name="Picture 3" descr="foto_platine.jpg"/>
          <p:cNvPicPr>
            <a:picLocks noChangeAspect="1"/>
          </p:cNvPicPr>
          <p:nvPr/>
        </p:nvPicPr>
        <p:blipFill>
          <a:blip r:embed="rId2"/>
          <a:stretch>
            <a:fillRect/>
          </a:stretch>
        </p:blipFill>
        <p:spPr>
          <a:xfrm>
            <a:off x="429768" y="1691640"/>
            <a:ext cx="3140608" cy="2377440"/>
          </a:xfrm>
          <a:prstGeom prst="rect">
            <a:avLst/>
          </a:prstGeom>
        </p:spPr>
      </p:pic>
      <p:pic>
        <p:nvPicPr>
          <p:cNvPr id="5" name="Picture 4" descr="foto_platine_unten.jpg"/>
          <p:cNvPicPr>
            <a:picLocks noChangeAspect="1"/>
          </p:cNvPicPr>
          <p:nvPr/>
        </p:nvPicPr>
        <p:blipFill>
          <a:blip r:embed="rId3"/>
          <a:stretch>
            <a:fillRect/>
          </a:stretch>
        </p:blipFill>
        <p:spPr>
          <a:xfrm>
            <a:off x="2971800" y="1691640"/>
            <a:ext cx="3107765" cy="2377440"/>
          </a:xfrm>
          <a:prstGeom prst="rect">
            <a:avLst/>
          </a:prstGeom>
        </p:spPr>
      </p:pic>
      <p:pic>
        <p:nvPicPr>
          <p:cNvPr id="6" name="Picture 5" descr="einbaulage.png"/>
          <p:cNvPicPr>
            <a:picLocks noChangeAspect="1"/>
          </p:cNvPicPr>
          <p:nvPr/>
        </p:nvPicPr>
        <p:blipFill>
          <a:blip r:embed="rId4"/>
          <a:stretch>
            <a:fillRect/>
          </a:stretch>
        </p:blipFill>
        <p:spPr>
          <a:xfrm>
            <a:off x="5806440" y="1691640"/>
            <a:ext cx="3974782" cy="2377440"/>
          </a:xfrm>
          <a:prstGeom prst="rect">
            <a:avLst/>
          </a:prstGeom>
        </p:spPr>
      </p:pic>
      <p:sp>
        <p:nvSpPr>
          <p:cNvPr id="7" name="TextBox 6"/>
          <p:cNvSpPr txBox="1"/>
          <p:nvPr/>
        </p:nvSpPr>
        <p:spPr>
          <a:xfrm>
            <a:off x="429768" y="4343400"/>
            <a:ext cx="11247120" cy="1828800"/>
          </a:xfrm>
          <a:prstGeom prst="rect">
            <a:avLst/>
          </a:prstGeom>
          <a:noFill/>
        </p:spPr>
        <p:txBody>
          <a:bodyPr wrap="square" lIns="45720" rIns="45720" tIns="27432" bIns="27432" anchor="t">
            <a:spAutoFit/>
          </a:bodyPr>
          <a:lstStyle/>
          <a:p>
            <a:pPr algn="l" marL="228600" indent="-228600">
              <a:spcAft>
                <a:spcPts val="600"/>
              </a:spcAft>
              <a:buChar char="•"/>
            </a:pPr>
            <a:r>
              <a:rPr sz="1500" b="1" i="0">
                <a:solidFill>
                  <a:srgbClr val="263238"/>
                </a:solidFill>
              </a:rPr>
              <a:t>Hardware: </a:t>
            </a:r>
            <a:r>
              <a:rPr sz="1500" b="0" i="0">
                <a:solidFill>
                  <a:srgbClr val="263238"/>
                </a:solidFill>
              </a:rPr>
              <a:t>Seeed XIAO ESP32-C6 + IMU-Modul (I²C), Akku; 100 Hz, ±16 g, ±2000 °/s</a:t>
            </a:r>
          </a:p>
          <a:p>
            <a:pPr algn="l" marL="228600" indent="-228600">
              <a:spcAft>
                <a:spcPts val="600"/>
              </a:spcAft>
              <a:buChar char="•"/>
            </a:pPr>
            <a:r>
              <a:rPr sz="1500" b="1" i="0">
                <a:solidFill>
                  <a:srgbClr val="263238"/>
                </a:solidFill>
              </a:rPr>
              <a:t>DatenLogger: </a:t>
            </a:r>
            <a:r>
              <a:rPr sz="1500" b="0" i="0">
                <a:solidFill>
                  <a:srgbClr val="263238"/>
                </a:solidFill>
              </a:rPr>
              <a:t>Aufnahme in den Flash, Steuerung per Smartphone (BLE), Auto-Stopp nach 120 s</a:t>
            </a:r>
          </a:p>
          <a:p>
            <a:pPr algn="l" marL="228600" indent="-228600">
              <a:spcAft>
                <a:spcPts val="600"/>
              </a:spcAft>
              <a:buChar char="•"/>
            </a:pPr>
            <a:r>
              <a:rPr sz="1500" b="1" i="0">
                <a:solidFill>
                  <a:srgbClr val="263238"/>
                </a:solidFill>
              </a:rPr>
              <a:t>Pilotdaten (1 Person): </a:t>
            </a:r>
            <a:r>
              <a:rPr sz="1500" b="0" i="0">
                <a:solidFill>
                  <a:srgbClr val="263238"/>
                </a:solidFill>
              </a:rPr>
              <a:t>Hüfte, Knöchel l./r. · 67 Stürze auf Matte · Gehen, Joggen, Treppen, Sitzen, Springen, Aufheben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Verarbeitungskette auf dem Chip</a:t>
            </a:r>
          </a:p>
        </p:txBody>
      </p:sp>
      <p:sp>
        <p:nvSpPr>
          <p:cNvPr id="4" name="Rectangle 3"/>
          <p:cNvSpPr/>
          <p:nvPr/>
        </p:nvSpPr>
        <p:spPr>
          <a:xfrm>
            <a:off x="429768" y="2103120"/>
            <a:ext cx="1207008"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29768"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263238"/>
                </a:solidFill>
              </a:rPr>
              <a:t>IMU</a:t>
            </a:r>
          </a:p>
        </p:txBody>
      </p:sp>
      <p:sp>
        <p:nvSpPr>
          <p:cNvPr id="6" name="TextBox 5"/>
          <p:cNvSpPr txBox="1"/>
          <p:nvPr/>
        </p:nvSpPr>
        <p:spPr>
          <a:xfrm>
            <a:off x="429768"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4A5C66"/>
                </a:solidFill>
              </a:rPr>
              <a:t>100 Hz</a:t>
            </a:r>
          </a:p>
          <a:p>
            <a:pPr algn="ctr">
              <a:spcAft>
                <a:spcPts val="0"/>
              </a:spcAft>
            </a:pPr>
            <a:r>
              <a:rPr sz="1200" b="0" i="0">
                <a:solidFill>
                  <a:srgbClr val="4A5C66"/>
                </a:solidFill>
              </a:rPr>
              <a:t>±16 g</a:t>
            </a:r>
          </a:p>
        </p:txBody>
      </p:sp>
      <p:sp>
        <p:nvSpPr>
          <p:cNvPr id="7" name="Right Arrow 6"/>
          <p:cNvSpPr/>
          <p:nvPr/>
        </p:nvSpPr>
        <p:spPr>
          <a:xfrm>
            <a:off x="1664208"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51660" y="2103120"/>
            <a:ext cx="1207008"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51660"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263238"/>
                </a:solidFill>
              </a:rPr>
              <a:t>Filtern</a:t>
            </a:r>
          </a:p>
        </p:txBody>
      </p:sp>
      <p:sp>
        <p:nvSpPr>
          <p:cNvPr id="10" name="TextBox 9"/>
          <p:cNvSpPr txBox="1"/>
          <p:nvPr/>
        </p:nvSpPr>
        <p:spPr>
          <a:xfrm>
            <a:off x="1851660"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4A5C66"/>
                </a:solidFill>
              </a:rPr>
              <a:t>→ 50 Hz</a:t>
            </a:r>
          </a:p>
        </p:txBody>
      </p:sp>
      <p:sp>
        <p:nvSpPr>
          <p:cNvPr id="11" name="Right Arrow 10"/>
          <p:cNvSpPr/>
          <p:nvPr/>
        </p:nvSpPr>
        <p:spPr>
          <a:xfrm>
            <a:off x="3086100"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73552" y="2103120"/>
            <a:ext cx="1207008"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273552"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263238"/>
                </a:solidFill>
              </a:rPr>
              <a:t>Fenster</a:t>
            </a:r>
          </a:p>
        </p:txBody>
      </p:sp>
      <p:sp>
        <p:nvSpPr>
          <p:cNvPr id="14" name="TextBox 13"/>
          <p:cNvSpPr txBox="1"/>
          <p:nvPr/>
        </p:nvSpPr>
        <p:spPr>
          <a:xfrm>
            <a:off x="3273552"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4A5C66"/>
                </a:solidFill>
              </a:rPr>
              <a:t>2 s</a:t>
            </a:r>
          </a:p>
          <a:p>
            <a:pPr algn="ctr">
              <a:spcAft>
                <a:spcPts val="0"/>
              </a:spcAft>
            </a:pPr>
            <a:r>
              <a:rPr sz="1200" b="0" i="0">
                <a:solidFill>
                  <a:srgbClr val="4A5C66"/>
                </a:solidFill>
              </a:rPr>
              <a:t>100 × 6</a:t>
            </a:r>
          </a:p>
        </p:txBody>
      </p:sp>
      <p:sp>
        <p:nvSpPr>
          <p:cNvPr id="15" name="Right Arrow 14"/>
          <p:cNvSpPr/>
          <p:nvPr/>
        </p:nvSpPr>
        <p:spPr>
          <a:xfrm>
            <a:off x="4507992"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95444" y="2103120"/>
            <a:ext cx="1207008" cy="1417320"/>
          </a:xfrm>
          <a:prstGeom prst="rect">
            <a:avLst/>
          </a:prstGeom>
          <a:solidFill>
            <a:srgbClr val="80B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95444"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FFFFFF"/>
                </a:solidFill>
              </a:rPr>
              <a:t>Kalibrierung</a:t>
            </a:r>
          </a:p>
        </p:txBody>
      </p:sp>
      <p:sp>
        <p:nvSpPr>
          <p:cNvPr id="18" name="TextBox 17"/>
          <p:cNvSpPr txBox="1"/>
          <p:nvPr/>
        </p:nvSpPr>
        <p:spPr>
          <a:xfrm>
            <a:off x="4695444"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FFFFFF"/>
                </a:solidFill>
              </a:rPr>
              <a:t>Lage selbst</a:t>
            </a:r>
          </a:p>
          <a:p>
            <a:pPr algn="ctr">
              <a:spcAft>
                <a:spcPts val="0"/>
              </a:spcAft>
            </a:pPr>
            <a:r>
              <a:rPr sz="1200" b="0" i="0">
                <a:solidFill>
                  <a:srgbClr val="FFFFFF"/>
                </a:solidFill>
              </a:rPr>
              <a:t>bestimmen</a:t>
            </a:r>
          </a:p>
        </p:txBody>
      </p:sp>
      <p:sp>
        <p:nvSpPr>
          <p:cNvPr id="19" name="Right Arrow 18"/>
          <p:cNvSpPr/>
          <p:nvPr/>
        </p:nvSpPr>
        <p:spPr>
          <a:xfrm>
            <a:off x="5929884"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17336" y="2103120"/>
            <a:ext cx="1207008"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17336"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263238"/>
                </a:solidFill>
              </a:rPr>
              <a:t>Z-Norm</a:t>
            </a:r>
          </a:p>
        </p:txBody>
      </p:sp>
      <p:sp>
        <p:nvSpPr>
          <p:cNvPr id="22" name="TextBox 21"/>
          <p:cNvSpPr txBox="1"/>
          <p:nvPr/>
        </p:nvSpPr>
        <p:spPr>
          <a:xfrm>
            <a:off x="6117336"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4A5C66"/>
                </a:solidFill>
              </a:rPr>
              <a:t>je Kanal</a:t>
            </a:r>
          </a:p>
        </p:txBody>
      </p:sp>
      <p:sp>
        <p:nvSpPr>
          <p:cNvPr id="23" name="Right Arrow 22"/>
          <p:cNvSpPr/>
          <p:nvPr/>
        </p:nvSpPr>
        <p:spPr>
          <a:xfrm>
            <a:off x="7351775"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39228" y="2103120"/>
            <a:ext cx="1207008" cy="1417320"/>
          </a:xfrm>
          <a:prstGeom prst="rect">
            <a:avLst/>
          </a:prstGeom>
          <a:solidFill>
            <a:srgbClr val="80B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539228"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FFFFFF"/>
                </a:solidFill>
              </a:rPr>
              <a:t>1D-CNN</a:t>
            </a:r>
          </a:p>
        </p:txBody>
      </p:sp>
      <p:sp>
        <p:nvSpPr>
          <p:cNvPr id="26" name="TextBox 25"/>
          <p:cNvSpPr txBox="1"/>
          <p:nvPr/>
        </p:nvSpPr>
        <p:spPr>
          <a:xfrm>
            <a:off x="7539228"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FFFFFF"/>
                </a:solidFill>
              </a:rPr>
              <a:t>61 601 Param.</a:t>
            </a:r>
          </a:p>
          <a:p>
            <a:pPr algn="ctr">
              <a:spcAft>
                <a:spcPts val="0"/>
              </a:spcAft>
            </a:pPr>
            <a:r>
              <a:rPr sz="1200" b="0" i="0">
                <a:solidFill>
                  <a:srgbClr val="FFFFFF"/>
                </a:solidFill>
              </a:rPr>
              <a:t>int8, 80 KB</a:t>
            </a:r>
          </a:p>
        </p:txBody>
      </p:sp>
      <p:sp>
        <p:nvSpPr>
          <p:cNvPr id="27" name="Right Arrow 26"/>
          <p:cNvSpPr/>
          <p:nvPr/>
        </p:nvSpPr>
        <p:spPr>
          <a:xfrm>
            <a:off x="8773668"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61120" y="2103120"/>
            <a:ext cx="1207008"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61120"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263238"/>
                </a:solidFill>
              </a:rPr>
              <a:t>3 von 5</a:t>
            </a:r>
          </a:p>
        </p:txBody>
      </p:sp>
      <p:sp>
        <p:nvSpPr>
          <p:cNvPr id="30" name="TextBox 29"/>
          <p:cNvSpPr txBox="1"/>
          <p:nvPr/>
        </p:nvSpPr>
        <p:spPr>
          <a:xfrm>
            <a:off x="8961120"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4A5C66"/>
                </a:solidFill>
              </a:rPr>
              <a:t>alle 0,2 s</a:t>
            </a:r>
          </a:p>
        </p:txBody>
      </p:sp>
      <p:sp>
        <p:nvSpPr>
          <p:cNvPr id="31" name="Right Arrow 30"/>
          <p:cNvSpPr/>
          <p:nvPr/>
        </p:nvSpPr>
        <p:spPr>
          <a:xfrm>
            <a:off x="10195560" y="2697479"/>
            <a:ext cx="160020" cy="228600"/>
          </a:xfrm>
          <a:prstGeom prst="rightArrow">
            <a:avLst/>
          </a:prstGeom>
          <a:solidFill>
            <a:srgbClr val="4A5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83012" y="2103120"/>
            <a:ext cx="1207008"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383012" y="2212848"/>
            <a:ext cx="1207008" cy="411480"/>
          </a:xfrm>
          <a:prstGeom prst="rect">
            <a:avLst/>
          </a:prstGeom>
          <a:noFill/>
        </p:spPr>
        <p:txBody>
          <a:bodyPr wrap="square" lIns="45720" rIns="45720" tIns="27432" bIns="27432" anchor="t">
            <a:spAutoFit/>
          </a:bodyPr>
          <a:lstStyle/>
          <a:p>
            <a:pPr algn="ctr">
              <a:spcAft>
                <a:spcPts val="600"/>
              </a:spcAft>
            </a:pPr>
            <a:r>
              <a:rPr sz="1500" b="1" i="0">
                <a:solidFill>
                  <a:srgbClr val="263238"/>
                </a:solidFill>
              </a:rPr>
              <a:t>Alarm</a:t>
            </a:r>
          </a:p>
        </p:txBody>
      </p:sp>
      <p:sp>
        <p:nvSpPr>
          <p:cNvPr id="34" name="TextBox 33"/>
          <p:cNvSpPr txBox="1"/>
          <p:nvPr/>
        </p:nvSpPr>
        <p:spPr>
          <a:xfrm>
            <a:off x="10383012" y="2670048"/>
            <a:ext cx="1207008" cy="777240"/>
          </a:xfrm>
          <a:prstGeom prst="rect">
            <a:avLst/>
          </a:prstGeom>
          <a:noFill/>
        </p:spPr>
        <p:txBody>
          <a:bodyPr wrap="square" lIns="45720" rIns="45720" tIns="27432" bIns="27432" anchor="t">
            <a:spAutoFit/>
          </a:bodyPr>
          <a:lstStyle/>
          <a:p>
            <a:pPr algn="ctr">
              <a:spcAft>
                <a:spcPts val="0"/>
              </a:spcAft>
            </a:pPr>
            <a:r>
              <a:rPr sz="1200" b="0" i="0">
                <a:solidFill>
                  <a:srgbClr val="4A5C66"/>
                </a:solidFill>
              </a:rPr>
              <a:t>BLE</a:t>
            </a:r>
          </a:p>
        </p:txBody>
      </p:sp>
      <p:sp>
        <p:nvSpPr>
          <p:cNvPr id="35" name="TextBox 34"/>
          <p:cNvSpPr txBox="1"/>
          <p:nvPr/>
        </p:nvSpPr>
        <p:spPr>
          <a:xfrm>
            <a:off x="429768" y="3931920"/>
            <a:ext cx="5486400" cy="2194560"/>
          </a:xfrm>
          <a:prstGeom prst="rect">
            <a:avLst/>
          </a:prstGeom>
          <a:noFill/>
        </p:spPr>
        <p:txBody>
          <a:bodyPr wrap="square" lIns="45720" rIns="45720" tIns="27432" bIns="27432" anchor="t">
            <a:spAutoFit/>
          </a:bodyPr>
          <a:lstStyle/>
          <a:p>
            <a:pPr algn="l">
              <a:spcAft>
                <a:spcPts val="600"/>
              </a:spcAft>
            </a:pPr>
            <a:r>
              <a:rPr sz="1700" b="1" i="0">
                <a:solidFill>
                  <a:srgbClr val="80BA24"/>
                </a:solidFill>
              </a:rPr>
              <a:t>Training (Python, Colab)</a:t>
            </a:r>
          </a:p>
          <a:p>
            <a:pPr algn="l">
              <a:spcAft>
                <a:spcPts val="600"/>
              </a:spcAft>
            </a:pPr>
            <a:r>
              <a:rPr sz="1500" b="0" i="0">
                <a:solidFill>
                  <a:srgbClr val="263238"/>
                </a:solidFill>
              </a:rPr>
              <a:t>SisFall → KFall → Schienbein-Stürze + Sohlen-Alltag</a:t>
            </a:r>
          </a:p>
          <a:p>
            <a:pPr algn="l">
              <a:spcAft>
                <a:spcPts val="600"/>
              </a:spcAft>
            </a:pPr>
            <a:r>
              <a:rPr sz="1500" b="0" i="0">
                <a:solidFill>
                  <a:srgbClr val="263238"/>
                </a:solidFill>
              </a:rPr>
              <a:t>Rotations-/Spiegelaugmentierung (B2r)</a:t>
            </a:r>
          </a:p>
          <a:p>
            <a:pPr algn="l">
              <a:spcAft>
                <a:spcPts val="600"/>
              </a:spcAft>
            </a:pPr>
            <a:r>
              <a:rPr sz="1500" b="0" i="0">
                <a:solidFill>
                  <a:srgbClr val="263238"/>
                </a:solidFill>
              </a:rPr>
              <a:t>Export: TFLite int8, 9 Operatoren</a:t>
            </a:r>
          </a:p>
        </p:txBody>
      </p:sp>
      <p:sp>
        <p:nvSpPr>
          <p:cNvPr id="36" name="TextBox 35"/>
          <p:cNvSpPr txBox="1"/>
          <p:nvPr/>
        </p:nvSpPr>
        <p:spPr>
          <a:xfrm>
            <a:off x="6217920" y="3931920"/>
            <a:ext cx="5440680" cy="2194560"/>
          </a:xfrm>
          <a:prstGeom prst="rect">
            <a:avLst/>
          </a:prstGeom>
          <a:noFill/>
        </p:spPr>
        <p:txBody>
          <a:bodyPr wrap="square" lIns="45720" rIns="45720" tIns="27432" bIns="27432" anchor="t">
            <a:spAutoFit/>
          </a:bodyPr>
          <a:lstStyle/>
          <a:p>
            <a:pPr algn="l">
              <a:spcAft>
                <a:spcPts val="600"/>
              </a:spcAft>
            </a:pPr>
            <a:r>
              <a:rPr sz="1700" b="1" i="0">
                <a:solidFill>
                  <a:srgbClr val="80BA24"/>
                </a:solidFill>
              </a:rPr>
              <a:t>Firmware (Arduino, TFLite Micro)</a:t>
            </a:r>
          </a:p>
          <a:p>
            <a:pPr algn="l">
              <a:spcAft>
                <a:spcPts val="600"/>
              </a:spcAft>
            </a:pPr>
            <a:r>
              <a:rPr sz="1500" b="0" i="0">
                <a:solidFill>
                  <a:srgbClr val="263238"/>
                </a:solidFill>
              </a:rPr>
              <a:t>Inferenz alle 200 ms, Rechenlast ≈ 5 %</a:t>
            </a:r>
          </a:p>
          <a:p>
            <a:pPr algn="l">
              <a:spcAft>
                <a:spcPts val="600"/>
              </a:spcAft>
            </a:pPr>
            <a:r>
              <a:rPr sz="1500" b="0" i="0">
                <a:solidFill>
                  <a:srgbClr val="263238"/>
                </a:solidFill>
              </a:rPr>
              <a:t>int8 = float in 96 % der Pilotfenster</a:t>
            </a:r>
          </a:p>
          <a:p>
            <a:pPr algn="l">
              <a:spcAft>
                <a:spcPts val="600"/>
              </a:spcAft>
            </a:pPr>
            <a:r>
              <a:rPr sz="1500" b="0" i="0">
                <a:solidFill>
                  <a:srgbClr val="263238"/>
                </a:solidFill>
              </a:rPr>
              <a:t>Einbaulage: Schwerkraft + Gang → Achsen selbst kalibriert</a:t>
            </a:r>
          </a:p>
          <a:p>
            <a:pPr algn="l">
              <a:spcAft>
                <a:spcPts val="600"/>
              </a:spcAft>
            </a:pPr>
            <a:r>
              <a:rPr sz="1500" b="0" i="0">
                <a:solidFill>
                  <a:srgbClr val="263238"/>
                </a:solidFill>
              </a:rPr>
              <a:t>Nach Alarm: Liegelage → Sturzrichtung (Schätzung)</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Bewertung: fair und statistisch abgesichert</a:t>
            </a:r>
          </a:p>
        </p:txBody>
      </p:sp>
      <p:sp>
        <p:nvSpPr>
          <p:cNvPr id="4" name="Rectangle 3"/>
          <p:cNvSpPr/>
          <p:nvPr/>
        </p:nvSpPr>
        <p:spPr>
          <a:xfrm>
            <a:off x="429768" y="1783080"/>
            <a:ext cx="54406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2647" y="1920240"/>
            <a:ext cx="5120640" cy="457200"/>
          </a:xfrm>
          <a:prstGeom prst="rect">
            <a:avLst/>
          </a:prstGeom>
          <a:noFill/>
        </p:spPr>
        <p:txBody>
          <a:bodyPr wrap="square" lIns="45720" rIns="45720" tIns="27432" bIns="27432" anchor="t">
            <a:spAutoFit/>
          </a:bodyPr>
          <a:lstStyle/>
          <a:p>
            <a:pPr algn="l">
              <a:spcAft>
                <a:spcPts val="600"/>
              </a:spcAft>
            </a:pPr>
            <a:r>
              <a:rPr sz="1800" b="1" i="0">
                <a:solidFill>
                  <a:srgbClr val="80BA24"/>
                </a:solidFill>
              </a:rPr>
              <a:t>Subjektunabhängig</a:t>
            </a:r>
          </a:p>
        </p:txBody>
      </p:sp>
      <p:sp>
        <p:nvSpPr>
          <p:cNvPr id="6" name="TextBox 5"/>
          <p:cNvSpPr txBox="1"/>
          <p:nvPr/>
        </p:nvSpPr>
        <p:spPr>
          <a:xfrm>
            <a:off x="612647" y="2423160"/>
            <a:ext cx="5120640" cy="822960"/>
          </a:xfrm>
          <a:prstGeom prst="rect">
            <a:avLst/>
          </a:prstGeom>
          <a:noFill/>
        </p:spPr>
        <p:txBody>
          <a:bodyPr wrap="square" lIns="45720" rIns="45720" tIns="27432" bIns="27432" anchor="t">
            <a:spAutoFit/>
          </a:bodyPr>
          <a:lstStyle/>
          <a:p>
            <a:pPr algn="l">
              <a:spcAft>
                <a:spcPts val="600"/>
              </a:spcAft>
            </a:pPr>
            <a:r>
              <a:rPr sz="1500" b="0" i="0">
                <a:solidFill>
                  <a:srgbClr val="263238"/>
                </a:solidFill>
              </a:rPr>
              <a:t>Kein Proband zugleich in Training und Test.</a:t>
            </a:r>
          </a:p>
        </p:txBody>
      </p:sp>
      <p:sp>
        <p:nvSpPr>
          <p:cNvPr id="7" name="Rectangle 6"/>
          <p:cNvSpPr/>
          <p:nvPr/>
        </p:nvSpPr>
        <p:spPr>
          <a:xfrm>
            <a:off x="6099048" y="1783080"/>
            <a:ext cx="54406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81928" y="1920240"/>
            <a:ext cx="5120640" cy="457200"/>
          </a:xfrm>
          <a:prstGeom prst="rect">
            <a:avLst/>
          </a:prstGeom>
          <a:noFill/>
        </p:spPr>
        <p:txBody>
          <a:bodyPr wrap="square" lIns="45720" rIns="45720" tIns="27432" bIns="27432" anchor="t">
            <a:spAutoFit/>
          </a:bodyPr>
          <a:lstStyle/>
          <a:p>
            <a:pPr algn="l">
              <a:spcAft>
                <a:spcPts val="600"/>
              </a:spcAft>
            </a:pPr>
            <a:r>
              <a:rPr sz="1800" b="1" i="0">
                <a:solidFill>
                  <a:srgbClr val="80BA24"/>
                </a:solidFill>
              </a:rPr>
              <a:t>5-fach gepaart</a:t>
            </a:r>
          </a:p>
        </p:txBody>
      </p:sp>
      <p:sp>
        <p:nvSpPr>
          <p:cNvPr id="9" name="TextBox 8"/>
          <p:cNvSpPr txBox="1"/>
          <p:nvPr/>
        </p:nvSpPr>
        <p:spPr>
          <a:xfrm>
            <a:off x="6281928" y="2423160"/>
            <a:ext cx="5120640" cy="822960"/>
          </a:xfrm>
          <a:prstGeom prst="rect">
            <a:avLst/>
          </a:prstGeom>
          <a:noFill/>
        </p:spPr>
        <p:txBody>
          <a:bodyPr wrap="square" lIns="45720" rIns="45720" tIns="27432" bIns="27432" anchor="t">
            <a:spAutoFit/>
          </a:bodyPr>
          <a:lstStyle/>
          <a:p>
            <a:pPr algn="l">
              <a:spcAft>
                <a:spcPts val="600"/>
              </a:spcAft>
            </a:pPr>
            <a:r>
              <a:rPr sz="1500" b="0" i="0">
                <a:solidFill>
                  <a:srgbClr val="263238"/>
                </a:solidFill>
              </a:rPr>
              <a:t>Verfahren auf denselben Falten vergleichen, 95-%-KI der Differenz.</a:t>
            </a:r>
          </a:p>
        </p:txBody>
      </p:sp>
      <p:sp>
        <p:nvSpPr>
          <p:cNvPr id="10" name="Rectangle 9"/>
          <p:cNvSpPr/>
          <p:nvPr/>
        </p:nvSpPr>
        <p:spPr>
          <a:xfrm>
            <a:off x="429768" y="3566160"/>
            <a:ext cx="54406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2647" y="3703320"/>
            <a:ext cx="5120640" cy="457200"/>
          </a:xfrm>
          <a:prstGeom prst="rect">
            <a:avLst/>
          </a:prstGeom>
          <a:noFill/>
        </p:spPr>
        <p:txBody>
          <a:bodyPr wrap="square" lIns="45720" rIns="45720" tIns="27432" bIns="27432" anchor="t">
            <a:spAutoFit/>
          </a:bodyPr>
          <a:lstStyle/>
          <a:p>
            <a:pPr algn="l">
              <a:spcAft>
                <a:spcPts val="600"/>
              </a:spcAft>
            </a:pPr>
            <a:r>
              <a:rPr sz="1800" b="1" i="0">
                <a:solidFill>
                  <a:srgbClr val="80BA24"/>
                </a:solidFill>
              </a:rPr>
              <a:t>Fehlalarme je Stunde</a:t>
            </a:r>
          </a:p>
        </p:txBody>
      </p:sp>
      <p:sp>
        <p:nvSpPr>
          <p:cNvPr id="12" name="TextBox 11"/>
          <p:cNvSpPr txBox="1"/>
          <p:nvPr/>
        </p:nvSpPr>
        <p:spPr>
          <a:xfrm>
            <a:off x="612647" y="4206240"/>
            <a:ext cx="5120640" cy="822960"/>
          </a:xfrm>
          <a:prstGeom prst="rect">
            <a:avLst/>
          </a:prstGeom>
          <a:noFill/>
        </p:spPr>
        <p:txBody>
          <a:bodyPr wrap="square" lIns="45720" rIns="45720" tIns="27432" bIns="27432" anchor="t">
            <a:spAutoFit/>
          </a:bodyPr>
          <a:lstStyle/>
          <a:p>
            <a:pPr algn="l">
              <a:spcAft>
                <a:spcPts val="600"/>
              </a:spcAft>
            </a:pPr>
            <a:r>
              <a:rPr sz="1500" b="0" i="0">
                <a:solidFill>
                  <a:srgbClr val="263238"/>
                </a:solidFill>
              </a:rPr>
              <a:t>Auf reinen Alltagsdaten – für ein Notrufsystem entscheidend.</a:t>
            </a:r>
          </a:p>
        </p:txBody>
      </p:sp>
      <p:sp>
        <p:nvSpPr>
          <p:cNvPr id="13" name="Rectangle 12"/>
          <p:cNvSpPr/>
          <p:nvPr/>
        </p:nvSpPr>
        <p:spPr>
          <a:xfrm>
            <a:off x="6099048" y="3566160"/>
            <a:ext cx="5440680" cy="155448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81928" y="3703320"/>
            <a:ext cx="5120640" cy="457200"/>
          </a:xfrm>
          <a:prstGeom prst="rect">
            <a:avLst/>
          </a:prstGeom>
          <a:noFill/>
        </p:spPr>
        <p:txBody>
          <a:bodyPr wrap="square" lIns="45720" rIns="45720" tIns="27432" bIns="27432" anchor="t">
            <a:spAutoFit/>
          </a:bodyPr>
          <a:lstStyle/>
          <a:p>
            <a:pPr algn="l">
              <a:spcAft>
                <a:spcPts val="600"/>
              </a:spcAft>
            </a:pPr>
            <a:r>
              <a:rPr sz="1800" b="1" i="0">
                <a:solidFill>
                  <a:srgbClr val="80BA24"/>
                </a:solidFill>
              </a:rPr>
              <a:t>Betrieb wie Firmware</a:t>
            </a:r>
          </a:p>
        </p:txBody>
      </p:sp>
      <p:sp>
        <p:nvSpPr>
          <p:cNvPr id="15" name="TextBox 14"/>
          <p:cNvSpPr txBox="1"/>
          <p:nvPr/>
        </p:nvSpPr>
        <p:spPr>
          <a:xfrm>
            <a:off x="6281928" y="4206240"/>
            <a:ext cx="5120640" cy="822960"/>
          </a:xfrm>
          <a:prstGeom prst="rect">
            <a:avLst/>
          </a:prstGeom>
          <a:noFill/>
        </p:spPr>
        <p:txBody>
          <a:bodyPr wrap="square" lIns="45720" rIns="45720" tIns="27432" bIns="27432" anchor="t">
            <a:spAutoFit/>
          </a:bodyPr>
          <a:lstStyle/>
          <a:p>
            <a:pPr algn="l">
              <a:spcAft>
                <a:spcPts val="600"/>
              </a:spcAft>
            </a:pPr>
            <a:r>
              <a:rPr sz="1500" b="0" i="0">
                <a:solidFill>
                  <a:srgbClr val="263238"/>
                </a:solidFill>
              </a:rPr>
              <a:t>0,2 s Schritt, 3 von 5; Sturz erkannt, wenn ≤ 1 s nach Aufprall Alarm.</a:t>
            </a:r>
          </a:p>
        </p:txBody>
      </p:sp>
      <p:sp>
        <p:nvSpPr>
          <p:cNvPr id="16" name="TextBox 15"/>
          <p:cNvSpPr txBox="1"/>
          <p:nvPr/>
        </p:nvSpPr>
        <p:spPr>
          <a:xfrm>
            <a:off x="429768" y="5440680"/>
            <a:ext cx="11247120" cy="731520"/>
          </a:xfrm>
          <a:prstGeom prst="rect">
            <a:avLst/>
          </a:prstGeom>
          <a:noFill/>
        </p:spPr>
        <p:txBody>
          <a:bodyPr wrap="square" lIns="45720" rIns="45720" tIns="27432" bIns="27432" anchor="t">
            <a:spAutoFit/>
          </a:bodyPr>
          <a:lstStyle/>
          <a:p>
            <a:pPr algn="l">
              <a:spcAft>
                <a:spcPts val="600"/>
              </a:spcAft>
            </a:pPr>
            <a:r>
              <a:rPr sz="1500" b="1" i="0">
                <a:solidFill>
                  <a:srgbClr val="263238"/>
                </a:solidFill>
              </a:rPr>
              <a:t>Warum? </a:t>
            </a:r>
            <a:r>
              <a:rPr sz="1500" b="0" i="0">
                <a:solidFill>
                  <a:srgbClr val="263238"/>
                </a:solidFill>
              </a:rPr>
              <a:t>Zwei frühere Einzelaufteilungen lieferten gegensätzliche Ergebnisse (−8,5 vs. +43,5 pp) – erst die Kreuzvalidierung war belastbar.</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1: Basismodell am Rumpf (SisFall)</a:t>
            </a:r>
          </a:p>
        </p:txBody>
      </p:sp>
      <p:graphicFrame>
        <p:nvGraphicFramePr>
          <p:cNvPr id="4" name="Chart 3"/>
          <p:cNvGraphicFramePr>
            <a:graphicFrameLocks noGrp="1"/>
          </p:cNvGraphicFramePr>
          <p:nvPr/>
        </p:nvGraphicFramePr>
        <p:xfrm>
          <a:off x="429768" y="1645920"/>
          <a:ext cx="6766560" cy="4526280"/>
        </p:xfrm>
        <a:graphic>
          <a:graphicData uri="http://schemas.openxmlformats.org/drawingml/2006/chart">
            <c:chart xmlns:c="http://schemas.openxmlformats.org/drawingml/2006/chart" r:id="rId2"/>
          </a:graphicData>
        </a:graphic>
      </p:graphicFrame>
      <p:sp>
        <p:nvSpPr>
          <p:cNvPr id="5" name="Rectangle 4"/>
          <p:cNvSpPr/>
          <p:nvPr/>
        </p:nvSpPr>
        <p:spPr>
          <a:xfrm>
            <a:off x="7589520" y="1783080"/>
            <a:ext cx="4069080"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26680" y="1874519"/>
            <a:ext cx="3794760" cy="731520"/>
          </a:xfrm>
          <a:prstGeom prst="rect">
            <a:avLst/>
          </a:prstGeom>
          <a:noFill/>
        </p:spPr>
        <p:txBody>
          <a:bodyPr wrap="square" lIns="45720" rIns="45720" tIns="27432" bIns="27432" anchor="t">
            <a:spAutoFit/>
          </a:bodyPr>
          <a:lstStyle/>
          <a:p>
            <a:pPr algn="l">
              <a:spcAft>
                <a:spcPts val="600"/>
              </a:spcAft>
            </a:pPr>
            <a:r>
              <a:rPr sz="3400" b="1" i="0">
                <a:solidFill>
                  <a:srgbClr val="80BA24"/>
                </a:solidFill>
              </a:rPr>
              <a:t>11 503 → 39</a:t>
            </a:r>
          </a:p>
        </p:txBody>
      </p:sp>
      <p:sp>
        <p:nvSpPr>
          <p:cNvPr id="7" name="TextBox 6"/>
          <p:cNvSpPr txBox="1"/>
          <p:nvPr/>
        </p:nvSpPr>
        <p:spPr>
          <a:xfrm>
            <a:off x="7726680" y="2578608"/>
            <a:ext cx="37947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Fehlalarm-Fenster: Schwellwert → CNN</a:t>
            </a:r>
          </a:p>
        </p:txBody>
      </p:sp>
      <p:sp>
        <p:nvSpPr>
          <p:cNvPr id="8" name="Rectangle 7"/>
          <p:cNvSpPr/>
          <p:nvPr/>
        </p:nvSpPr>
        <p:spPr>
          <a:xfrm>
            <a:off x="7589520" y="3429000"/>
            <a:ext cx="4069080"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80" y="3520440"/>
            <a:ext cx="3794760" cy="731520"/>
          </a:xfrm>
          <a:prstGeom prst="rect">
            <a:avLst/>
          </a:prstGeom>
          <a:noFill/>
        </p:spPr>
        <p:txBody>
          <a:bodyPr wrap="square" lIns="45720" rIns="45720" tIns="27432" bIns="27432" anchor="t">
            <a:spAutoFit/>
          </a:bodyPr>
          <a:lstStyle/>
          <a:p>
            <a:pPr algn="l">
              <a:spcAft>
                <a:spcPts val="600"/>
              </a:spcAft>
            </a:pPr>
            <a:r>
              <a:rPr sz="3400" b="1" i="0">
                <a:solidFill>
                  <a:srgbClr val="4A5C66"/>
                </a:solidFill>
              </a:rPr>
              <a:t>105 → 18</a:t>
            </a:r>
          </a:p>
        </p:txBody>
      </p:sp>
      <p:sp>
        <p:nvSpPr>
          <p:cNvPr id="10" name="TextBox 9"/>
          <p:cNvSpPr txBox="1"/>
          <p:nvPr/>
        </p:nvSpPr>
        <p:spPr>
          <a:xfrm>
            <a:off x="7726680" y="4224528"/>
            <a:ext cx="37947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übersehene Stürze: Random Forest → CNN</a:t>
            </a:r>
          </a:p>
        </p:txBody>
      </p:sp>
      <p:sp>
        <p:nvSpPr>
          <p:cNvPr id="11" name="TextBox 10"/>
          <p:cNvSpPr txBox="1"/>
          <p:nvPr/>
        </p:nvSpPr>
        <p:spPr>
          <a:xfrm>
            <a:off x="7589520" y="5029200"/>
            <a:ext cx="4069080" cy="1097280"/>
          </a:xfrm>
          <a:prstGeom prst="rect">
            <a:avLst/>
          </a:prstGeom>
          <a:noFill/>
        </p:spPr>
        <p:txBody>
          <a:bodyPr wrap="square" lIns="45720" rIns="45720" tIns="27432" bIns="27432" anchor="t">
            <a:spAutoFit/>
          </a:bodyPr>
          <a:lstStyle/>
          <a:p>
            <a:pPr algn="l">
              <a:spcAft>
                <a:spcPts val="600"/>
              </a:spcAft>
            </a:pPr>
            <a:r>
              <a:rPr sz="1500" b="0" i="0">
                <a:solidFill>
                  <a:srgbClr val="263238"/>
                </a:solidFill>
              </a:rPr>
              <a:t>Jede Stufe behebt die Schwäche der vorigen. Das CNN wird Basismodell.</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2: Übertragbarkeit auf andere Datensätze</a:t>
            </a:r>
          </a:p>
        </p:txBody>
      </p:sp>
      <p:graphicFrame>
        <p:nvGraphicFramePr>
          <p:cNvPr id="4" name="Chart 3"/>
          <p:cNvGraphicFramePr>
            <a:graphicFrameLocks noGrp="1"/>
          </p:cNvGraphicFramePr>
          <p:nvPr/>
        </p:nvGraphicFramePr>
        <p:xfrm>
          <a:off x="429768" y="1645920"/>
          <a:ext cx="6949440" cy="4526280"/>
        </p:xfrm>
        <a:graphic>
          <a:graphicData uri="http://schemas.openxmlformats.org/drawingml/2006/chart">
            <c:chart xmlns:c="http://schemas.openxmlformats.org/drawingml/2006/chart" r:id="rId2"/>
          </a:graphicData>
        </a:graphic>
      </p:graphicFrame>
      <p:sp>
        <p:nvSpPr>
          <p:cNvPr id="5" name="TextBox 4"/>
          <p:cNvSpPr txBox="1"/>
          <p:nvPr/>
        </p:nvSpPr>
        <p:spPr>
          <a:xfrm>
            <a:off x="7680960" y="1783080"/>
            <a:ext cx="3977639" cy="4389120"/>
          </a:xfrm>
          <a:prstGeom prst="rect">
            <a:avLst/>
          </a:prstGeom>
          <a:noFill/>
        </p:spPr>
        <p:txBody>
          <a:bodyPr wrap="square" lIns="45720" rIns="45720" tIns="27432" bIns="27432" anchor="t">
            <a:spAutoFit/>
          </a:bodyPr>
          <a:lstStyle/>
          <a:p>
            <a:pPr algn="l">
              <a:spcAft>
                <a:spcPts val="900"/>
              </a:spcAft>
            </a:pPr>
            <a:r>
              <a:rPr sz="1800" b="1" i="0">
                <a:solidFill>
                  <a:srgbClr val="80BA24"/>
                </a:solidFill>
              </a:rPr>
              <a:t>Sensitivität</a:t>
            </a:r>
          </a:p>
          <a:p>
            <a:pPr algn="l">
              <a:spcAft>
                <a:spcPts val="900"/>
              </a:spcAft>
            </a:pPr>
            <a:r>
              <a:rPr sz="1500" b="0" i="0">
                <a:solidFill>
                  <a:srgbClr val="263238"/>
                </a:solidFill>
              </a:rPr>
              <a:t>Fine-Tuning schließt die Lücke zuverlässig.</a:t>
            </a:r>
          </a:p>
          <a:p>
            <a:pPr algn="l">
              <a:spcAft>
                <a:spcPts val="900"/>
              </a:spcAft>
            </a:pPr>
            <a:r>
              <a:rPr sz="1500" b="1" i="0">
                <a:solidFill>
                  <a:srgbClr val="263238"/>
                </a:solidFill>
              </a:rPr>
              <a:t>Messbereich? </a:t>
            </a:r>
            <a:r>
              <a:rPr sz="1500" b="0" i="0">
                <a:solidFill>
                  <a:srgbClr val="263238"/>
                </a:solidFill>
              </a:rPr>
              <a:t>Nein: SisFall auf ±8 g begrenzt bleibt bei 98,7 %.</a:t>
            </a:r>
          </a:p>
          <a:p>
            <a:pPr algn="l">
              <a:spcAft>
                <a:spcPts val="900"/>
              </a:spcAft>
            </a:pPr>
            <a:r>
              <a:rPr sz="1500" b="1" i="0">
                <a:solidFill>
                  <a:srgbClr val="263238"/>
                </a:solidFill>
              </a:rPr>
              <a:t>Abtastrate? </a:t>
            </a:r>
            <a:r>
              <a:rPr sz="1500" b="0" i="0">
                <a:solidFill>
                  <a:srgbClr val="263238"/>
                </a:solidFill>
              </a:rPr>
              <a:t>Nein: FallAllD hat 238 Hz und scheitert trotzdem.</a:t>
            </a:r>
          </a:p>
          <a:p>
            <a:pPr algn="l">
              <a:spcAft>
                <a:spcPts val="900"/>
              </a:spcAft>
            </a:pPr>
            <a:r>
              <a:rPr sz="1500" b="1" i="0">
                <a:solidFill>
                  <a:srgbClr val="263238"/>
                </a:solidFill>
              </a:rPr>
              <a:t>Wahrscheinlicher: </a:t>
            </a:r>
            <a:r>
              <a:rPr sz="1500" b="0" i="0">
                <a:solidFill>
                  <a:srgbClr val="263238"/>
                </a:solidFill>
              </a:rPr>
              <a:t>die Achsenlage (→ Ergebnis 6).</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3: Fehlalarme, Voting, Trainingsstrategie</a:t>
            </a:r>
          </a:p>
        </p:txBody>
      </p:sp>
      <p:sp>
        <p:nvSpPr>
          <p:cNvPr id="4" name="Rectangle 3"/>
          <p:cNvSpPr/>
          <p:nvPr/>
        </p:nvSpPr>
        <p:spPr>
          <a:xfrm>
            <a:off x="429768" y="1737360"/>
            <a:ext cx="3611880"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66928" y="1828800"/>
            <a:ext cx="3337560" cy="731520"/>
          </a:xfrm>
          <a:prstGeom prst="rect">
            <a:avLst/>
          </a:prstGeom>
          <a:noFill/>
        </p:spPr>
        <p:txBody>
          <a:bodyPr wrap="square" lIns="45720" rIns="45720" tIns="27432" bIns="27432" anchor="t">
            <a:spAutoFit/>
          </a:bodyPr>
          <a:lstStyle/>
          <a:p>
            <a:pPr algn="l">
              <a:spcAft>
                <a:spcPts val="600"/>
              </a:spcAft>
            </a:pPr>
            <a:r>
              <a:rPr sz="4000" b="1" i="0">
                <a:solidFill>
                  <a:srgbClr val="B3263E"/>
                </a:solidFill>
              </a:rPr>
              <a:t>94 / h</a:t>
            </a:r>
          </a:p>
        </p:txBody>
      </p:sp>
      <p:sp>
        <p:nvSpPr>
          <p:cNvPr id="6" name="TextBox 5"/>
          <p:cNvSpPr txBox="1"/>
          <p:nvPr/>
        </p:nvSpPr>
        <p:spPr>
          <a:xfrm>
            <a:off x="566928" y="2532888"/>
            <a:ext cx="33375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Fehlalarme am Knöchel ohne Anpassung, v. a. Joggen und Gehen</a:t>
            </a:r>
          </a:p>
        </p:txBody>
      </p:sp>
      <p:sp>
        <p:nvSpPr>
          <p:cNvPr id="7" name="Rectangle 6"/>
          <p:cNvSpPr/>
          <p:nvPr/>
        </p:nvSpPr>
        <p:spPr>
          <a:xfrm>
            <a:off x="4224528" y="1737360"/>
            <a:ext cx="3611880"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361688" y="1828800"/>
            <a:ext cx="3337560" cy="731520"/>
          </a:xfrm>
          <a:prstGeom prst="rect">
            <a:avLst/>
          </a:prstGeom>
          <a:noFill/>
        </p:spPr>
        <p:txBody>
          <a:bodyPr wrap="square" lIns="45720" rIns="45720" tIns="27432" bIns="27432" anchor="t">
            <a:spAutoFit/>
          </a:bodyPr>
          <a:lstStyle/>
          <a:p>
            <a:pPr algn="l">
              <a:spcAft>
                <a:spcPts val="600"/>
              </a:spcAft>
            </a:pPr>
            <a:r>
              <a:rPr sz="4000" b="1" i="0">
                <a:solidFill>
                  <a:srgbClr val="80BA24"/>
                </a:solidFill>
              </a:rPr>
              <a:t>+9,9 pp</a:t>
            </a:r>
          </a:p>
        </p:txBody>
      </p:sp>
      <p:sp>
        <p:nvSpPr>
          <p:cNvPr id="9" name="TextBox 8"/>
          <p:cNvSpPr txBox="1"/>
          <p:nvPr/>
        </p:nvSpPr>
        <p:spPr>
          <a:xfrm>
            <a:off x="4361688" y="2532888"/>
            <a:ext cx="333756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progressiv (SisFall → KFall → Ziel) statt direkt, 5/5 Falten</a:t>
            </a:r>
          </a:p>
        </p:txBody>
      </p:sp>
      <p:sp>
        <p:nvSpPr>
          <p:cNvPr id="10" name="Rectangle 9"/>
          <p:cNvSpPr/>
          <p:nvPr/>
        </p:nvSpPr>
        <p:spPr>
          <a:xfrm>
            <a:off x="8019288" y="1737360"/>
            <a:ext cx="3639312"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56448" y="1828800"/>
            <a:ext cx="3364992" cy="731520"/>
          </a:xfrm>
          <a:prstGeom prst="rect">
            <a:avLst/>
          </a:prstGeom>
          <a:noFill/>
        </p:spPr>
        <p:txBody>
          <a:bodyPr wrap="square" lIns="45720" rIns="45720" tIns="27432" bIns="27432" anchor="t">
            <a:spAutoFit/>
          </a:bodyPr>
          <a:lstStyle/>
          <a:p>
            <a:pPr algn="l">
              <a:spcAft>
                <a:spcPts val="600"/>
              </a:spcAft>
            </a:pPr>
            <a:r>
              <a:rPr sz="4000" b="1" i="0">
                <a:solidFill>
                  <a:srgbClr val="4A5C66"/>
                </a:solidFill>
              </a:rPr>
              <a:t>−7,4 pp</a:t>
            </a:r>
          </a:p>
        </p:txBody>
      </p:sp>
      <p:sp>
        <p:nvSpPr>
          <p:cNvPr id="12" name="TextBox 11"/>
          <p:cNvSpPr txBox="1"/>
          <p:nvPr/>
        </p:nvSpPr>
        <p:spPr>
          <a:xfrm>
            <a:off x="8156448" y="2532888"/>
            <a:ext cx="3364992"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Sensitivität durch Hard Negatives – falscher Tausch</a:t>
            </a:r>
          </a:p>
        </p:txBody>
      </p:sp>
      <p:sp>
        <p:nvSpPr>
          <p:cNvPr id="13" name="TextBox 12"/>
          <p:cNvSpPr txBox="1"/>
          <p:nvPr/>
        </p:nvSpPr>
        <p:spPr>
          <a:xfrm>
            <a:off x="429768" y="3474720"/>
            <a:ext cx="11247120" cy="2651760"/>
          </a:xfrm>
          <a:prstGeom prst="rect">
            <a:avLst/>
          </a:prstGeom>
          <a:noFill/>
        </p:spPr>
        <p:txBody>
          <a:bodyPr wrap="square" lIns="45720" rIns="45720" tIns="27432" bIns="27432" anchor="t">
            <a:spAutoFit/>
          </a:bodyPr>
          <a:lstStyle/>
          <a:p>
            <a:pPr algn="l" marL="228600" indent="-228600">
              <a:spcAft>
                <a:spcPts val="800"/>
              </a:spcAft>
              <a:buChar char="•"/>
            </a:pPr>
            <a:r>
              <a:rPr sz="1500" b="1" i="0">
                <a:solidFill>
                  <a:srgbClr val="263238"/>
                </a:solidFill>
              </a:rPr>
              <a:t>Voting (5 von 7): </a:t>
            </a:r>
            <a:r>
              <a:rPr sz="1500" b="0" i="0">
                <a:solidFill>
                  <a:srgbClr val="263238"/>
                </a:solidFill>
              </a:rPr>
              <a:t>−84 % Fehlalarme, aber die Hälfte der Sensitivität. Ohne Anpassung bleiben 3 von 47 Stürzen, mit Anpassung 13.</a:t>
            </a:r>
          </a:p>
          <a:p>
            <a:pPr algn="l" marL="228600" indent="-228600">
              <a:spcAft>
                <a:spcPts val="800"/>
              </a:spcAft>
              <a:buChar char="•"/>
            </a:pPr>
            <a:r>
              <a:rPr sz="1500" b="1" i="0">
                <a:solidFill>
                  <a:srgbClr val="80BA24"/>
                </a:solidFill>
              </a:rPr>
              <a:t>→ Voting ersetzt die Anpassung nicht, es setzt sie voraus.</a:t>
            </a:r>
          </a:p>
          <a:p>
            <a:pPr algn="l" marL="228600" indent="-228600">
              <a:spcAft>
                <a:spcPts val="800"/>
              </a:spcAft>
              <a:buChar char="•"/>
            </a:pPr>
            <a:r>
              <a:rPr sz="1500" b="1" i="0">
                <a:solidFill>
                  <a:srgbClr val="263238"/>
                </a:solidFill>
              </a:rPr>
              <a:t>Hard Negatives: </a:t>
            </a:r>
            <a:r>
              <a:rPr sz="1500" b="0" i="0">
                <a:solidFill>
                  <a:srgbClr val="263238"/>
                </a:solidFill>
              </a:rPr>
              <a:t>Sp +2,1 pp gegen Se −7,4 pp. Fehlalarme lassen sich nachgelagert filtern, verpasste Stürze nicht.</a:t>
            </a:r>
          </a:p>
          <a:p>
            <a:pPr algn="l" marL="228600" indent="-228600">
              <a:spcAft>
                <a:spcPts val="800"/>
              </a:spcAft>
              <a:buChar char="•"/>
            </a:pPr>
            <a:r>
              <a:rPr sz="1500" b="1" i="0">
                <a:solidFill>
                  <a:srgbClr val="263238"/>
                </a:solidFill>
              </a:rPr>
              <a:t>Progressiv: </a:t>
            </a:r>
            <a:r>
              <a:rPr sz="1500" b="0" i="0">
                <a:solidFill>
                  <a:srgbClr val="263238"/>
                </a:solidFill>
              </a:rPr>
              <a:t>hilft bei wenig Zieldaten (UMAFall, 157 Stürze); bei vielen (CAPPIMU) kein Unterschied.</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4: Vom Rumpf zum Fuß</a:t>
            </a:r>
          </a:p>
        </p:txBody>
      </p:sp>
      <p:pic>
        <p:nvPicPr>
          <p:cNvPr id="4" name="Picture 3" descr="positionskurve.png"/>
          <p:cNvPicPr>
            <a:picLocks noChangeAspect="1"/>
          </p:cNvPicPr>
          <p:nvPr/>
        </p:nvPicPr>
        <p:blipFill>
          <a:blip r:embed="rId2"/>
          <a:stretch>
            <a:fillRect/>
          </a:stretch>
        </p:blipFill>
        <p:spPr>
          <a:xfrm>
            <a:off x="429768" y="1645920"/>
            <a:ext cx="11247120" cy="3561588"/>
          </a:xfrm>
          <a:prstGeom prst="rect">
            <a:avLst/>
          </a:prstGeom>
        </p:spPr>
      </p:pic>
      <p:sp>
        <p:nvSpPr>
          <p:cNvPr id="5" name="TextBox 4"/>
          <p:cNvSpPr txBox="1"/>
          <p:nvPr/>
        </p:nvSpPr>
        <p:spPr>
          <a:xfrm>
            <a:off x="429768" y="5349240"/>
            <a:ext cx="11247120" cy="822960"/>
          </a:xfrm>
          <a:prstGeom prst="rect">
            <a:avLst/>
          </a:prstGeom>
          <a:noFill/>
        </p:spPr>
        <p:txBody>
          <a:bodyPr wrap="square" lIns="45720" rIns="45720" tIns="27432" bIns="27432" anchor="t">
            <a:spAutoFit/>
          </a:bodyPr>
          <a:lstStyle/>
          <a:p>
            <a:pPr algn="l">
              <a:spcAft>
                <a:spcPts val="600"/>
              </a:spcAft>
            </a:pPr>
            <a:r>
              <a:rPr sz="1600" b="1" i="0">
                <a:solidFill>
                  <a:srgbClr val="B3263E"/>
                </a:solidFill>
              </a:rPr>
              <a:t>Sohle: 161–290 Fehlalarme/h</a:t>
            </a:r>
            <a:r>
              <a:rPr sz="1600" b="0" i="0">
                <a:solidFill>
                  <a:srgbClr val="263238"/>
                </a:solidFill>
              </a:rPr>
              <a:t> – mehr als an jeder anderen Position. </a:t>
            </a:r>
            <a:r>
              <a:rPr sz="1600" b="1" i="0">
                <a:solidFill>
                  <a:srgbClr val="263238"/>
                </a:solidFill>
              </a:rPr>
              <a:t>Links und rechts unterscheiden sich bei denselben Stürzen bis Faktor 9.</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5: Vorher/Nachher – Daten vom Bein und vom Fuß</a:t>
            </a:r>
          </a:p>
        </p:txBody>
      </p:sp>
      <p:graphicFrame>
        <p:nvGraphicFramePr>
          <p:cNvPr id="4" name="Chart 3"/>
          <p:cNvGraphicFramePr>
            <a:graphicFrameLocks noGrp="1"/>
          </p:cNvGraphicFramePr>
          <p:nvPr/>
        </p:nvGraphicFramePr>
        <p:xfrm>
          <a:off x="429768" y="1645920"/>
          <a:ext cx="5486400" cy="402336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172200" y="1645920"/>
          <a:ext cx="5486400" cy="4023360"/>
        </p:xfrm>
        <a:graphic>
          <a:graphicData uri="http://schemas.openxmlformats.org/drawingml/2006/chart">
            <c:chart xmlns:c="http://schemas.openxmlformats.org/drawingml/2006/chart" r:id="rId3"/>
          </a:graphicData>
        </a:graphic>
      </p:graphicFrame>
      <p:sp>
        <p:nvSpPr>
          <p:cNvPr id="6" name="TextBox 5"/>
          <p:cNvSpPr txBox="1"/>
          <p:nvPr/>
        </p:nvSpPr>
        <p:spPr>
          <a:xfrm>
            <a:off x="429768" y="5760720"/>
            <a:ext cx="11247120" cy="502920"/>
          </a:xfrm>
          <a:prstGeom prst="rect">
            <a:avLst/>
          </a:prstGeom>
          <a:noFill/>
        </p:spPr>
        <p:txBody>
          <a:bodyPr wrap="square" lIns="45720" rIns="45720" tIns="27432" bIns="27432" anchor="t">
            <a:spAutoFit/>
          </a:bodyPr>
          <a:lstStyle/>
          <a:p>
            <a:pPr algn="l">
              <a:spcAft>
                <a:spcPts val="600"/>
              </a:spcAft>
            </a:pPr>
            <a:r>
              <a:rPr sz="1500" b="1" i="0">
                <a:solidFill>
                  <a:srgbClr val="263238"/>
                </a:solidFill>
              </a:rPr>
              <a:t>Fußdaten ohne Stürze: −95 % Fehlalarme bei gleicher Sensitivität (+0,6 pp, n. s.). </a:t>
            </a:r>
            <a:r>
              <a:rPr sz="1500" b="0" i="0">
                <a:solidFill>
                  <a:srgbClr val="4A5C66"/>
                </a:solidFill>
              </a:rPr>
              <a:t>Smart-Insole im Training: Ergebnis folgt.</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6: Die Achsenlage ist eine eigene Fehlerquelle</a:t>
            </a:r>
          </a:p>
        </p:txBody>
      </p:sp>
      <p:graphicFrame>
        <p:nvGraphicFramePr>
          <p:cNvPr id="4" name="Chart 3"/>
          <p:cNvGraphicFramePr>
            <a:graphicFrameLocks noGrp="1"/>
          </p:cNvGraphicFramePr>
          <p:nvPr/>
        </p:nvGraphicFramePr>
        <p:xfrm>
          <a:off x="429768" y="1645920"/>
          <a:ext cx="6035040" cy="3931920"/>
        </p:xfrm>
        <a:graphic>
          <a:graphicData uri="http://schemas.openxmlformats.org/drawingml/2006/chart">
            <c:chart xmlns:c="http://schemas.openxmlformats.org/drawingml/2006/chart" r:id="rId2"/>
          </a:graphicData>
        </a:graphic>
      </p:graphicFrame>
      <p:sp>
        <p:nvSpPr>
          <p:cNvPr id="5" name="Rectangle 4"/>
          <p:cNvSpPr/>
          <p:nvPr/>
        </p:nvSpPr>
        <p:spPr>
          <a:xfrm>
            <a:off x="6766560" y="1737360"/>
            <a:ext cx="4892040"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03720" y="1828800"/>
            <a:ext cx="4617720" cy="731520"/>
          </a:xfrm>
          <a:prstGeom prst="rect">
            <a:avLst/>
          </a:prstGeom>
          <a:noFill/>
        </p:spPr>
        <p:txBody>
          <a:bodyPr wrap="square" lIns="45720" rIns="45720" tIns="27432" bIns="27432" anchor="t">
            <a:spAutoFit/>
          </a:bodyPr>
          <a:lstStyle/>
          <a:p>
            <a:pPr algn="l">
              <a:spcAft>
                <a:spcPts val="600"/>
              </a:spcAft>
            </a:pPr>
            <a:r>
              <a:rPr sz="3400" b="1" i="0">
                <a:solidFill>
                  <a:srgbClr val="80BA24"/>
                </a:solidFill>
              </a:rPr>
              <a:t>3 → 15 von 22</a:t>
            </a:r>
          </a:p>
        </p:txBody>
      </p:sp>
      <p:sp>
        <p:nvSpPr>
          <p:cNvPr id="7" name="TextBox 6"/>
          <p:cNvSpPr txBox="1"/>
          <p:nvPr/>
        </p:nvSpPr>
        <p:spPr>
          <a:xfrm>
            <a:off x="6903720" y="2532888"/>
            <a:ext cx="461772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Stürze an der eigenen Hüfte – nur durch Achsen wie SisFall (+z vorn, +y unten)</a:t>
            </a:r>
          </a:p>
        </p:txBody>
      </p:sp>
      <p:sp>
        <p:nvSpPr>
          <p:cNvPr id="8" name="Rectangle 7"/>
          <p:cNvSpPr/>
          <p:nvPr/>
        </p:nvSpPr>
        <p:spPr>
          <a:xfrm>
            <a:off x="6766560" y="3337560"/>
            <a:ext cx="4892040" cy="141732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03720" y="3429000"/>
            <a:ext cx="4617720" cy="731520"/>
          </a:xfrm>
          <a:prstGeom prst="rect">
            <a:avLst/>
          </a:prstGeom>
          <a:noFill/>
        </p:spPr>
        <p:txBody>
          <a:bodyPr wrap="square" lIns="45720" rIns="45720" tIns="27432" bIns="27432" anchor="t">
            <a:spAutoFit/>
          </a:bodyPr>
          <a:lstStyle/>
          <a:p>
            <a:pPr algn="l">
              <a:spcAft>
                <a:spcPts val="600"/>
              </a:spcAft>
            </a:pPr>
            <a:r>
              <a:rPr sz="3400" b="1" i="0">
                <a:solidFill>
                  <a:srgbClr val="4A5C66"/>
                </a:solidFill>
              </a:rPr>
              <a:t>+17,3 pp</a:t>
            </a:r>
          </a:p>
        </p:txBody>
      </p:sp>
      <p:sp>
        <p:nvSpPr>
          <p:cNvPr id="10" name="TextBox 9"/>
          <p:cNvSpPr txBox="1"/>
          <p:nvPr/>
        </p:nvSpPr>
        <p:spPr>
          <a:xfrm>
            <a:off x="6903720" y="4133088"/>
            <a:ext cx="4617720" cy="566928"/>
          </a:xfrm>
          <a:prstGeom prst="rect">
            <a:avLst/>
          </a:prstGeom>
          <a:noFill/>
        </p:spPr>
        <p:txBody>
          <a:bodyPr wrap="square" lIns="45720" rIns="45720" tIns="27432" bIns="27432" anchor="t">
            <a:spAutoFit/>
          </a:bodyPr>
          <a:lstStyle/>
          <a:p>
            <a:pPr algn="l">
              <a:spcAft>
                <a:spcPts val="600"/>
              </a:spcAft>
            </a:pPr>
            <a:r>
              <a:rPr sz="1300" b="0" i="0">
                <a:solidFill>
                  <a:srgbClr val="4A5C66"/>
                </a:solidFill>
              </a:rPr>
              <a:t>Rotationsaugmentierung (B2r): Se bei gedrehtem Sensor, 5/5 Falten</a:t>
            </a:r>
          </a:p>
        </p:txBody>
      </p:sp>
      <p:sp>
        <p:nvSpPr>
          <p:cNvPr id="11" name="TextBox 10"/>
          <p:cNvSpPr txBox="1"/>
          <p:nvPr/>
        </p:nvSpPr>
        <p:spPr>
          <a:xfrm>
            <a:off x="429768" y="5669280"/>
            <a:ext cx="11247120" cy="548640"/>
          </a:xfrm>
          <a:prstGeom prst="rect">
            <a:avLst/>
          </a:prstGeom>
          <a:noFill/>
        </p:spPr>
        <p:txBody>
          <a:bodyPr wrap="square" lIns="45720" rIns="45720" tIns="27432" bIns="27432" anchor="t">
            <a:spAutoFit/>
          </a:bodyPr>
          <a:lstStyle/>
          <a:p>
            <a:pPr algn="l">
              <a:spcAft>
                <a:spcPts val="600"/>
              </a:spcAft>
            </a:pPr>
            <a:r>
              <a:rPr sz="1600" b="1" i="0">
                <a:solidFill>
                  <a:srgbClr val="80BA24"/>
                </a:solidFill>
              </a:rPr>
              <a:t>Mein Befund: </a:t>
            </a:r>
            <a:r>
              <a:rPr sz="1600" b="1" i="0">
                <a:solidFill>
                  <a:srgbClr val="263238"/>
                </a:solidFill>
              </a:rPr>
              <a:t>Spiegelung erklärt den Seitenunterschied vollständig. Die Einbaulage gehört zur Modellspezifikation.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Ergebnis 7: Pilotversuch auf der eigenen Hardware</a:t>
            </a:r>
          </a:p>
        </p:txBody>
      </p:sp>
      <p:graphicFrame>
        <p:nvGraphicFramePr>
          <p:cNvPr id="4" name="Table 3"/>
          <p:cNvGraphicFramePr>
            <a:graphicFrameLocks noGrp="1"/>
          </p:cNvGraphicFramePr>
          <p:nvPr/>
        </p:nvGraphicFramePr>
        <p:xfrm>
          <a:off x="429768" y="1737360"/>
          <a:ext cx="5852160" cy="2468880"/>
        </p:xfrm>
        <a:graphic>
          <a:graphicData uri="http://schemas.openxmlformats.org/drawingml/2006/table">
            <a:tbl>
              <a:tblPr firstRow="1" bandRow="1">
                <a:tableStyleId>{5C22544A-7EE6-4342-B048-85BDC9FD1C3A}</a:tableStyleId>
              </a:tblPr>
              <a:tblGrid>
                <a:gridCol w="2286000"/>
                <a:gridCol w="1188720"/>
                <a:gridCol w="1188720"/>
                <a:gridCol w="1188720"/>
              </a:tblGrid>
              <a:tr h="411480">
                <a:tc>
                  <a:txBody>
                    <a:bodyPr/>
                    <a:lstStyle/>
                    <a:p>
                      <a:pPr algn="l"/>
                      <a:r>
                        <a:rPr sz="1300" b="1">
                          <a:solidFill>
                            <a:srgbClr val="FFFFFF"/>
                          </a:solidFill>
                        </a:rPr>
                        <a:t>Modell (3 von 5)</a:t>
                      </a:r>
                    </a:p>
                  </a:txBody>
                  <a:tcPr marL="73152" marR="73152" marT="27432" marB="27432" anchor="ctr">
                    <a:solidFill>
                      <a:srgbClr val="4A5C66"/>
                    </a:solidFill>
                  </a:tcPr>
                </a:tc>
                <a:tc>
                  <a:txBody>
                    <a:bodyPr/>
                    <a:lstStyle/>
                    <a:p>
                      <a:pPr algn="ctr"/>
                      <a:r>
                        <a:rPr sz="1300" b="1">
                          <a:solidFill>
                            <a:srgbClr val="FFFFFF"/>
                          </a:solidFill>
                        </a:rPr>
                        <a:t>Hüfte</a:t>
                      </a:r>
                    </a:p>
                  </a:txBody>
                  <a:tcPr marL="73152" marR="73152" marT="27432" marB="27432" anchor="ctr">
                    <a:solidFill>
                      <a:srgbClr val="4A5C66"/>
                    </a:solidFill>
                  </a:tcPr>
                </a:tc>
                <a:tc>
                  <a:txBody>
                    <a:bodyPr/>
                    <a:lstStyle/>
                    <a:p>
                      <a:pPr algn="ctr"/>
                      <a:r>
                        <a:rPr sz="1300" b="1">
                          <a:solidFill>
                            <a:srgbClr val="FFFFFF"/>
                          </a:solidFill>
                        </a:rPr>
                        <a:t>Knöchel r.</a:t>
                      </a:r>
                    </a:p>
                  </a:txBody>
                  <a:tcPr marL="73152" marR="73152" marT="27432" marB="27432" anchor="ctr">
                    <a:solidFill>
                      <a:srgbClr val="4A5C66"/>
                    </a:solidFill>
                  </a:tcPr>
                </a:tc>
                <a:tc>
                  <a:txBody>
                    <a:bodyPr/>
                    <a:lstStyle/>
                    <a:p>
                      <a:pPr algn="ctr"/>
                      <a:r>
                        <a:rPr sz="1300" b="1">
                          <a:solidFill>
                            <a:srgbClr val="FFFFFF"/>
                          </a:solidFill>
                        </a:rPr>
                        <a:t>Knöchel l.</a:t>
                      </a:r>
                    </a:p>
                  </a:txBody>
                  <a:tcPr marL="73152" marR="73152" marT="27432" marB="27432" anchor="ctr">
                    <a:solidFill>
                      <a:srgbClr val="4A5C66"/>
                    </a:solidFill>
                  </a:tcPr>
                </a:tc>
              </a:tr>
              <a:tr h="411480">
                <a:tc>
                  <a:txBody>
                    <a:bodyPr/>
                    <a:lstStyle/>
                    <a:p>
                      <a:pPr algn="l"/>
                      <a:r>
                        <a:rPr sz="1300" b="0">
                          <a:solidFill>
                            <a:srgbClr val="263238"/>
                          </a:solidFill>
                        </a:rPr>
                        <a:t>Basis, Rohdaten</a:t>
                      </a:r>
                    </a:p>
                  </a:txBody>
                  <a:tcPr marL="73152" marR="73152" marT="27432" marB="27432" anchor="ctr">
                    <a:solidFill>
                      <a:srgbClr val="FFFFFF"/>
                    </a:solidFill>
                  </a:tcPr>
                </a:tc>
                <a:tc>
                  <a:txBody>
                    <a:bodyPr/>
                    <a:lstStyle/>
                    <a:p>
                      <a:pPr algn="ctr"/>
                      <a:r>
                        <a:rPr sz="1300" b="0">
                          <a:solidFill>
                            <a:srgbClr val="263238"/>
                          </a:solidFill>
                        </a:rPr>
                        <a:t>3 / 14</a:t>
                      </a:r>
                    </a:p>
                  </a:txBody>
                  <a:tcPr marL="73152" marR="73152" marT="27432" marB="27432" anchor="ctr">
                    <a:solidFill>
                      <a:srgbClr val="FFFFFF"/>
                    </a:solidFill>
                  </a:tcPr>
                </a:tc>
                <a:tc>
                  <a:txBody>
                    <a:bodyPr/>
                    <a:lstStyle/>
                    <a:p>
                      <a:pPr algn="ctr"/>
                      <a:r>
                        <a:rPr sz="1300" b="0">
                          <a:solidFill>
                            <a:srgbClr val="263238"/>
                          </a:solidFill>
                        </a:rPr>
                        <a:t>17 / 51</a:t>
                      </a:r>
                    </a:p>
                  </a:txBody>
                  <a:tcPr marL="73152" marR="73152" marT="27432" marB="27432" anchor="ctr">
                    <a:solidFill>
                      <a:srgbClr val="FFFFFF"/>
                    </a:solidFill>
                  </a:tcPr>
                </a:tc>
                <a:tc>
                  <a:txBody>
                    <a:bodyPr/>
                    <a:lstStyle/>
                    <a:p>
                      <a:pPr algn="ctr"/>
                      <a:r>
                        <a:rPr sz="1300" b="0">
                          <a:solidFill>
                            <a:srgbClr val="263238"/>
                          </a:solidFill>
                        </a:rPr>
                        <a:t>13 / 42</a:t>
                      </a:r>
                    </a:p>
                  </a:txBody>
                  <a:tcPr marL="73152" marR="73152" marT="27432" marB="27432" anchor="ctr">
                    <a:solidFill>
                      <a:srgbClr val="FFFFFF"/>
                    </a:solidFill>
                  </a:tcPr>
                </a:tc>
              </a:tr>
              <a:tr h="411480">
                <a:tc>
                  <a:txBody>
                    <a:bodyPr/>
                    <a:lstStyle/>
                    <a:p>
                      <a:pPr algn="l"/>
                      <a:r>
                        <a:rPr sz="1300" b="0">
                          <a:solidFill>
                            <a:srgbClr val="263238"/>
                          </a:solidFill>
                        </a:rPr>
                        <a:t>Basis, SisFall-Achsen</a:t>
                      </a:r>
                    </a:p>
                  </a:txBody>
                  <a:tcPr marL="73152" marR="73152" marT="27432" marB="27432" anchor="ctr">
                    <a:solidFill>
                      <a:srgbClr val="F3F5F6"/>
                    </a:solidFill>
                  </a:tcPr>
                </a:tc>
                <a:tc>
                  <a:txBody>
                    <a:bodyPr/>
                    <a:lstStyle/>
                    <a:p>
                      <a:pPr algn="ctr"/>
                      <a:r>
                        <a:rPr sz="1300" b="0">
                          <a:solidFill>
                            <a:srgbClr val="263238"/>
                          </a:solidFill>
                        </a:rPr>
                        <a:t>15 / 14</a:t>
                      </a:r>
                    </a:p>
                  </a:txBody>
                  <a:tcPr marL="73152" marR="73152" marT="27432" marB="27432" anchor="ctr">
                    <a:solidFill>
                      <a:srgbClr val="F3F5F6"/>
                    </a:solidFill>
                  </a:tcPr>
                </a:tc>
                <a:tc>
                  <a:txBody>
                    <a:bodyPr/>
                    <a:lstStyle/>
                    <a:p>
                      <a:pPr algn="ctr"/>
                      <a:r>
                        <a:rPr sz="1300" b="0">
                          <a:solidFill>
                            <a:srgbClr val="263238"/>
                          </a:solidFill>
                        </a:rPr>
                        <a:t>–</a:t>
                      </a:r>
                    </a:p>
                  </a:txBody>
                  <a:tcPr marL="73152" marR="73152" marT="27432" marB="27432" anchor="ctr">
                    <a:solidFill>
                      <a:srgbClr val="F3F5F6"/>
                    </a:solidFill>
                  </a:tcPr>
                </a:tc>
                <a:tc>
                  <a:txBody>
                    <a:bodyPr/>
                    <a:lstStyle/>
                    <a:p>
                      <a:pPr algn="ctr"/>
                      <a:r>
                        <a:rPr sz="1300" b="0">
                          <a:solidFill>
                            <a:srgbClr val="263238"/>
                          </a:solidFill>
                        </a:rPr>
                        <a:t>–</a:t>
                      </a:r>
                    </a:p>
                  </a:txBody>
                  <a:tcPr marL="73152" marR="73152" marT="27432" marB="27432" anchor="ctr">
                    <a:solidFill>
                      <a:srgbClr val="F3F5F6"/>
                    </a:solidFill>
                  </a:tcPr>
                </a:tc>
              </a:tr>
              <a:tr h="411480">
                <a:tc>
                  <a:txBody>
                    <a:bodyPr/>
                    <a:lstStyle/>
                    <a:p>
                      <a:pPr algn="l"/>
                      <a:r>
                        <a:rPr sz="1300" b="0">
                          <a:solidFill>
                            <a:srgbClr val="263238"/>
                          </a:solidFill>
                        </a:rPr>
                        <a:t>B2 (Bein + Fuß)</a:t>
                      </a:r>
                    </a:p>
                  </a:txBody>
                  <a:tcPr marL="73152" marR="73152" marT="27432" marB="27432" anchor="ctr">
                    <a:solidFill>
                      <a:srgbClr val="FFFFFF"/>
                    </a:solidFill>
                  </a:tcPr>
                </a:tc>
                <a:tc>
                  <a:txBody>
                    <a:bodyPr/>
                    <a:lstStyle/>
                    <a:p>
                      <a:pPr algn="ctr"/>
                      <a:r>
                        <a:rPr sz="1300" b="0">
                          <a:solidFill>
                            <a:srgbClr val="263238"/>
                          </a:solidFill>
                        </a:rPr>
                        <a:t>15 / 82</a:t>
                      </a:r>
                    </a:p>
                  </a:txBody>
                  <a:tcPr marL="73152" marR="73152" marT="27432" marB="27432" anchor="ctr">
                    <a:solidFill>
                      <a:srgbClr val="FFFFFF"/>
                    </a:solidFill>
                  </a:tcPr>
                </a:tc>
                <a:tc>
                  <a:txBody>
                    <a:bodyPr/>
                    <a:lstStyle/>
                    <a:p>
                      <a:pPr algn="ctr"/>
                      <a:r>
                        <a:rPr sz="1300" b="0">
                          <a:solidFill>
                            <a:srgbClr val="263238"/>
                          </a:solidFill>
                        </a:rPr>
                        <a:t>22 / 27</a:t>
                      </a:r>
                    </a:p>
                  </a:txBody>
                  <a:tcPr marL="73152" marR="73152" marT="27432" marB="27432" anchor="ctr">
                    <a:solidFill>
                      <a:srgbClr val="FFFFFF"/>
                    </a:solidFill>
                  </a:tcPr>
                </a:tc>
                <a:tc>
                  <a:txBody>
                    <a:bodyPr/>
                    <a:lstStyle/>
                    <a:p>
                      <a:pPr algn="ctr"/>
                      <a:r>
                        <a:rPr sz="1300" b="0">
                          <a:solidFill>
                            <a:srgbClr val="263238"/>
                          </a:solidFill>
                        </a:rPr>
                        <a:t>20 / 39</a:t>
                      </a:r>
                    </a:p>
                  </a:txBody>
                  <a:tcPr marL="73152" marR="73152" marT="27432" marB="27432" anchor="ctr">
                    <a:solidFill>
                      <a:srgbClr val="FFFFFF"/>
                    </a:solidFill>
                  </a:tcPr>
                </a:tc>
              </a:tr>
              <a:tr h="411480">
                <a:tc>
                  <a:txBody>
                    <a:bodyPr/>
                    <a:lstStyle/>
                    <a:p>
                      <a:pPr algn="l"/>
                      <a:r>
                        <a:rPr sz="1300" b="0">
                          <a:solidFill>
                            <a:srgbClr val="263238"/>
                          </a:solidFill>
                        </a:rPr>
                        <a:t>B2r (augmentiert)</a:t>
                      </a:r>
                    </a:p>
                  </a:txBody>
                  <a:tcPr marL="73152" marR="73152" marT="27432" marB="27432" anchor="ctr">
                    <a:solidFill>
                      <a:srgbClr val="F3F5F6"/>
                    </a:solidFill>
                  </a:tcPr>
                </a:tc>
                <a:tc>
                  <a:txBody>
                    <a:bodyPr/>
                    <a:lstStyle/>
                    <a:p>
                      <a:pPr algn="ctr"/>
                      <a:r>
                        <a:rPr sz="1300" b="0">
                          <a:solidFill>
                            <a:srgbClr val="263238"/>
                          </a:solidFill>
                        </a:rPr>
                        <a:t>16 / 63</a:t>
                      </a:r>
                    </a:p>
                  </a:txBody>
                  <a:tcPr marL="73152" marR="73152" marT="27432" marB="27432" anchor="ctr">
                    <a:solidFill>
                      <a:srgbClr val="F3F5F6"/>
                    </a:solidFill>
                  </a:tcPr>
                </a:tc>
                <a:tc>
                  <a:txBody>
                    <a:bodyPr/>
                    <a:lstStyle/>
                    <a:p>
                      <a:pPr algn="ctr"/>
                      <a:r>
                        <a:rPr sz="1300" b="0">
                          <a:solidFill>
                            <a:srgbClr val="263238"/>
                          </a:solidFill>
                        </a:rPr>
                        <a:t>20 / 17</a:t>
                      </a:r>
                    </a:p>
                  </a:txBody>
                  <a:tcPr marL="73152" marR="73152" marT="27432" marB="27432" anchor="ctr">
                    <a:solidFill>
                      <a:srgbClr val="F3F5F6"/>
                    </a:solidFill>
                  </a:tcPr>
                </a:tc>
                <a:tc>
                  <a:txBody>
                    <a:bodyPr/>
                    <a:lstStyle/>
                    <a:p>
                      <a:pPr algn="ctr"/>
                      <a:r>
                        <a:rPr sz="1300" b="0">
                          <a:solidFill>
                            <a:srgbClr val="263238"/>
                          </a:solidFill>
                        </a:rPr>
                        <a:t>11 / 18</a:t>
                      </a:r>
                    </a:p>
                  </a:txBody>
                  <a:tcPr marL="73152" marR="73152" marT="27432" marB="27432" anchor="ctr">
                    <a:solidFill>
                      <a:srgbClr val="F3F5F6"/>
                    </a:solidFill>
                  </a:tcPr>
                </a:tc>
              </a:tr>
              <a:tr h="411480">
                <a:tc>
                  <a:txBody>
                    <a:bodyPr/>
                    <a:lstStyle/>
                    <a:p>
                      <a:pPr algn="l"/>
                      <a:r>
                        <a:rPr sz="1300" b="1">
                          <a:solidFill>
                            <a:srgbClr val="263238"/>
                          </a:solidFill>
                        </a:rPr>
                        <a:t>B2r, links 180° gedreht</a:t>
                      </a:r>
                    </a:p>
                  </a:txBody>
                  <a:tcPr marL="73152" marR="73152" marT="27432" marB="27432" anchor="ctr">
                    <a:solidFill>
                      <a:srgbClr val="EFF6E4"/>
                    </a:solidFill>
                  </a:tcPr>
                </a:tc>
                <a:tc>
                  <a:txBody>
                    <a:bodyPr/>
                    <a:lstStyle/>
                    <a:p>
                      <a:pPr algn="ctr"/>
                      <a:r>
                        <a:rPr sz="1300" b="1">
                          <a:solidFill>
                            <a:srgbClr val="263238"/>
                          </a:solidFill>
                        </a:rPr>
                        <a:t>–</a:t>
                      </a:r>
                    </a:p>
                  </a:txBody>
                  <a:tcPr marL="73152" marR="73152" marT="27432" marB="27432" anchor="ctr">
                    <a:solidFill>
                      <a:srgbClr val="EFF6E4"/>
                    </a:solidFill>
                  </a:tcPr>
                </a:tc>
                <a:tc>
                  <a:txBody>
                    <a:bodyPr/>
                    <a:lstStyle/>
                    <a:p>
                      <a:pPr algn="ctr"/>
                      <a:r>
                        <a:rPr sz="1300" b="1">
                          <a:solidFill>
                            <a:srgbClr val="263238"/>
                          </a:solidFill>
                        </a:rPr>
                        <a:t>–</a:t>
                      </a:r>
                    </a:p>
                  </a:txBody>
                  <a:tcPr marL="73152" marR="73152" marT="27432" marB="27432" anchor="ctr">
                    <a:solidFill>
                      <a:srgbClr val="EFF6E4"/>
                    </a:solidFill>
                  </a:tcPr>
                </a:tc>
                <a:tc>
                  <a:txBody>
                    <a:bodyPr/>
                    <a:lstStyle/>
                    <a:p>
                      <a:pPr algn="ctr"/>
                      <a:r>
                        <a:rPr sz="1300" b="1">
                          <a:solidFill>
                            <a:srgbClr val="263238"/>
                          </a:solidFill>
                        </a:rPr>
                        <a:t>20 / 7</a:t>
                      </a:r>
                    </a:p>
                  </a:txBody>
                  <a:tcPr marL="73152" marR="73152" marT="27432" marB="27432" anchor="ctr">
                    <a:solidFill>
                      <a:srgbClr val="EFF6E4"/>
                    </a:solidFill>
                  </a:tcPr>
                </a:tc>
              </a:tr>
            </a:tbl>
          </a:graphicData>
        </a:graphic>
      </p:graphicFrame>
      <p:sp>
        <p:nvSpPr>
          <p:cNvPr id="5" name="TextBox 4"/>
          <p:cNvSpPr txBox="1"/>
          <p:nvPr/>
        </p:nvSpPr>
        <p:spPr>
          <a:xfrm>
            <a:off x="429768" y="4343400"/>
            <a:ext cx="5852160" cy="548640"/>
          </a:xfrm>
          <a:prstGeom prst="rect">
            <a:avLst/>
          </a:prstGeom>
          <a:noFill/>
        </p:spPr>
        <p:txBody>
          <a:bodyPr wrap="square" lIns="45720" rIns="45720" tIns="27432" bIns="27432" anchor="t">
            <a:spAutoFit/>
          </a:bodyPr>
          <a:lstStyle/>
          <a:p>
            <a:pPr algn="l">
              <a:spcAft>
                <a:spcPts val="600"/>
              </a:spcAft>
            </a:pPr>
            <a:r>
              <a:rPr sz="1200" b="0" i="0">
                <a:solidFill>
                  <a:srgbClr val="4A5C66"/>
                </a:solidFill>
              </a:rPr>
              <a:t>erkannte Stürze / Fehlalarm-Ereignisse (22/23/22 Stürze, 6–10 min Alltag)</a:t>
            </a:r>
          </a:p>
        </p:txBody>
      </p:sp>
      <p:pic>
        <p:nvPicPr>
          <p:cNvPr id="6" name="Picture 5" descr="kennwerte_pilot.png"/>
          <p:cNvPicPr>
            <a:picLocks noChangeAspect="1"/>
          </p:cNvPicPr>
          <p:nvPr/>
        </p:nvPicPr>
        <p:blipFill>
          <a:blip r:embed="rId2"/>
          <a:stretch>
            <a:fillRect/>
          </a:stretch>
        </p:blipFill>
        <p:spPr>
          <a:xfrm>
            <a:off x="6492240" y="1691640"/>
            <a:ext cx="5166360" cy="2066544"/>
          </a:xfrm>
          <a:prstGeom prst="rect">
            <a:avLst/>
          </a:prstGeom>
        </p:spPr>
      </p:pic>
      <p:sp>
        <p:nvSpPr>
          <p:cNvPr id="7" name="TextBox 6"/>
          <p:cNvSpPr txBox="1"/>
          <p:nvPr/>
        </p:nvSpPr>
        <p:spPr>
          <a:xfrm>
            <a:off x="6492240" y="3931920"/>
            <a:ext cx="5166360" cy="2194560"/>
          </a:xfrm>
          <a:prstGeom prst="rect">
            <a:avLst/>
          </a:prstGeom>
          <a:noFill/>
        </p:spPr>
        <p:txBody>
          <a:bodyPr wrap="square" lIns="45720" rIns="45720" tIns="27432" bIns="27432" anchor="t">
            <a:spAutoFit/>
          </a:bodyPr>
          <a:lstStyle/>
          <a:p>
            <a:pPr algn="l" marL="228600" indent="-228600">
              <a:spcAft>
                <a:spcPts val="600"/>
              </a:spcAft>
              <a:buChar char="•"/>
            </a:pPr>
            <a:r>
              <a:rPr sz="1400" b="1" i="0">
                <a:solidFill>
                  <a:srgbClr val="263238"/>
                </a:solidFill>
              </a:rPr>
              <a:t>Spitzenwerte trennen nicht </a:t>
            </a:r>
            <a:r>
              <a:rPr sz="1400" b="0" i="0">
                <a:solidFill>
                  <a:srgbClr val="263238"/>
                </a:solidFill>
              </a:rPr>
              <a:t>(Alltag bis 10,7 g).</a:t>
            </a:r>
          </a:p>
          <a:p>
            <a:pPr algn="l" marL="228600" indent="-228600">
              <a:spcAft>
                <a:spcPts val="600"/>
              </a:spcAft>
              <a:buChar char="•"/>
            </a:pPr>
            <a:r>
              <a:rPr sz="1400" b="1" i="0">
                <a:solidFill>
                  <a:srgbClr val="263238"/>
                </a:solidFill>
              </a:rPr>
              <a:t>Lageänderung &gt; 40° + Ruhe &lt; 0,2 g: </a:t>
            </a:r>
            <a:r>
              <a:rPr sz="1400" b="0" i="0">
                <a:solidFill>
                  <a:srgbClr val="263238"/>
                </a:solidFill>
              </a:rPr>
              <a:t>34 von 45 Knöchelstürzen, 0 Fehlalarme.</a:t>
            </a:r>
          </a:p>
          <a:p>
            <a:pPr algn="l" marL="228600" indent="-228600">
              <a:spcAft>
                <a:spcPts val="600"/>
              </a:spcAft>
              <a:buChar char="•"/>
            </a:pPr>
            <a:r>
              <a:rPr sz="1400" b="0" i="0">
                <a:solidFill>
                  <a:srgbClr val="263238"/>
                </a:solidFill>
              </a:rPr>
              <a:t>→ zweite Stufe hinter dem CNN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Geprüfte Behauptungen</a:t>
            </a:r>
          </a:p>
        </p:txBody>
      </p:sp>
      <p:graphicFrame>
        <p:nvGraphicFramePr>
          <p:cNvPr id="4" name="Table 3"/>
          <p:cNvGraphicFramePr>
            <a:graphicFrameLocks noGrp="1"/>
          </p:cNvGraphicFramePr>
          <p:nvPr/>
        </p:nvGraphicFramePr>
        <p:xfrm>
          <a:off x="429768" y="1691640"/>
          <a:ext cx="11247120" cy="4279392"/>
        </p:xfrm>
        <a:graphic>
          <a:graphicData uri="http://schemas.openxmlformats.org/drawingml/2006/table">
            <a:tbl>
              <a:tblPr firstRow="1" bandRow="1">
                <a:tableStyleId>{5C22544A-7EE6-4342-B048-85BDC9FD1C3A}</a:tableStyleId>
              </a:tblPr>
              <a:tblGrid>
                <a:gridCol w="4754880"/>
                <a:gridCol w="1463040"/>
                <a:gridCol w="5029200"/>
              </a:tblGrid>
              <a:tr h="475488">
                <a:tc>
                  <a:txBody>
                    <a:bodyPr/>
                    <a:lstStyle/>
                    <a:p>
                      <a:pPr algn="l"/>
                      <a:r>
                        <a:rPr sz="1400" b="1">
                          <a:solidFill>
                            <a:srgbClr val="FFFFFF"/>
                          </a:solidFill>
                        </a:rPr>
                        <a:t>Behauptung</a:t>
                      </a:r>
                    </a:p>
                  </a:txBody>
                  <a:tcPr marL="73152" marR="73152" marT="27432" marB="27432" anchor="ctr">
                    <a:solidFill>
                      <a:srgbClr val="4A5C66"/>
                    </a:solidFill>
                  </a:tcPr>
                </a:tc>
                <a:tc>
                  <a:txBody>
                    <a:bodyPr/>
                    <a:lstStyle/>
                    <a:p>
                      <a:pPr algn="ctr"/>
                      <a:r>
                        <a:rPr sz="1400" b="1">
                          <a:solidFill>
                            <a:srgbClr val="FFFFFF"/>
                          </a:solidFill>
                        </a:rPr>
                        <a:t>Ergebnis</a:t>
                      </a:r>
                    </a:p>
                  </a:txBody>
                  <a:tcPr marL="73152" marR="73152" marT="27432" marB="27432" anchor="ctr">
                    <a:solidFill>
                      <a:srgbClr val="4A5C66"/>
                    </a:solidFill>
                  </a:tcPr>
                </a:tc>
                <a:tc>
                  <a:txBody>
                    <a:bodyPr/>
                    <a:lstStyle/>
                    <a:p>
                      <a:pPr algn="ctr"/>
                      <a:r>
                        <a:rPr sz="1400" b="1">
                          <a:solidFill>
                            <a:srgbClr val="FFFFFF"/>
                          </a:solidFill>
                        </a:rPr>
                        <a:t>Beleg</a:t>
                      </a:r>
                    </a:p>
                  </a:txBody>
                  <a:tcPr marL="73152" marR="73152" marT="27432" marB="27432" anchor="ctr">
                    <a:solidFill>
                      <a:srgbClr val="4A5C66"/>
                    </a:solidFill>
                  </a:tcPr>
                </a:tc>
              </a:tr>
              <a:tr h="475488">
                <a:tc>
                  <a:txBody>
                    <a:bodyPr/>
                    <a:lstStyle/>
                    <a:p>
                      <a:pPr algn="l"/>
                      <a:r>
                        <a:rPr sz="1400" b="0">
                          <a:solidFill>
                            <a:srgbClr val="263238"/>
                          </a:solidFill>
                        </a:rPr>
                        <a:t>Fine-Tuning schließt die Domänenlücke</a:t>
                      </a:r>
                    </a:p>
                  </a:txBody>
                  <a:tcPr marL="73152" marR="73152" marT="27432" marB="27432" anchor="ctr">
                    <a:solidFill>
                      <a:srgbClr val="FFFFFF"/>
                    </a:solidFill>
                  </a:tcPr>
                </a:tc>
                <a:tc>
                  <a:txBody>
                    <a:bodyPr/>
                    <a:lstStyle/>
                    <a:p>
                      <a:pPr algn="ctr"/>
                      <a:r>
                        <a:rPr sz="1400" b="0">
                          <a:solidFill>
                            <a:srgbClr val="263238"/>
                          </a:solidFill>
                        </a:rPr>
                        <a:t>bestätigt</a:t>
                      </a:r>
                    </a:p>
                  </a:txBody>
                  <a:tcPr marL="73152" marR="73152" marT="27432" marB="27432" anchor="ctr">
                    <a:solidFill>
                      <a:srgbClr val="FFFFFF"/>
                    </a:solidFill>
                  </a:tcPr>
                </a:tc>
                <a:tc>
                  <a:txBody>
                    <a:bodyPr/>
                    <a:lstStyle/>
                    <a:p>
                      <a:pPr algn="ctr"/>
                      <a:r>
                        <a:rPr sz="1400" b="0">
                          <a:solidFill>
                            <a:srgbClr val="263238"/>
                          </a:solidFill>
                        </a:rPr>
                        <a:t>UMAFall Taille 44 → 92 %</a:t>
                      </a:r>
                    </a:p>
                  </a:txBody>
                  <a:tcPr marL="73152" marR="73152" marT="27432" marB="27432" anchor="ctr">
                    <a:solidFill>
                      <a:srgbClr val="FFFFFF"/>
                    </a:solidFill>
                  </a:tcPr>
                </a:tc>
              </a:tr>
              <a:tr h="475488">
                <a:tc>
                  <a:txBody>
                    <a:bodyPr/>
                    <a:lstStyle/>
                    <a:p>
                      <a:pPr algn="l"/>
                      <a:r>
                        <a:rPr sz="1400" b="0">
                          <a:solidFill>
                            <a:srgbClr val="263238"/>
                          </a:solidFill>
                        </a:rPr>
                        <a:t>Fußdaten ohne Stürze kosten Sensitivität</a:t>
                      </a:r>
                    </a:p>
                  </a:txBody>
                  <a:tcPr marL="73152" marR="73152" marT="27432" marB="27432" anchor="ctr">
                    <a:solidFill>
                      <a:srgbClr val="F3F5F6"/>
                    </a:solidFill>
                  </a:tcPr>
                </a:tc>
                <a:tc>
                  <a:txBody>
                    <a:bodyPr/>
                    <a:lstStyle/>
                    <a:p>
                      <a:pPr algn="ctr"/>
                      <a:r>
                        <a:rPr sz="1400" b="0">
                          <a:solidFill>
                            <a:srgbClr val="263238"/>
                          </a:solidFill>
                        </a:rPr>
                        <a:t>widerlegt</a:t>
                      </a:r>
                    </a:p>
                  </a:txBody>
                  <a:tcPr marL="73152" marR="73152" marT="27432" marB="27432" anchor="ctr">
                    <a:solidFill>
                      <a:srgbClr val="F3F5F6"/>
                    </a:solidFill>
                  </a:tcPr>
                </a:tc>
                <a:tc>
                  <a:txBody>
                    <a:bodyPr/>
                    <a:lstStyle/>
                    <a:p>
                      <a:pPr algn="ctr"/>
                      <a:r>
                        <a:rPr sz="1400" b="0">
                          <a:solidFill>
                            <a:srgbClr val="263238"/>
                          </a:solidFill>
                        </a:rPr>
                        <a:t>Se +0,6 pp, Fehlalarme −95 %</a:t>
                      </a:r>
                    </a:p>
                  </a:txBody>
                  <a:tcPr marL="73152" marR="73152" marT="27432" marB="27432" anchor="ctr">
                    <a:solidFill>
                      <a:srgbClr val="F3F5F6"/>
                    </a:solidFill>
                  </a:tcPr>
                </a:tc>
              </a:tr>
              <a:tr h="475488">
                <a:tc>
                  <a:txBody>
                    <a:bodyPr/>
                    <a:lstStyle/>
                    <a:p>
                      <a:pPr algn="l"/>
                      <a:r>
                        <a:rPr sz="1400" b="0">
                          <a:solidFill>
                            <a:srgbClr val="263238"/>
                          </a:solidFill>
                        </a:rPr>
                        <a:t>Die Position bestimmt die Leistung</a:t>
                      </a:r>
                    </a:p>
                  </a:txBody>
                  <a:tcPr marL="73152" marR="73152" marT="27432" marB="27432" anchor="ctr">
                    <a:solidFill>
                      <a:srgbClr val="FFFFFF"/>
                    </a:solidFill>
                  </a:tcPr>
                </a:tc>
                <a:tc>
                  <a:txBody>
                    <a:bodyPr/>
                    <a:lstStyle/>
                    <a:p>
                      <a:pPr algn="ctr"/>
                      <a:r>
                        <a:rPr sz="1400" b="0">
                          <a:solidFill>
                            <a:srgbClr val="263238"/>
                          </a:solidFill>
                        </a:rPr>
                        <a:t>widerlegt</a:t>
                      </a:r>
                    </a:p>
                  </a:txBody>
                  <a:tcPr marL="73152" marR="73152" marT="27432" marB="27432" anchor="ctr">
                    <a:solidFill>
                      <a:srgbClr val="FFFFFF"/>
                    </a:solidFill>
                  </a:tcPr>
                </a:tc>
                <a:tc>
                  <a:txBody>
                    <a:bodyPr/>
                    <a:lstStyle/>
                    <a:p>
                      <a:pPr algn="ctr"/>
                      <a:r>
                        <a:rPr sz="1400" b="0">
                          <a:solidFill>
                            <a:srgbClr val="263238"/>
                          </a:solidFill>
                        </a:rPr>
                        <a:t>Achsenlage: Spiegeltest 6 → 60 %</a:t>
                      </a:r>
                    </a:p>
                  </a:txBody>
                  <a:tcPr marL="73152" marR="73152" marT="27432" marB="27432" anchor="ctr">
                    <a:solidFill>
                      <a:srgbClr val="FFFFFF"/>
                    </a:solidFill>
                  </a:tcPr>
                </a:tc>
              </a:tr>
              <a:tr h="475488">
                <a:tc>
                  <a:txBody>
                    <a:bodyPr/>
                    <a:lstStyle/>
                    <a:p>
                      <a:pPr algn="l"/>
                      <a:r>
                        <a:rPr sz="1400" b="0">
                          <a:solidFill>
                            <a:srgbClr val="263238"/>
                          </a:solidFill>
                        </a:rPr>
                        <a:t>Höhere Abtastrate / ±16 g sichern den Transfer</a:t>
                      </a:r>
                    </a:p>
                  </a:txBody>
                  <a:tcPr marL="73152" marR="73152" marT="27432" marB="27432" anchor="ctr">
                    <a:solidFill>
                      <a:srgbClr val="F3F5F6"/>
                    </a:solidFill>
                  </a:tcPr>
                </a:tc>
                <a:tc>
                  <a:txBody>
                    <a:bodyPr/>
                    <a:lstStyle/>
                    <a:p>
                      <a:pPr algn="ctr"/>
                      <a:r>
                        <a:rPr sz="1400" b="0">
                          <a:solidFill>
                            <a:srgbClr val="263238"/>
                          </a:solidFill>
                        </a:rPr>
                        <a:t>widerlegt</a:t>
                      </a:r>
                    </a:p>
                  </a:txBody>
                  <a:tcPr marL="73152" marR="73152" marT="27432" marB="27432" anchor="ctr">
                    <a:solidFill>
                      <a:srgbClr val="F3F5F6"/>
                    </a:solidFill>
                  </a:tcPr>
                </a:tc>
                <a:tc>
                  <a:txBody>
                    <a:bodyPr/>
                    <a:lstStyle/>
                    <a:p>
                      <a:pPr algn="ctr"/>
                      <a:r>
                        <a:rPr sz="1400" b="0">
                          <a:solidFill>
                            <a:srgbClr val="263238"/>
                          </a:solidFill>
                        </a:rPr>
                        <a:t>FallAllD 238 Hz: 12,7 %; ±8 g: 98,7 %</a:t>
                      </a:r>
                    </a:p>
                  </a:txBody>
                  <a:tcPr marL="73152" marR="73152" marT="27432" marB="27432" anchor="ctr">
                    <a:solidFill>
                      <a:srgbClr val="F3F5F6"/>
                    </a:solidFill>
                  </a:tcPr>
                </a:tc>
              </a:tr>
              <a:tr h="475488">
                <a:tc>
                  <a:txBody>
                    <a:bodyPr/>
                    <a:lstStyle/>
                    <a:p>
                      <a:pPr algn="l"/>
                      <a:r>
                        <a:rPr sz="1400" b="0">
                          <a:solidFill>
                            <a:srgbClr val="263238"/>
                          </a:solidFill>
                        </a:rPr>
                        <a:t>Hard Negatives senken Fehlalarme sinnvoll</a:t>
                      </a:r>
                    </a:p>
                  </a:txBody>
                  <a:tcPr marL="73152" marR="73152" marT="27432" marB="27432" anchor="ctr">
                    <a:solidFill>
                      <a:srgbClr val="FFFFFF"/>
                    </a:solidFill>
                  </a:tcPr>
                </a:tc>
                <a:tc>
                  <a:txBody>
                    <a:bodyPr/>
                    <a:lstStyle/>
                    <a:p>
                      <a:pPr algn="ctr"/>
                      <a:r>
                        <a:rPr sz="1400" b="0">
                          <a:solidFill>
                            <a:srgbClr val="263238"/>
                          </a:solidFill>
                        </a:rPr>
                        <a:t>widerlegt</a:t>
                      </a:r>
                    </a:p>
                  </a:txBody>
                  <a:tcPr marL="73152" marR="73152" marT="27432" marB="27432" anchor="ctr">
                    <a:solidFill>
                      <a:srgbClr val="FFFFFF"/>
                    </a:solidFill>
                  </a:tcPr>
                </a:tc>
                <a:tc>
                  <a:txBody>
                    <a:bodyPr/>
                    <a:lstStyle/>
                    <a:p>
                      <a:pPr algn="ctr"/>
                      <a:r>
                        <a:rPr sz="1400" b="0">
                          <a:solidFill>
                            <a:srgbClr val="263238"/>
                          </a:solidFill>
                        </a:rPr>
                        <a:t>Sp +2,1 pp gegen Se −7,4 pp</a:t>
                      </a:r>
                    </a:p>
                  </a:txBody>
                  <a:tcPr marL="73152" marR="73152" marT="27432" marB="27432" anchor="ctr">
                    <a:solidFill>
                      <a:srgbClr val="FFFFFF"/>
                    </a:solidFill>
                  </a:tcPr>
                </a:tc>
              </a:tr>
              <a:tr h="475488">
                <a:tc>
                  <a:txBody>
                    <a:bodyPr/>
                    <a:lstStyle/>
                    <a:p>
                      <a:pPr algn="l"/>
                      <a:r>
                        <a:rPr sz="1400" b="0">
                          <a:solidFill>
                            <a:srgbClr val="263238"/>
                          </a:solidFill>
                        </a:rPr>
                        <a:t>Augmentierung kostet Sensitivität</a:t>
                      </a:r>
                    </a:p>
                  </a:txBody>
                  <a:tcPr marL="73152" marR="73152" marT="27432" marB="27432" anchor="ctr">
                    <a:solidFill>
                      <a:srgbClr val="F3F5F6"/>
                    </a:solidFill>
                  </a:tcPr>
                </a:tc>
                <a:tc>
                  <a:txBody>
                    <a:bodyPr/>
                    <a:lstStyle/>
                    <a:p>
                      <a:pPr algn="ctr"/>
                      <a:r>
                        <a:rPr sz="1400" b="0">
                          <a:solidFill>
                            <a:srgbClr val="263238"/>
                          </a:solidFill>
                        </a:rPr>
                        <a:t>widerlegt</a:t>
                      </a:r>
                    </a:p>
                  </a:txBody>
                  <a:tcPr marL="73152" marR="73152" marT="27432" marB="27432" anchor="ctr">
                    <a:solidFill>
                      <a:srgbClr val="F3F5F6"/>
                    </a:solidFill>
                  </a:tcPr>
                </a:tc>
                <a:tc>
                  <a:txBody>
                    <a:bodyPr/>
                    <a:lstStyle/>
                    <a:p>
                      <a:pPr algn="ctr"/>
                      <a:r>
                        <a:rPr sz="1400" b="0">
                          <a:solidFill>
                            <a:srgbClr val="263238"/>
                          </a:solidFill>
                        </a:rPr>
                        <a:t>Se +4,6 pp, gedreht +17,3 pp</a:t>
                      </a:r>
                    </a:p>
                  </a:txBody>
                  <a:tcPr marL="73152" marR="73152" marT="27432" marB="27432" anchor="ctr">
                    <a:solidFill>
                      <a:srgbClr val="F3F5F6"/>
                    </a:solidFill>
                  </a:tcPr>
                </a:tc>
              </a:tr>
              <a:tr h="475488">
                <a:tc>
                  <a:txBody>
                    <a:bodyPr/>
                    <a:lstStyle/>
                    <a:p>
                      <a:pPr algn="l"/>
                      <a:r>
                        <a:rPr sz="1400" b="0">
                          <a:solidFill>
                            <a:srgbClr val="263238"/>
                          </a:solidFill>
                        </a:rPr>
                        <a:t>Voting / progressives Training helfen</a:t>
                      </a:r>
                    </a:p>
                  </a:txBody>
                  <a:tcPr marL="73152" marR="73152" marT="27432" marB="27432" anchor="ctr">
                    <a:solidFill>
                      <a:srgbClr val="FFFFFF"/>
                    </a:solidFill>
                  </a:tcPr>
                </a:tc>
                <a:tc>
                  <a:txBody>
                    <a:bodyPr/>
                    <a:lstStyle/>
                    <a:p>
                      <a:pPr algn="ctr"/>
                      <a:r>
                        <a:rPr sz="1400" b="0">
                          <a:solidFill>
                            <a:srgbClr val="263238"/>
                          </a:solidFill>
                        </a:rPr>
                        <a:t>teilweise</a:t>
                      </a:r>
                    </a:p>
                  </a:txBody>
                  <a:tcPr marL="73152" marR="73152" marT="27432" marB="27432" anchor="ctr">
                    <a:solidFill>
                      <a:srgbClr val="FFFFFF"/>
                    </a:solidFill>
                  </a:tcPr>
                </a:tc>
                <a:tc>
                  <a:txBody>
                    <a:bodyPr/>
                    <a:lstStyle/>
                    <a:p>
                      <a:pPr algn="ctr"/>
                      <a:r>
                        <a:rPr sz="1400" b="0">
                          <a:solidFill>
                            <a:srgbClr val="263238"/>
                          </a:solidFill>
                        </a:rPr>
                        <a:t>nur mit Anpassung / bei wenig Zieldaten</a:t>
                      </a:r>
                    </a:p>
                  </a:txBody>
                  <a:tcPr marL="73152" marR="73152" marT="27432" marB="27432" anchor="ctr">
                    <a:solidFill>
                      <a:srgbClr val="FFFFFF"/>
                    </a:solidFill>
                  </a:tcPr>
                </a:tc>
              </a:tr>
              <a:tr h="475488">
                <a:tc>
                  <a:txBody>
                    <a:bodyPr/>
                    <a:lstStyle/>
                    <a:p>
                      <a:pPr algn="l"/>
                      <a:r>
                        <a:rPr sz="1400" b="0">
                          <a:solidFill>
                            <a:srgbClr val="263238"/>
                          </a:solidFill>
                        </a:rPr>
                        <a:t>Smart-Insole im Training, breiteres Vortraining</a:t>
                      </a:r>
                    </a:p>
                  </a:txBody>
                  <a:tcPr marL="73152" marR="73152" marT="27432" marB="27432" anchor="ctr">
                    <a:solidFill>
                      <a:srgbClr val="F3F5F6"/>
                    </a:solidFill>
                  </a:tcPr>
                </a:tc>
                <a:tc>
                  <a:txBody>
                    <a:bodyPr/>
                    <a:lstStyle/>
                    <a:p>
                      <a:pPr algn="ctr"/>
                      <a:r>
                        <a:rPr sz="1400" b="0">
                          <a:solidFill>
                            <a:srgbClr val="263238"/>
                          </a:solidFill>
                        </a:rPr>
                        <a:t>offen</a:t>
                      </a:r>
                    </a:p>
                  </a:txBody>
                  <a:tcPr marL="73152" marR="73152" marT="27432" marB="27432" anchor="ctr">
                    <a:solidFill>
                      <a:srgbClr val="F3F5F6"/>
                    </a:solidFill>
                  </a:tcPr>
                </a:tc>
                <a:tc>
                  <a:txBody>
                    <a:bodyPr/>
                    <a:lstStyle/>
                    <a:p>
                      <a:pPr algn="ctr"/>
                      <a:r>
                        <a:rPr sz="1400" b="0">
                          <a:solidFill>
                            <a:srgbClr val="263238"/>
                          </a:solidFill>
                        </a:rPr>
                        <a:t>Notebooks 04 / 05, Teil E</a:t>
                      </a:r>
                    </a:p>
                  </a:txBody>
                  <a:tcPr marL="73152" marR="73152" marT="27432" marB="27432" anchor="ctr">
                    <a:solidFill>
                      <a:srgbClr val="F3F5F6"/>
                    </a:solidFill>
                  </a:tcPr>
                </a:tc>
              </a:tr>
            </a:tbl>
          </a:graphicData>
        </a:graphic>
      </p:graphicFrame>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Fazit und Ausblick</a:t>
            </a:r>
          </a:p>
        </p:txBody>
      </p:sp>
      <p:sp>
        <p:nvSpPr>
          <p:cNvPr id="4" name="TextBox 3"/>
          <p:cNvSpPr txBox="1"/>
          <p:nvPr/>
        </p:nvSpPr>
        <p:spPr>
          <a:xfrm>
            <a:off x="429768" y="1737360"/>
            <a:ext cx="6400800" cy="4480560"/>
          </a:xfrm>
          <a:prstGeom prst="rect">
            <a:avLst/>
          </a:prstGeom>
          <a:noFill/>
        </p:spPr>
        <p:txBody>
          <a:bodyPr wrap="square" lIns="45720" rIns="45720" tIns="27432" bIns="27432" anchor="t">
            <a:spAutoFit/>
          </a:bodyPr>
          <a:lstStyle/>
          <a:p>
            <a:pPr algn="l">
              <a:spcAft>
                <a:spcPts val="1000"/>
              </a:spcAft>
            </a:pPr>
            <a:r>
              <a:rPr sz="2000" b="1" i="0">
                <a:solidFill>
                  <a:srgbClr val="80BA24"/>
                </a:solidFill>
              </a:rPr>
              <a:t>Fazit</a:t>
            </a:r>
          </a:p>
          <a:p>
            <a:pPr algn="l">
              <a:spcAft>
                <a:spcPts val="1000"/>
              </a:spcAft>
            </a:pPr>
            <a:r>
              <a:rPr sz="1600" b="1" i="0">
                <a:solidFill>
                  <a:srgbClr val="263238"/>
                </a:solidFill>
              </a:rPr>
              <a:t>Am Fuß sind Fehlalarme das Kernproblem, </a:t>
            </a:r>
            <a:r>
              <a:rPr sz="1600" b="0" i="0">
                <a:solidFill>
                  <a:srgbClr val="263238"/>
                </a:solidFill>
              </a:rPr>
              <a:t>nicht die Sensitivität.</a:t>
            </a:r>
          </a:p>
          <a:p>
            <a:pPr algn="l">
              <a:spcAft>
                <a:spcPts val="1000"/>
              </a:spcAft>
            </a:pPr>
            <a:r>
              <a:rPr sz="1600" b="1" i="0">
                <a:solidFill>
                  <a:srgbClr val="263238"/>
                </a:solidFill>
              </a:rPr>
              <a:t>Die richtigen Daten wirken am stärksten: </a:t>
            </a:r>
            <a:r>
              <a:rPr sz="1600" b="0" i="0">
                <a:solidFill>
                  <a:srgbClr val="263238"/>
                </a:solidFill>
              </a:rPr>
              <a:t>Bein-Stürze +61 pp, Sohlen-Alltag −95 % Fehlalarme.</a:t>
            </a:r>
          </a:p>
          <a:p>
            <a:pPr algn="l">
              <a:spcAft>
                <a:spcPts val="1000"/>
              </a:spcAft>
            </a:pPr>
            <a:r>
              <a:rPr sz="1600" b="1" i="0">
                <a:solidFill>
                  <a:srgbClr val="263238"/>
                </a:solidFill>
              </a:rPr>
              <a:t>Achsenlage = übersehene Fehlerquelle; </a:t>
            </a:r>
            <a:r>
              <a:rPr sz="1600" b="0" i="0">
                <a:solidFill>
                  <a:srgbClr val="263238"/>
                </a:solidFill>
              </a:rPr>
              <a:t>Einbaulage festlegen und ausgleichen, augmentieren.</a:t>
            </a:r>
          </a:p>
          <a:p>
            <a:pPr algn="l">
              <a:spcAft>
                <a:spcPts val="1000"/>
              </a:spcAft>
            </a:pPr>
            <a:r>
              <a:rPr sz="1600" b="1" i="0">
                <a:solidFill>
                  <a:srgbClr val="263238"/>
                </a:solidFill>
              </a:rPr>
              <a:t>Auf eigener Hardware: </a:t>
            </a:r>
            <a:r>
              <a:rPr sz="1600" b="0" i="0">
                <a:solidFill>
                  <a:srgbClr val="263238"/>
                </a:solidFill>
              </a:rPr>
              <a:t>am Knöchel nahezu alle Stürze erkannt.</a:t>
            </a:r>
          </a:p>
        </p:txBody>
      </p:sp>
      <p:sp>
        <p:nvSpPr>
          <p:cNvPr id="5" name="Rectangle 4"/>
          <p:cNvSpPr/>
          <p:nvPr/>
        </p:nvSpPr>
        <p:spPr>
          <a:xfrm>
            <a:off x="7086600" y="1737360"/>
            <a:ext cx="4572000" cy="356616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69480" y="1874519"/>
            <a:ext cx="4206240" cy="457200"/>
          </a:xfrm>
          <a:prstGeom prst="rect">
            <a:avLst/>
          </a:prstGeom>
          <a:noFill/>
        </p:spPr>
        <p:txBody>
          <a:bodyPr wrap="square" lIns="45720" rIns="45720" tIns="27432" bIns="27432" anchor="t">
            <a:spAutoFit/>
          </a:bodyPr>
          <a:lstStyle/>
          <a:p>
            <a:pPr algn="l">
              <a:spcAft>
                <a:spcPts val="600"/>
              </a:spcAft>
            </a:pPr>
            <a:r>
              <a:rPr sz="2000" b="1" i="0">
                <a:solidFill>
                  <a:srgbClr val="80BA24"/>
                </a:solidFill>
              </a:rPr>
              <a:t>Ausblick</a:t>
            </a:r>
          </a:p>
        </p:txBody>
      </p:sp>
      <p:sp>
        <p:nvSpPr>
          <p:cNvPr id="7" name="TextBox 6"/>
          <p:cNvSpPr txBox="1"/>
          <p:nvPr/>
        </p:nvSpPr>
        <p:spPr>
          <a:xfrm>
            <a:off x="7269480" y="2423160"/>
            <a:ext cx="4206240" cy="3657600"/>
          </a:xfrm>
          <a:prstGeom prst="rect">
            <a:avLst/>
          </a:prstGeom>
          <a:noFill/>
        </p:spPr>
        <p:txBody>
          <a:bodyPr wrap="square" lIns="45720" rIns="45720" tIns="27432" bIns="27432" anchor="t">
            <a:spAutoFit/>
          </a:bodyPr>
          <a:lstStyle/>
          <a:p>
            <a:pPr algn="l" marL="228600" indent="-228600">
              <a:spcAft>
                <a:spcPts val="800"/>
              </a:spcAft>
              <a:buChar char="•"/>
            </a:pPr>
            <a:r>
              <a:rPr sz="1500" b="0" i="0">
                <a:solidFill>
                  <a:srgbClr val="263238"/>
                </a:solidFill>
              </a:rPr>
              <a:t>Aufnahmen in beiden Sohlen, mehrere Personen</a:t>
            </a:r>
          </a:p>
          <a:p>
            <a:pPr algn="l" marL="228600" indent="-228600">
              <a:spcAft>
                <a:spcPts val="800"/>
              </a:spcAft>
              <a:buChar char="•"/>
            </a:pPr>
            <a:r>
              <a:rPr sz="1500" b="0" i="0">
                <a:solidFill>
                  <a:srgbClr val="263238"/>
                </a:solidFill>
              </a:rPr>
              <a:t>Zweite Stufe: Lageänderung + Liegephase</a:t>
            </a:r>
          </a:p>
          <a:p>
            <a:pPr algn="l" marL="228600" indent="-228600">
              <a:spcAft>
                <a:spcPts val="800"/>
              </a:spcAft>
              <a:buChar char="•"/>
            </a:pPr>
            <a:r>
              <a:rPr sz="1500" b="0" i="0">
                <a:solidFill>
                  <a:srgbClr val="263238"/>
                </a:solidFill>
              </a:rPr>
              <a:t>Alarmparameter auf Sohlendaten festlegen</a:t>
            </a:r>
          </a:p>
          <a:p>
            <a:pPr algn="l" marL="228600" indent="-228600">
              <a:spcAft>
                <a:spcPts val="800"/>
              </a:spcAft>
              <a:buChar char="•"/>
            </a:pPr>
            <a:r>
              <a:rPr sz="1500" b="0" i="0">
                <a:solidFill>
                  <a:srgbClr val="263238"/>
                </a:solidFill>
              </a:rPr>
              <a:t>Energiebedarf im Dauerbetrieb messen</a:t>
            </a:r>
          </a:p>
          <a:p>
            <a:pPr algn="l" marL="228600" indent="-228600">
              <a:spcAft>
                <a:spcPts val="800"/>
              </a:spcAft>
              <a:buChar char="•"/>
            </a:pPr>
            <a:r>
              <a:rPr sz="1500" b="0" i="0">
                <a:solidFill>
                  <a:srgbClr val="263238"/>
                </a:solidFill>
              </a:rPr>
              <a:t>Kommerzielles Modell (ohne Smart-Insole/MobiAct) nach Lizenzprüfung an Clever-Sole</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Vielen Dank – Fragen?</a:t>
            </a:r>
          </a:p>
        </p:txBody>
      </p:sp>
      <p:sp>
        <p:nvSpPr>
          <p:cNvPr id="4" name="TextBox 3"/>
          <p:cNvSpPr txBox="1"/>
          <p:nvPr/>
        </p:nvSpPr>
        <p:spPr>
          <a:xfrm>
            <a:off x="429768" y="2377440"/>
            <a:ext cx="11247120" cy="1097280"/>
          </a:xfrm>
          <a:prstGeom prst="rect">
            <a:avLst/>
          </a:prstGeom>
          <a:noFill/>
        </p:spPr>
        <p:txBody>
          <a:bodyPr wrap="square" lIns="45720" rIns="45720" tIns="27432" bIns="27432" anchor="t">
            <a:spAutoFit/>
          </a:bodyPr>
          <a:lstStyle/>
          <a:p>
            <a:pPr algn="l">
              <a:spcAft>
                <a:spcPts val="600"/>
              </a:spcAft>
            </a:pPr>
            <a:r>
              <a:rPr sz="2400" b="1" i="0">
                <a:solidFill>
                  <a:srgbClr val="263238"/>
                </a:solidFill>
              </a:rPr>
              <a:t>Sturzerkennung mit TinyML in einer sensorischen Einlegesohle</a:t>
            </a:r>
          </a:p>
        </p:txBody>
      </p:sp>
      <p:sp>
        <p:nvSpPr>
          <p:cNvPr id="5" name="TextBox 4"/>
          <p:cNvSpPr txBox="1"/>
          <p:nvPr/>
        </p:nvSpPr>
        <p:spPr>
          <a:xfrm>
            <a:off x="429768" y="3291840"/>
            <a:ext cx="11247120" cy="1463040"/>
          </a:xfrm>
          <a:prstGeom prst="rect">
            <a:avLst/>
          </a:prstGeom>
          <a:noFill/>
        </p:spPr>
        <p:txBody>
          <a:bodyPr wrap="square" lIns="45720" rIns="45720" tIns="27432" bIns="27432" anchor="t">
            <a:spAutoFit/>
          </a:bodyPr>
          <a:lstStyle/>
          <a:p>
            <a:pPr algn="l">
              <a:spcAft>
                <a:spcPts val="600"/>
              </a:spcAft>
            </a:pPr>
            <a:r>
              <a:rPr sz="1600" b="0" i="0">
                <a:solidFill>
                  <a:srgbClr val="4A5C66"/>
                </a:solidFill>
              </a:rPr>
              <a:t>Aly Elbermawy · aly.elbermawy@m.thm.de</a:t>
            </a:r>
          </a:p>
          <a:p>
            <a:pPr algn="l">
              <a:spcAft>
                <a:spcPts val="600"/>
              </a:spcAft>
            </a:pPr>
            <a:r>
              <a:rPr sz="1600" b="0" i="0">
                <a:solidFill>
                  <a:srgbClr val="4A5C66"/>
                </a:solidFill>
              </a:rPr>
              <a:t>Code, Notebooks, Firmware und Bericht: github.com/Alyelb/ML-Modell-for-Fall-detection</a:t>
            </a:r>
          </a:p>
        </p:txBody>
      </p:sp>
      <p:pic>
        <p:nvPicPr>
          <p:cNvPr id="6" name="Picture 5" descr="foto_platine.jpg"/>
          <p:cNvPicPr>
            <a:picLocks noChangeAspect="1"/>
          </p:cNvPicPr>
          <p:nvPr/>
        </p:nvPicPr>
        <p:blipFill>
          <a:blip r:embed="rId2"/>
          <a:stretch>
            <a:fillRect/>
          </a:stretch>
        </p:blipFill>
        <p:spPr>
          <a:xfrm>
            <a:off x="8503920" y="4023360"/>
            <a:ext cx="2899022" cy="2194560"/>
          </a:xfrm>
          <a:prstGeom prst="rect">
            <a:avLst/>
          </a:prstGeom>
        </p:spPr>
      </p:pic>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theme/theme1.xml><?xml version="1.0" encoding="utf-8"?>
<a:theme xmlns:a="http://schemas.openxmlformats.org/drawingml/2006/main" name="THM-Folienmaster">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M-092017" id="{F2E74DBF-A00C-0049-AFFE-E20DFFD05F23}" vid="{9967E0B6-F9B0-0C46-B645-E7DA8BD1490D}"/>
    </a:ext>
  </a:ext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THM-092017</Template>
  <TotalTime>0</TotalTime>
  <Words>13</Words>
  <Application>Microsoft Macintosh PowerPoint</Application>
  <PresentationFormat>Breitbild</PresentationFormat>
  <Paragraphs>13</Paragraphs>
  <Slides>14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14</vt:i4>
      </vt:variant>
    </vt:vector>
  </HeadingPairs>
  <TitlesOfParts>
    <vt:vector size="18" baseType="lpstr">
      <vt:lpstr>Arial</vt:lpstr>
      <vt:lpstr>Calibri</vt:lpstr>
      <vt:lpstr>Wingdings</vt:lpstr>
      <vt:lpstr>THM-Folienmaster</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Olga  Altergot</dc:creator>
  <cp:lastModifiedBy>Olga  Altergot</cp:lastModifiedBy>
  <cp:revision>113</cp:revision>
  <cp:lastPrinted>2017-11-28T10:01:39Z</cp:lastPrinted>
  <dcterms:created xsi:type="dcterms:W3CDTF">2017-11-01T14:34:44Z</dcterms:created>
  <dcterms:modified xsi:type="dcterms:W3CDTF">2020-09-01T06:12:52Z</dcterms:modified>
</cp:coreProperties>
</file>